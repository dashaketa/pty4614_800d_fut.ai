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60" r:id="rId3"/>
    <p:sldId id="262" r:id="rId4"/>
    <p:sldId id="263" r:id="rId5"/>
    <p:sldId id="264" r:id="rId6"/>
    <p:sldId id="274" r:id="rId7"/>
    <p:sldId id="275" r:id="rId8"/>
    <p:sldId id="265" r:id="rId9"/>
    <p:sldId id="266" r:id="rId10"/>
    <p:sldId id="276" r:id="rId11"/>
    <p:sldId id="268" r:id="rId12"/>
    <p:sldId id="269" r:id="rId13"/>
    <p:sldId id="270" r:id="rId14"/>
    <p:sldId id="271" r:id="rId15"/>
    <p:sldId id="272" r:id="rId16"/>
    <p:sldId id="277" r:id="rId17"/>
    <p:sldId id="273" r:id="rId18"/>
    <p:sldId id="278" r:id="rId1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1717"/>
    <a:srgbClr val="4AEF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9" autoAdjust="0"/>
    <p:restoredTop sz="94660"/>
  </p:normalViewPr>
  <p:slideViewPr>
    <p:cSldViewPr snapToGrid="0">
      <p:cViewPr varScale="1">
        <p:scale>
          <a:sx n="63" d="100"/>
          <a:sy n="63" d="100"/>
        </p:scale>
        <p:origin x="4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735218-B044-4367-945C-3C88613E191E}" type="datetimeFigureOut">
              <a:rPr lang="es-MX" smtClean="0"/>
              <a:t>19/10/2026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3C2C0-F915-4A74-9C07-966CA8B2E26D}" type="slidenum">
              <a:rPr lang="es-MX" smtClean="0"/>
              <a:t>‹Nº›</a:t>
            </a:fld>
            <a:endParaRPr lang="es-MX"/>
          </a:p>
        </p:txBody>
      </p:sp>
    </p:spTree>
    <p:extLst>
      <p:ext uri="{BB962C8B-B14F-4D97-AF65-F5344CB8AC3E}">
        <p14:creationId xmlns:p14="http://schemas.microsoft.com/office/powerpoint/2010/main" val="623102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E073C2C0-F915-4A74-9C07-966CA8B2E26D}" type="slidenum">
              <a:rPr lang="es-MX" smtClean="0"/>
              <a:t>3</a:t>
            </a:fld>
            <a:endParaRPr lang="es-MX"/>
          </a:p>
        </p:txBody>
      </p:sp>
    </p:spTree>
    <p:extLst>
      <p:ext uri="{BB962C8B-B14F-4D97-AF65-F5344CB8AC3E}">
        <p14:creationId xmlns:p14="http://schemas.microsoft.com/office/powerpoint/2010/main" val="755678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6ED0D-FAF5-C7F9-DD57-05EDD0D90B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B51E3B-5DA9-644D-8C14-D19670BD6E9F}"/>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EC5212E-95F4-28FB-0592-64300FE8A0CD}"/>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6A188865-EE15-6578-7B0F-2107E37E9BE9}"/>
              </a:ext>
            </a:extLst>
          </p:cNvPr>
          <p:cNvSpPr>
            <a:spLocks noGrp="1"/>
          </p:cNvSpPr>
          <p:nvPr>
            <p:ph type="sldNum" sz="quarter" idx="5"/>
          </p:nvPr>
        </p:nvSpPr>
        <p:spPr/>
        <p:txBody>
          <a:bodyPr/>
          <a:lstStyle/>
          <a:p>
            <a:fld id="{E073C2C0-F915-4A74-9C07-966CA8B2E26D}" type="slidenum">
              <a:rPr lang="es-MX" smtClean="0"/>
              <a:t>4</a:t>
            </a:fld>
            <a:endParaRPr lang="es-MX"/>
          </a:p>
        </p:txBody>
      </p:sp>
    </p:spTree>
    <p:extLst>
      <p:ext uri="{BB962C8B-B14F-4D97-AF65-F5344CB8AC3E}">
        <p14:creationId xmlns:p14="http://schemas.microsoft.com/office/powerpoint/2010/main" val="3964158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9C992-DFB7-7D00-B9BE-0C9DCEC710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794CC9-D560-39E2-B30D-452FDEA9DF27}"/>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37E2417D-21A0-110E-1FD0-0652E6CB7B5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8FB0B62-A769-B46F-FC6E-F97E392E5717}"/>
              </a:ext>
            </a:extLst>
          </p:cNvPr>
          <p:cNvSpPr>
            <a:spLocks noGrp="1"/>
          </p:cNvSpPr>
          <p:nvPr>
            <p:ph type="sldNum" sz="quarter" idx="5"/>
          </p:nvPr>
        </p:nvSpPr>
        <p:spPr/>
        <p:txBody>
          <a:bodyPr/>
          <a:lstStyle/>
          <a:p>
            <a:fld id="{E073C2C0-F915-4A74-9C07-966CA8B2E26D}" type="slidenum">
              <a:rPr lang="es-MX" smtClean="0"/>
              <a:t>5</a:t>
            </a:fld>
            <a:endParaRPr lang="es-MX"/>
          </a:p>
        </p:txBody>
      </p:sp>
    </p:spTree>
    <p:extLst>
      <p:ext uri="{BB962C8B-B14F-4D97-AF65-F5344CB8AC3E}">
        <p14:creationId xmlns:p14="http://schemas.microsoft.com/office/powerpoint/2010/main" val="2779532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el usuario el flujo es simple: sube el video, espera el análisis y recibe las métricas. Todo lo complejo ocurre en la nube. El etiquetado lo hace el cuerpo técnico una vez por partido, asignando nombres a las miniaturas.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son las cinco métricas del estudio. Velocidad y mapa de sombra dependen sobre todo de las posiciones. Pases, decisión y reacción dependen además de detectar bien el balón. A 8 cuadros por segundo, los tiempos tienen una precisión de 125 ms.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01704-0E87-0224-50D7-DFA536CD3A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3528CC4-30E2-ED54-F3DB-4EAB01251CB9}"/>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5A77B5B8-9CE5-B6A4-18DB-C402F27C55F2}"/>
              </a:ext>
            </a:extLst>
          </p:cNvPr>
          <p:cNvSpPr>
            <a:spLocks noGrp="1"/>
          </p:cNvSpPr>
          <p:nvPr>
            <p:ph type="body" idx="1"/>
          </p:nvPr>
        </p:nvSpPr>
        <p:spPr/>
        <p:txBody>
          <a:bodyPr/>
          <a:lstStyle/>
          <a:p>
            <a:r>
              <a:t>La fase 1 dejó el prototipo y la landing. Hoy estamos en la fase 2: el pipeline ya corre en Google Cloud con las cinco métricas. La fase 3 depende de la GPU L4, que ya está solicitada.</a:t>
            </a:r>
          </a:p>
        </p:txBody>
      </p:sp>
      <p:sp>
        <p:nvSpPr>
          <p:cNvPr id="4" name="Marcador de número de diapositiva 3">
            <a:extLst>
              <a:ext uri="{FF2B5EF4-FFF2-40B4-BE49-F238E27FC236}">
                <a16:creationId xmlns:a16="http://schemas.microsoft.com/office/drawing/2014/main" id="{78128452-79E3-0B2B-4A66-EE1728D57376}"/>
              </a:ext>
            </a:extLst>
          </p:cNvPr>
          <p:cNvSpPr>
            <a:spLocks noGrp="1"/>
          </p:cNvSpPr>
          <p:nvPr>
            <p:ph type="sldNum" sz="quarter" idx="5"/>
          </p:nvPr>
        </p:nvSpPr>
        <p:spPr/>
        <p:txBody>
          <a:bodyPr/>
          <a:lstStyle/>
          <a:p>
            <a:fld id="{E073C2C0-F915-4A74-9C07-966CA8B2E26D}" type="slidenum">
              <a:rPr lang="es-MX" smtClean="0"/>
              <a:t>8</a:t>
            </a:fld>
            <a:endParaRPr lang="es-MX"/>
          </a:p>
        </p:txBody>
      </p:sp>
    </p:spTree>
    <p:extLst>
      <p:ext uri="{BB962C8B-B14F-4D97-AF65-F5344CB8AC3E}">
        <p14:creationId xmlns:p14="http://schemas.microsoft.com/office/powerpoint/2010/main" val="45240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CB37A-92DC-C523-5534-60BCEB06D8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045E80B-7A1A-EDA6-D4DD-CE29678D9225}"/>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96A335DB-056D-986C-6D53-7CC5D975CD5E}"/>
              </a:ext>
            </a:extLst>
          </p:cNvPr>
          <p:cNvSpPr>
            <a:spLocks noGrp="1"/>
          </p:cNvSpPr>
          <p:nvPr>
            <p:ph type="body" idx="1"/>
          </p:nvPr>
        </p:nvSpPr>
        <p:spPr/>
        <p:txBody>
          <a:bodyPr/>
          <a:lstStyle/>
          <a:p>
            <a:r>
              <a:t>El código se construye con Cloud Build y queda en Artifact Registry. Cada partido es una ejecución de Cloud Run: lee el video y los modelos desde Cloud Storage, toma la conexión desde Secret Manager y escribe en Cloud SQL. Migramos a Iowa porque es más barata y tiene la GPU L4.</a:t>
            </a:r>
          </a:p>
        </p:txBody>
      </p:sp>
      <p:sp>
        <p:nvSpPr>
          <p:cNvPr id="4" name="Marcador de número de diapositiva 3">
            <a:extLst>
              <a:ext uri="{FF2B5EF4-FFF2-40B4-BE49-F238E27FC236}">
                <a16:creationId xmlns:a16="http://schemas.microsoft.com/office/drawing/2014/main" id="{D6631226-B957-D141-B838-7D5069C96451}"/>
              </a:ext>
            </a:extLst>
          </p:cNvPr>
          <p:cNvSpPr>
            <a:spLocks noGrp="1"/>
          </p:cNvSpPr>
          <p:nvPr>
            <p:ph type="sldNum" sz="quarter" idx="5"/>
          </p:nvPr>
        </p:nvSpPr>
        <p:spPr/>
        <p:txBody>
          <a:bodyPr/>
          <a:lstStyle/>
          <a:p>
            <a:fld id="{E073C2C0-F915-4A74-9C07-966CA8B2E26D}" type="slidenum">
              <a:rPr lang="es-MX" smtClean="0"/>
              <a:t>9</a:t>
            </a:fld>
            <a:endParaRPr lang="es-MX"/>
          </a:p>
        </p:txBody>
      </p:sp>
    </p:spTree>
    <p:extLst>
      <p:ext uri="{BB962C8B-B14F-4D97-AF65-F5344CB8AC3E}">
        <p14:creationId xmlns:p14="http://schemas.microsoft.com/office/powerpoint/2010/main" val="2263335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Esto es lo que hace el worker por dentro. Los pasos 1 y 2 se repiten en cada cuadro muestreado; el paso 3 cierra al final, cuando ya se vio todo el video, y el 4 guarda los resultados. La calibración automática fue clave: sin ella, las métricas en metros salían imposibles con cámaras que se mueven.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F1E6D-0D4E-F0E5-1508-161EF0D119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664F6D-7A6A-F9FB-ED25-3065D79E2080}"/>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071481DD-8618-D44F-293B-0222DCBFBBAD}"/>
              </a:ext>
            </a:extLst>
          </p:cNvPr>
          <p:cNvSpPr>
            <a:spLocks noGrp="1"/>
          </p:cNvSpPr>
          <p:nvPr>
            <p:ph type="body" idx="1"/>
          </p:nvPr>
        </p:nvSpPr>
        <p:spPr/>
        <p:txBody>
          <a:bodyPr/>
          <a:lstStyle/>
          <a:p>
            <a:r>
              <a:t>Estos son los riesgos reales que encontramos en las pruebas. El más importante es el balón: de él dependen pases, decisión y reacción. La cuota de GPU no frena el desarrollo porque el mismo worker corre en CPU.</a:t>
            </a:r>
          </a:p>
        </p:txBody>
      </p:sp>
      <p:sp>
        <p:nvSpPr>
          <p:cNvPr id="4" name="Marcador de número de diapositiva 3">
            <a:extLst>
              <a:ext uri="{FF2B5EF4-FFF2-40B4-BE49-F238E27FC236}">
                <a16:creationId xmlns:a16="http://schemas.microsoft.com/office/drawing/2014/main" id="{6070B339-FF68-2EA9-FD8C-A27E02AB5004}"/>
              </a:ext>
            </a:extLst>
          </p:cNvPr>
          <p:cNvSpPr>
            <a:spLocks noGrp="1"/>
          </p:cNvSpPr>
          <p:nvPr>
            <p:ph type="sldNum" sz="quarter" idx="5"/>
          </p:nvPr>
        </p:nvSpPr>
        <p:spPr/>
        <p:txBody>
          <a:bodyPr/>
          <a:lstStyle/>
          <a:p>
            <a:fld id="{E073C2C0-F915-4A74-9C07-966CA8B2E26D}" type="slidenum">
              <a:rPr lang="es-MX" smtClean="0"/>
              <a:t>11</a:t>
            </a:fld>
            <a:endParaRPr lang="es-MX"/>
          </a:p>
        </p:txBody>
      </p:sp>
    </p:spTree>
    <p:extLst>
      <p:ext uri="{BB962C8B-B14F-4D97-AF65-F5344CB8AC3E}">
        <p14:creationId xmlns:p14="http://schemas.microsoft.com/office/powerpoint/2010/main" val="2608941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B2663-6E99-4F73-B862-871F2854AB2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006C4FF-23EB-0B03-5828-FB9A57272300}"/>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70FFA73B-1DB8-C9B5-7575-D720867E7504}"/>
              </a:ext>
            </a:extLst>
          </p:cNvPr>
          <p:cNvSpPr>
            <a:spLocks noGrp="1"/>
          </p:cNvSpPr>
          <p:nvPr>
            <p:ph type="body" idx="1"/>
          </p:nvPr>
        </p:nvSpPr>
        <p:spPr/>
        <p:txBody>
          <a:bodyPr/>
          <a:lstStyle/>
          <a:p>
            <a:r>
              <a:t>Aplicamos mínimo privilegio: cada cuenta de servicio tiene solo lo que usa y nadie descarga llaves. El proyecto corre sobre el crédito de Google Cloud y no ha generado cobros.</a:t>
            </a:r>
          </a:p>
        </p:txBody>
      </p:sp>
      <p:sp>
        <p:nvSpPr>
          <p:cNvPr id="4" name="Marcador de número de diapositiva 3">
            <a:extLst>
              <a:ext uri="{FF2B5EF4-FFF2-40B4-BE49-F238E27FC236}">
                <a16:creationId xmlns:a16="http://schemas.microsoft.com/office/drawing/2014/main" id="{3532053D-D06A-21D9-C9AB-499D1AE243DB}"/>
              </a:ext>
            </a:extLst>
          </p:cNvPr>
          <p:cNvSpPr>
            <a:spLocks noGrp="1"/>
          </p:cNvSpPr>
          <p:nvPr>
            <p:ph type="sldNum" sz="quarter" idx="5"/>
          </p:nvPr>
        </p:nvSpPr>
        <p:spPr/>
        <p:txBody>
          <a:bodyPr/>
          <a:lstStyle/>
          <a:p>
            <a:fld id="{E073C2C0-F915-4A74-9C07-966CA8B2E26D}" type="slidenum">
              <a:rPr lang="es-MX" smtClean="0"/>
              <a:t>12</a:t>
            </a:fld>
            <a:endParaRPr lang="es-MX"/>
          </a:p>
        </p:txBody>
      </p:sp>
    </p:spTree>
    <p:extLst>
      <p:ext uri="{BB962C8B-B14F-4D97-AF65-F5344CB8AC3E}">
        <p14:creationId xmlns:p14="http://schemas.microsoft.com/office/powerpoint/2010/main" val="3829411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54965-1B46-0745-8D3E-CC2B6A3D54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83412D-E73C-F667-F0E2-A00809713CFD}"/>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AAF5A912-4CB7-25EA-940E-33761BDC4EE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7C16C72C-34CB-16D2-11CA-4E45D2EF889B}"/>
              </a:ext>
            </a:extLst>
          </p:cNvPr>
          <p:cNvSpPr>
            <a:spLocks noGrp="1"/>
          </p:cNvSpPr>
          <p:nvPr>
            <p:ph type="sldNum" sz="quarter" idx="5"/>
          </p:nvPr>
        </p:nvSpPr>
        <p:spPr/>
        <p:txBody>
          <a:bodyPr/>
          <a:lstStyle/>
          <a:p>
            <a:fld id="{E073C2C0-F915-4A74-9C07-966CA8B2E26D}" type="slidenum">
              <a:rPr lang="es-MX" smtClean="0"/>
              <a:t>13</a:t>
            </a:fld>
            <a:endParaRPr lang="es-MX"/>
          </a:p>
        </p:txBody>
      </p:sp>
    </p:spTree>
    <p:extLst>
      <p:ext uri="{BB962C8B-B14F-4D97-AF65-F5344CB8AC3E}">
        <p14:creationId xmlns:p14="http://schemas.microsoft.com/office/powerpoint/2010/main" val="3472002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1F195-4FBF-7FFB-A8BE-8C440E96FAF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50DF70-608A-6AAC-A91A-F12F3D5B7EBB}"/>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49E4099D-57B9-B718-6FD0-0150061FDD40}"/>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9E6F3B54-F313-C62A-B43F-714AB0E0C544}"/>
              </a:ext>
            </a:extLst>
          </p:cNvPr>
          <p:cNvSpPr>
            <a:spLocks noGrp="1"/>
          </p:cNvSpPr>
          <p:nvPr>
            <p:ph type="sldNum" sz="quarter" idx="5"/>
          </p:nvPr>
        </p:nvSpPr>
        <p:spPr/>
        <p:txBody>
          <a:bodyPr/>
          <a:lstStyle/>
          <a:p>
            <a:fld id="{E073C2C0-F915-4A74-9C07-966CA8B2E26D}" type="slidenum">
              <a:rPr lang="es-MX" smtClean="0"/>
              <a:t>14</a:t>
            </a:fld>
            <a:endParaRPr lang="es-MX"/>
          </a:p>
        </p:txBody>
      </p:sp>
    </p:spTree>
    <p:extLst>
      <p:ext uri="{BB962C8B-B14F-4D97-AF65-F5344CB8AC3E}">
        <p14:creationId xmlns:p14="http://schemas.microsoft.com/office/powerpoint/2010/main" val="146663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422E1-2B28-F4AD-C777-FFCAAE4ECE1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5B1B1A-8362-C78E-BF79-993E520E639C}"/>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B4921D9-A312-562B-BA7A-4309FFDA0A53}"/>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046DB20B-DFDD-C2C3-8153-F6D8337F8E7D}"/>
              </a:ext>
            </a:extLst>
          </p:cNvPr>
          <p:cNvSpPr>
            <a:spLocks noGrp="1"/>
          </p:cNvSpPr>
          <p:nvPr>
            <p:ph type="sldNum" sz="quarter" idx="5"/>
          </p:nvPr>
        </p:nvSpPr>
        <p:spPr/>
        <p:txBody>
          <a:bodyPr/>
          <a:lstStyle/>
          <a:p>
            <a:fld id="{E073C2C0-F915-4A74-9C07-966CA8B2E26D}" type="slidenum">
              <a:rPr lang="es-MX" smtClean="0"/>
              <a:t>15</a:t>
            </a:fld>
            <a:endParaRPr lang="es-MX"/>
          </a:p>
        </p:txBody>
      </p:sp>
    </p:spTree>
    <p:extLst>
      <p:ext uri="{BB962C8B-B14F-4D97-AF65-F5344CB8AC3E}">
        <p14:creationId xmlns:p14="http://schemas.microsoft.com/office/powerpoint/2010/main" val="527604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Estos números salen de las pruebas con un minuto de video. El seguimiento ajustado redujo cinco veces la fragmentación. La pose funciona en casi todos los jugadores. El balón sigue siendo el punto débil. La velocidad máxima bajó de 31 a 23 km/h al suavizar la calibración, un valor razonable. Los 23 minutos son sin GPU.</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DBE6A-04CE-84CC-9164-D2C88827FA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A1141F-D9A2-F219-A631-404A35023356}"/>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FD45B9A8-55C4-BDFF-477E-10EBAE8B914F}"/>
              </a:ext>
            </a:extLst>
          </p:cNvPr>
          <p:cNvSpPr>
            <a:spLocks noGrp="1"/>
          </p:cNvSpPr>
          <p:nvPr>
            <p:ph type="body" idx="1"/>
          </p:nvPr>
        </p:nvSpPr>
        <p:spPr/>
        <p:txBody>
          <a:bodyPr/>
          <a:lstStyle/>
          <a:p>
            <a:r>
              <a:t>El siguiente hito es la GPU: la solicitud ya está con Google. Mientras tanto avanzamos con la API de subida y el etiquetado, que hacen falta para que la app funcione de punta a punta.</a:t>
            </a:r>
          </a:p>
        </p:txBody>
      </p:sp>
      <p:sp>
        <p:nvSpPr>
          <p:cNvPr id="4" name="Marcador de número de diapositiva 3">
            <a:extLst>
              <a:ext uri="{FF2B5EF4-FFF2-40B4-BE49-F238E27FC236}">
                <a16:creationId xmlns:a16="http://schemas.microsoft.com/office/drawing/2014/main" id="{1818DB61-3599-00A4-0315-2D5B40447F62}"/>
              </a:ext>
            </a:extLst>
          </p:cNvPr>
          <p:cNvSpPr>
            <a:spLocks noGrp="1"/>
          </p:cNvSpPr>
          <p:nvPr>
            <p:ph type="sldNum" sz="quarter" idx="5"/>
          </p:nvPr>
        </p:nvSpPr>
        <p:spPr/>
        <p:txBody>
          <a:bodyPr/>
          <a:lstStyle/>
          <a:p>
            <a:fld id="{E073C2C0-F915-4A74-9C07-966CA8B2E26D}" type="slidenum">
              <a:rPr lang="es-MX" smtClean="0"/>
              <a:t>17</a:t>
            </a:fld>
            <a:endParaRPr lang="es-MX"/>
          </a:p>
        </p:txBody>
      </p:sp>
    </p:spTree>
    <p:extLst>
      <p:ext uri="{BB962C8B-B14F-4D97-AF65-F5344CB8AC3E}">
        <p14:creationId xmlns:p14="http://schemas.microsoft.com/office/powerpoint/2010/main" val="2133772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Cierro y abro espacio a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49BA7E-6623-F57E-251D-131F02820D6B}"/>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9F4A2946-E460-0F77-7DEC-BBF25AC1F9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F08A1DBE-1CFA-0B32-FDDA-6AD5094D382A}"/>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5" name="Marcador de pie de página 4">
            <a:extLst>
              <a:ext uri="{FF2B5EF4-FFF2-40B4-BE49-F238E27FC236}">
                <a16:creationId xmlns:a16="http://schemas.microsoft.com/office/drawing/2014/main" id="{17FE4C3A-47A6-9EA0-B595-4C56C52409D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7006ADB-70F6-531E-E235-F550984EECC0}"/>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2221502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407EB6-410F-D6AD-3F89-6665D3112CC3}"/>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5EB3A63-E8FC-2EA5-5A2D-70939133B43E}"/>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955650C-5382-87EF-39A8-B1E489785B9D}"/>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5" name="Marcador de pie de página 4">
            <a:extLst>
              <a:ext uri="{FF2B5EF4-FFF2-40B4-BE49-F238E27FC236}">
                <a16:creationId xmlns:a16="http://schemas.microsoft.com/office/drawing/2014/main" id="{AAD61A38-2053-1528-470F-194371599E8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4D4783F-3ECA-9FAC-7185-042BD7820B7A}"/>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647689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54B9C9-53BF-F813-3AED-082A6B4246E1}"/>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D1F5DD82-F1B9-8757-73CC-A993E3300D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09B4B9E0-273F-CBDB-075E-CC1133F41352}"/>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5" name="Marcador de pie de página 4">
            <a:extLst>
              <a:ext uri="{FF2B5EF4-FFF2-40B4-BE49-F238E27FC236}">
                <a16:creationId xmlns:a16="http://schemas.microsoft.com/office/drawing/2014/main" id="{F98AEA46-4744-0A26-8EE2-E1BD0FA5CD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D7EF08A-82F1-8C56-422E-224038D324FD}"/>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2071277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CDF8A1-0178-6439-8146-AE23EC707A88}"/>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001F63F7-80BC-3E42-B83B-B5C7338C07B9}"/>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7C704803-852E-8AC2-87DB-29A6A2D729B0}"/>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910047F1-E479-74E8-8A82-5AA4675598F5}"/>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6" name="Marcador de pie de página 5">
            <a:extLst>
              <a:ext uri="{FF2B5EF4-FFF2-40B4-BE49-F238E27FC236}">
                <a16:creationId xmlns:a16="http://schemas.microsoft.com/office/drawing/2014/main" id="{280B96DC-965F-33DF-4EB7-55A31116FE0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20E70BE-A81F-475B-3CAB-15C44013274E}"/>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36848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A94D2C-0CFA-35EC-335C-069C4C19D53D}"/>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32A55726-CF1A-3901-4F54-712DBEF576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041E5235-346D-FAAF-139C-D09AC47A3B66}"/>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924451F3-5942-E520-29FD-3A52E302E5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D9EDE3F2-241B-8ABF-43FB-E0DCFA3CBD07}"/>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DC8D96CE-05FF-403A-D77D-DACC1AF79913}"/>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8" name="Marcador de pie de página 7">
            <a:extLst>
              <a:ext uri="{FF2B5EF4-FFF2-40B4-BE49-F238E27FC236}">
                <a16:creationId xmlns:a16="http://schemas.microsoft.com/office/drawing/2014/main" id="{CBE9BA1B-0FEC-D52E-B2EE-81286ACA116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7D89E31-ED13-CCD0-9E86-610B9BF84144}"/>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3150494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005A1B-A646-E19F-D05D-4FE55B27F992}"/>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8AFAA352-D681-50DD-EDA3-56E2568880F1}"/>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4" name="Marcador de pie de página 3">
            <a:extLst>
              <a:ext uri="{FF2B5EF4-FFF2-40B4-BE49-F238E27FC236}">
                <a16:creationId xmlns:a16="http://schemas.microsoft.com/office/drawing/2014/main" id="{F06B071E-38BC-A49B-869B-BA201B666F6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8F8D073D-8557-790A-9217-7F73481DB655}"/>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2420961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7F696AD-7D19-7976-C98C-4F2194A37E30}"/>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3" name="Marcador de pie de página 2">
            <a:extLst>
              <a:ext uri="{FF2B5EF4-FFF2-40B4-BE49-F238E27FC236}">
                <a16:creationId xmlns:a16="http://schemas.microsoft.com/office/drawing/2014/main" id="{586A0B36-B4DF-FD7B-A14A-1AADD367E28C}"/>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2AE74D6A-DBF4-194C-A44B-F47A01ADC59F}"/>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134659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73DA3E-0E5C-7ED8-76D4-673657F2A364}"/>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50F1AD4A-2BF3-9B7D-9B44-6DBA5367D3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07F9ABC4-20E5-267A-45F2-C0D107C292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9E7B56EC-5F9C-68A9-2A89-759DE2B61B8A}"/>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6" name="Marcador de pie de página 5">
            <a:extLst>
              <a:ext uri="{FF2B5EF4-FFF2-40B4-BE49-F238E27FC236}">
                <a16:creationId xmlns:a16="http://schemas.microsoft.com/office/drawing/2014/main" id="{7C538A3F-85F7-2F35-E4E6-DB8D7C7EBD6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083116D-B102-5DF0-167E-441EC3865BAF}"/>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2471977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B85A2-EBB7-435E-365A-8BFA04449C52}"/>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295F6207-E6D2-2CFA-F801-FD3FEE3167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383E27D-96CB-AF5C-9A3C-7C71EEFCEC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CF2F934-BF59-1E69-A5F7-84810CAB4319}"/>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6" name="Marcador de pie de página 5">
            <a:extLst>
              <a:ext uri="{FF2B5EF4-FFF2-40B4-BE49-F238E27FC236}">
                <a16:creationId xmlns:a16="http://schemas.microsoft.com/office/drawing/2014/main" id="{BC0AECF6-F507-2165-215E-EE4029D5118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4FAB066-8DEB-6E55-D317-0EAD61D31BCC}"/>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450799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4C316C-F050-51B3-2C50-7015CA06E59B}"/>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103B7297-CF7C-7E12-65F3-AB5C9ABE9D29}"/>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24D17A23-FE1C-BD38-485C-4375C64EEACE}"/>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5" name="Marcador de pie de página 4">
            <a:extLst>
              <a:ext uri="{FF2B5EF4-FFF2-40B4-BE49-F238E27FC236}">
                <a16:creationId xmlns:a16="http://schemas.microsoft.com/office/drawing/2014/main" id="{5747F1E4-D9DE-640A-2ADC-5E552DE734E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95668DB-410D-434C-6FE8-DF0ADF5625D7}"/>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248220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0D56CFC-A507-77F5-D71E-18447B3E2AAC}"/>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F0890627-9624-69DA-322B-E23922AFD33B}"/>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8F1839F4-F5D4-05E6-3DAD-A1F39E3B873A}"/>
              </a:ext>
            </a:extLst>
          </p:cNvPr>
          <p:cNvSpPr>
            <a:spLocks noGrp="1"/>
          </p:cNvSpPr>
          <p:nvPr>
            <p:ph type="dt" sz="half" idx="10"/>
          </p:nvPr>
        </p:nvSpPr>
        <p:spPr/>
        <p:txBody>
          <a:bodyPr/>
          <a:lstStyle/>
          <a:p>
            <a:fld id="{3547E61C-5B88-4F1C-A577-C40D844E5397}" type="datetimeFigureOut">
              <a:rPr lang="es-MX" smtClean="0"/>
              <a:t>19/10/2026</a:t>
            </a:fld>
            <a:endParaRPr lang="es-MX"/>
          </a:p>
        </p:txBody>
      </p:sp>
      <p:sp>
        <p:nvSpPr>
          <p:cNvPr id="5" name="Marcador de pie de página 4">
            <a:extLst>
              <a:ext uri="{FF2B5EF4-FFF2-40B4-BE49-F238E27FC236}">
                <a16:creationId xmlns:a16="http://schemas.microsoft.com/office/drawing/2014/main" id="{EAA4AA37-D3A1-12B6-87AB-AFE435E8D92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DC038CF-AEDA-4D7D-0FBB-95E2229C1B40}"/>
              </a:ext>
            </a:extLst>
          </p:cNvPr>
          <p:cNvSpPr>
            <a:spLocks noGrp="1"/>
          </p:cNvSpPr>
          <p:nvPr>
            <p:ph type="sldNum" sz="quarter" idx="12"/>
          </p:nvPr>
        </p:nvSpPr>
        <p:spPr/>
        <p:txBody>
          <a:bodyPr/>
          <a:lstStyle/>
          <a:p>
            <a:fld id="{97AB0845-6CBF-4F10-A7C7-76DA0341981D}" type="slidenum">
              <a:rPr lang="es-MX" smtClean="0"/>
              <a:t>‹Nº›</a:t>
            </a:fld>
            <a:endParaRPr lang="es-MX"/>
          </a:p>
        </p:txBody>
      </p:sp>
    </p:spTree>
    <p:extLst>
      <p:ext uri="{BB962C8B-B14F-4D97-AF65-F5344CB8AC3E}">
        <p14:creationId xmlns:p14="http://schemas.microsoft.com/office/powerpoint/2010/main" val="2861903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99121D6-A940-7C3C-31D4-F353A2B69D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E4B6E7DD-EB42-CDFB-0CA3-2058236813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F03D29D5-22B8-E93C-9B4A-EC9BCA4728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47E61C-5B88-4F1C-A577-C40D844E5397}" type="datetimeFigureOut">
              <a:rPr lang="es-MX" smtClean="0"/>
              <a:t>19/10/2026</a:t>
            </a:fld>
            <a:endParaRPr lang="es-MX"/>
          </a:p>
        </p:txBody>
      </p:sp>
      <p:sp>
        <p:nvSpPr>
          <p:cNvPr id="5" name="Marcador de pie de página 4">
            <a:extLst>
              <a:ext uri="{FF2B5EF4-FFF2-40B4-BE49-F238E27FC236}">
                <a16:creationId xmlns:a16="http://schemas.microsoft.com/office/drawing/2014/main" id="{0DE23E1E-8CAA-EBAA-C412-B347A05EFD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F1EE3FE-9ABA-5A46-29A0-425FCD247C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AB0845-6CBF-4F10-A7C7-76DA0341981D}" type="slidenum">
              <a:rPr lang="es-MX" smtClean="0"/>
              <a:t>‹Nº›</a:t>
            </a:fld>
            <a:endParaRPr lang="es-MX"/>
          </a:p>
        </p:txBody>
      </p:sp>
    </p:spTree>
    <p:extLst>
      <p:ext uri="{BB962C8B-B14F-4D97-AF65-F5344CB8AC3E}">
        <p14:creationId xmlns:p14="http://schemas.microsoft.com/office/powerpoint/2010/main" val="1984031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17/06/relationships/model3d" Target="../media/model3d1.glb"/><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microsoft.com/office/2017/06/relationships/model3d" Target="../media/model3d1.glb"/></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17/06/relationships/model3d" Target="../media/model3d1.glb"/><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microsoft.com/office/2017/06/relationships/model3d" Target="../media/model3d1.glb"/><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13" Type="http://schemas.microsoft.com/office/2017/06/relationships/model3d" Target="../media/model3d1.glb"/><Relationship Id="rId3" Type="http://schemas.openxmlformats.org/officeDocument/2006/relationships/image" Target="../media/image1.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11" Type="http://schemas.microsoft.com/office/2007/relationships/hdphoto" Target="../media/hdphoto2.wdp"/><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1.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17/06/relationships/model3d" Target="../media/model3d1.glb"/><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microsoft.com/office/2017/06/relationships/model3d" Target="../media/model3d1.glb"/><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6.xml"/><Relationship Id="rId16" Type="http://schemas.openxmlformats.org/officeDocument/2006/relationships/image" Target="../media/image18.png"/><Relationship Id="rId1" Type="http://schemas.openxmlformats.org/officeDocument/2006/relationships/slideLayout" Target="../slideLayouts/slideLayout1.xml"/><Relationship Id="rId6" Type="http://schemas.microsoft.com/office/2007/relationships/hdphoto" Target="../media/hdphoto1.wdp"/><Relationship Id="rId11" Type="http://schemas.microsoft.com/office/2017/06/relationships/model3d" Target="../media/model3d1.glb"/><Relationship Id="rId5" Type="http://schemas.openxmlformats.org/officeDocument/2006/relationships/image" Target="../media/image10.png"/><Relationship Id="rId15" Type="http://schemas.openxmlformats.org/officeDocument/2006/relationships/image" Target="../media/image5.png"/><Relationship Id="rId10" Type="http://schemas.openxmlformats.org/officeDocument/2006/relationships/image" Target="../media/image13.png"/><Relationship Id="rId4" Type="http://schemas.openxmlformats.org/officeDocument/2006/relationships/image" Target="../media/image3.png"/><Relationship Id="rId9" Type="http://schemas.microsoft.com/office/2007/relationships/hdphoto" Target="../media/hdphoto2.wdp"/><Relationship Id="rId1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5.png"/><Relationship Id="rId12" Type="http://schemas.microsoft.com/office/2007/relationships/hdphoto" Target="../media/hdphoto4.wdp"/><Relationship Id="rId2" Type="http://schemas.openxmlformats.org/officeDocument/2006/relationships/notesSlide" Target="../notesSlides/notesSlide7.xml"/><Relationship Id="rId16" Type="http://schemas.microsoft.com/office/2007/relationships/hdphoto" Target="../media/hdphoto6.wdp"/><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1.png"/><Relationship Id="rId5" Type="http://schemas.microsoft.com/office/2017/06/relationships/model3d" Target="../media/model3d1.glb"/><Relationship Id="rId15" Type="http://schemas.openxmlformats.org/officeDocument/2006/relationships/image" Target="../media/image23.png"/><Relationship Id="rId10" Type="http://schemas.microsoft.com/office/2007/relationships/hdphoto" Target="../media/hdphoto3.wdp"/><Relationship Id="rId4" Type="http://schemas.openxmlformats.org/officeDocument/2006/relationships/image" Target="../media/image15.png"/><Relationship Id="rId9" Type="http://schemas.openxmlformats.org/officeDocument/2006/relationships/image" Target="../media/image20.png"/><Relationship Id="rId14" Type="http://schemas.microsoft.com/office/2007/relationships/hdphoto" Target="../media/hdphoto5.wdp"/></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microsoft.com/office/2017/06/relationships/model3d" Target="../media/model3d1.glb"/><Relationship Id="rId5" Type="http://schemas.openxmlformats.org/officeDocument/2006/relationships/image" Target="../media/image5.png"/><Relationship Id="rId4" Type="http://schemas.openxmlformats.org/officeDocument/2006/relationships/image" Target="../media/image18.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1.png"/><Relationship Id="rId12" Type="http://schemas.microsoft.com/office/2007/relationships/hdphoto" Target="../media/hdphoto6.wdp"/><Relationship Id="rId2" Type="http://schemas.openxmlformats.org/officeDocument/2006/relationships/notesSlide" Target="../notesSlides/notesSlide9.xml"/><Relationship Id="rId16" Type="http://schemas.openxmlformats.org/officeDocument/2006/relationships/image" Target="../media/image26.png"/><Relationship Id="rId1" Type="http://schemas.openxmlformats.org/officeDocument/2006/relationships/slideLayout" Target="../slideLayouts/slideLayout1.xml"/><Relationship Id="rId6" Type="http://schemas.microsoft.com/office/2007/relationships/hdphoto" Target="../media/hdphoto3.wdp"/><Relationship Id="rId11" Type="http://schemas.openxmlformats.org/officeDocument/2006/relationships/image" Target="../media/image23.png"/><Relationship Id="rId5" Type="http://schemas.openxmlformats.org/officeDocument/2006/relationships/image" Target="../media/image20.png"/><Relationship Id="rId15" Type="http://schemas.microsoft.com/office/2017/06/relationships/model3d" Target="../media/model3d1.glb"/><Relationship Id="rId10" Type="http://schemas.microsoft.com/office/2007/relationships/hdphoto" Target="../media/hdphoto5.wdp"/><Relationship Id="rId4" Type="http://schemas.openxmlformats.org/officeDocument/2006/relationships/image" Target="../media/image5.png"/><Relationship Id="rId9" Type="http://schemas.openxmlformats.org/officeDocument/2006/relationships/image" Target="../media/image22.png"/><Relationship Id="rId1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microsoft.com/office/2017/06/relationships/model3d" Target="../media/model3d1.glb"/><Relationship Id="rId5" Type="http://schemas.openxmlformats.org/officeDocument/2006/relationships/image" Target="../media/image5.png"/><Relationship Id="rId4" Type="http://schemas.openxmlformats.org/officeDocument/2006/relationships/image" Target="../media/image18.png"/><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microsoft.com/office/2017/06/relationships/model3d" Target="../media/model3d1.glb"/><Relationship Id="rId5" Type="http://schemas.openxmlformats.org/officeDocument/2006/relationships/image" Target="../media/image18.png"/><Relationship Id="rId10" Type="http://schemas.openxmlformats.org/officeDocument/2006/relationships/image" Target="../media/image29.png"/><Relationship Id="rId4" Type="http://schemas.openxmlformats.org/officeDocument/2006/relationships/image" Target="../media/image5.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microsoft.com/office/2017/06/relationships/model3d" Target="../media/model3d1.glb"/><Relationship Id="rId5"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35.png"/><Relationship Id="rId5" Type="http://schemas.openxmlformats.org/officeDocument/2006/relationships/image" Target="../media/image5.png"/><Relationship Id="rId10" Type="http://schemas.openxmlformats.org/officeDocument/2006/relationships/image" Target="../media/image34.png"/><Relationship Id="rId4" Type="http://schemas.openxmlformats.org/officeDocument/2006/relationships/image" Target="../media/image1.pn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microsoft.com/office/2017/06/relationships/model3d" Target="../media/model3d1.glb"/><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2.png"/><Relationship Id="rId5" Type="http://schemas.microsoft.com/office/2017/06/relationships/model3d" Target="../media/model3d1.glb"/><Relationship Id="rId4" Type="http://schemas.openxmlformats.org/officeDocument/2006/relationships/image" Target="../media/image5.png"/><Relationship Id="rId9"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microsoft.com/office/2017/06/relationships/model3d" Target="../media/model3d1.glb"/><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87FC9-7E54-2E70-3FE4-B0908773CB38}"/>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9B3581EF-ACE7-E5AC-FDBA-11E338CE0F4F}"/>
              </a:ext>
            </a:extLst>
          </p:cNvPr>
          <p:cNvSpPr/>
          <p:nvPr/>
        </p:nvSpPr>
        <p:spPr>
          <a:xfrm>
            <a:off x="-34926" y="-25400"/>
            <a:ext cx="12261850" cy="69088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lvl="0" algn="just">
              <a:lnSpc>
                <a:spcPts val="2416"/>
              </a:lnSpc>
              <a:spcBef>
                <a:spcPct val="0"/>
              </a:spcBef>
            </a:pPr>
            <a:r>
              <a:rPr lang="es-CL" noProof="0">
                <a:solidFill>
                  <a:schemeClr val="tx1">
                    <a:lumMod val="85000"/>
                    <a:lumOff val="15000"/>
                  </a:schemeClr>
                </a:solidFill>
                <a:latin typeface="Montserrat"/>
                <a:ea typeface="Montserrat"/>
                <a:cs typeface="Montserrat"/>
                <a:sym typeface="Montserrat"/>
              </a:rPr>
              <a:t> </a:t>
            </a:r>
          </a:p>
        </p:txBody>
      </p:sp>
      <p:pic>
        <p:nvPicPr>
          <p:cNvPr id="9" name="Imagen 8">
            <a:extLst>
              <a:ext uri="{FF2B5EF4-FFF2-40B4-BE49-F238E27FC236}">
                <a16:creationId xmlns:a16="http://schemas.microsoft.com/office/drawing/2014/main" id="{FDDA1266-B4ED-5A0F-E130-B12B7E7D2990}"/>
              </a:ext>
            </a:extLst>
          </p:cNvPr>
          <p:cNvPicPr preferRelativeResize="0">
            <a:picLocks noChangeAspect="1"/>
          </p:cNvPicPr>
          <p:nvPr/>
        </p:nvPicPr>
        <p:blipFill>
          <a:blip r:embed="rId2"/>
          <a:srcRect/>
          <a:stretch>
            <a:fillRect/>
          </a:stretch>
        </p:blipFill>
        <p:spPr>
          <a:xfrm rot="13118852">
            <a:off x="-10858541" y="-3076894"/>
            <a:ext cx="9498128" cy="7260847"/>
          </a:xfrm>
          <a:prstGeom prst="rect">
            <a:avLst/>
          </a:prstGeom>
        </p:spPr>
      </p:pic>
      <p:sp>
        <p:nvSpPr>
          <p:cNvPr id="13" name="Rectángulo 12">
            <a:extLst>
              <a:ext uri="{FF2B5EF4-FFF2-40B4-BE49-F238E27FC236}">
                <a16:creationId xmlns:a16="http://schemas.microsoft.com/office/drawing/2014/main" id="{C1DD2DFD-853C-6AE0-0F78-BF03CE0A3F50}"/>
              </a:ext>
            </a:extLst>
          </p:cNvPr>
          <p:cNvSpPr/>
          <p:nvPr/>
        </p:nvSpPr>
        <p:spPr>
          <a:xfrm>
            <a:off x="12423362" y="-25400"/>
            <a:ext cx="8112373" cy="69088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FB0AC97A-4756-A401-71E7-5D55967687CA}"/>
              </a:ext>
            </a:extLst>
          </p:cNvPr>
          <p:cNvSpPr txBox="1"/>
          <p:nvPr/>
        </p:nvSpPr>
        <p:spPr>
          <a:xfrm>
            <a:off x="1736583" y="1275169"/>
            <a:ext cx="8014508" cy="1368516"/>
          </a:xfrm>
          <a:prstGeom prst="rect">
            <a:avLst/>
          </a:prstGeom>
          <a:noFill/>
        </p:spPr>
        <p:txBody>
          <a:bodyPr wrap="square">
            <a:spAutoFit/>
          </a:bodyPr>
          <a:lstStyle/>
          <a:p>
            <a:pPr marL="0" lvl="0" indent="0" algn="l">
              <a:lnSpc>
                <a:spcPts val="7791"/>
              </a:lnSpc>
              <a:spcBef>
                <a:spcPct val="0"/>
              </a:spcBef>
            </a:pPr>
            <a:r>
              <a:rPr lang="es-CL" sz="16600" b="1" spc="-300" noProof="0" dirty="0">
                <a:solidFill>
                  <a:srgbClr val="FFFFFF"/>
                </a:solidFill>
                <a:latin typeface="Montserrat Bold"/>
                <a:ea typeface="Montserrat Bold"/>
                <a:cs typeface="Montserrat Bold"/>
                <a:sym typeface="Montserrat Bold"/>
              </a:rPr>
              <a:t>Fut.Ai</a:t>
            </a:r>
          </a:p>
        </p:txBody>
      </p:sp>
      <p:pic>
        <p:nvPicPr>
          <p:cNvPr id="15" name="Imagen 14">
            <a:extLst>
              <a:ext uri="{FF2B5EF4-FFF2-40B4-BE49-F238E27FC236}">
                <a16:creationId xmlns:a16="http://schemas.microsoft.com/office/drawing/2014/main" id="{89FCCAD2-BC08-EE48-1034-9EDA5FE1258C}"/>
              </a:ext>
            </a:extLst>
          </p:cNvPr>
          <p:cNvPicPr>
            <a:picLocks noChangeAspect="1"/>
          </p:cNvPicPr>
          <p:nvPr/>
        </p:nvPicPr>
        <p:blipFill>
          <a:blip r:embed="rId3"/>
          <a:srcRect/>
          <a:stretch>
            <a:fillRect/>
          </a:stretch>
        </p:blipFill>
        <p:spPr>
          <a:xfrm>
            <a:off x="1477672" y="-5247763"/>
            <a:ext cx="6322856" cy="3590265"/>
          </a:xfrm>
          <a:prstGeom prst="rect">
            <a:avLst/>
          </a:prstGeom>
        </p:spPr>
      </p:pic>
      <p:pic>
        <p:nvPicPr>
          <p:cNvPr id="18" name="Imagen 17">
            <a:extLst>
              <a:ext uri="{FF2B5EF4-FFF2-40B4-BE49-F238E27FC236}">
                <a16:creationId xmlns:a16="http://schemas.microsoft.com/office/drawing/2014/main" id="{D4D3D103-15CA-EF78-4CCF-0AD0DAADB8E2}"/>
              </a:ext>
            </a:extLst>
          </p:cNvPr>
          <p:cNvPicPr>
            <a:picLocks noChangeAspect="1"/>
          </p:cNvPicPr>
          <p:nvPr/>
        </p:nvPicPr>
        <p:blipFill>
          <a:blip r:embed="rId4"/>
          <a:srcRect/>
          <a:stretch>
            <a:fillRect/>
          </a:stretch>
        </p:blipFill>
        <p:spPr>
          <a:xfrm rot="11109761">
            <a:off x="13880676" y="-6387972"/>
            <a:ext cx="10309162" cy="9922570"/>
          </a:xfrm>
          <a:prstGeom prst="rect">
            <a:avLst/>
          </a:prstGeom>
        </p:spPr>
      </p:pic>
      <mc:AlternateContent xmlns:mc="http://schemas.openxmlformats.org/markup-compatibility/2006">
        <mc:Choice xmlns:am3d="http://schemas.microsoft.com/office/drawing/2017/model3d" Requires="am3d">
          <p:graphicFrame>
            <p:nvGraphicFramePr>
              <p:cNvPr id="2" name="Modelo 3D 1">
                <a:extLst>
                  <a:ext uri="{FF2B5EF4-FFF2-40B4-BE49-F238E27FC236}">
                    <a16:creationId xmlns:a16="http://schemas.microsoft.com/office/drawing/2014/main" id="{D7CFE620-76D9-5E9F-4F59-CF3A06E25DC5}"/>
                  </a:ext>
                </a:extLst>
              </p:cNvPr>
              <p:cNvGraphicFramePr>
                <a:graphicFrameLocks noChangeAspect="1"/>
              </p:cNvGraphicFramePr>
              <p:nvPr>
                <p:extLst>
                  <p:ext uri="{D42A27DB-BD31-4B8C-83A1-F6EECF244321}">
                    <p14:modId xmlns:p14="http://schemas.microsoft.com/office/powerpoint/2010/main" val="3909145380"/>
                  </p:ext>
                </p:extLst>
              </p:nvPr>
            </p:nvGraphicFramePr>
            <p:xfrm>
              <a:off x="4863267" y="3644801"/>
              <a:ext cx="2218441" cy="2237483"/>
            </p:xfrm>
            <a:graphic>
              <a:graphicData uri="http://schemas.microsoft.com/office/drawing/2017/model3d">
                <am3d:model3d r:embed="rId5">
                  <am3d:spPr>
                    <a:xfrm>
                      <a:off x="0" y="0"/>
                      <a:ext cx="2218441" cy="2237483"/>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869594" ay="-616469" az="158386"/>
                    <am3d:postTrans dx="0" dy="0" dz="0"/>
                  </am3d:trans>
                  <am3d:raster rName="Office3DRenderer" rVer="16.0.8326">
                    <am3d:blip r:embed="rId6"/>
                  </am3d:raster>
                  <am3d:objViewport viewportSz="591266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o 3D 1">
                <a:extLst>
                  <a:ext uri="{FF2B5EF4-FFF2-40B4-BE49-F238E27FC236}">
                    <a16:creationId xmlns:a16="http://schemas.microsoft.com/office/drawing/2014/main" id="{D7CFE620-76D9-5E9F-4F59-CF3A06E25DC5}"/>
                  </a:ext>
                </a:extLst>
              </p:cNvPr>
              <p:cNvPicPr>
                <a:picLocks noGrp="1" noRot="1" noChangeAspect="1" noMove="1" noResize="1" noEditPoints="1" noAdjustHandles="1" noChangeArrowheads="1" noChangeShapeType="1" noCrop="1"/>
              </p:cNvPicPr>
              <p:nvPr/>
            </p:nvPicPr>
            <p:blipFill>
              <a:blip r:embed="rId6"/>
              <a:stretch>
                <a:fillRect/>
              </a:stretch>
            </p:blipFill>
            <p:spPr>
              <a:xfrm>
                <a:off x="4863267" y="3644801"/>
                <a:ext cx="2218441" cy="2237483"/>
              </a:xfrm>
              <a:prstGeom prst="rect">
                <a:avLst/>
              </a:prstGeom>
            </p:spPr>
          </p:pic>
        </mc:Fallback>
      </mc:AlternateContent>
      <p:sp>
        <p:nvSpPr>
          <p:cNvPr id="20" name="Rectángulo 19">
            <a:extLst>
              <a:ext uri="{FF2B5EF4-FFF2-40B4-BE49-F238E27FC236}">
                <a16:creationId xmlns:a16="http://schemas.microsoft.com/office/drawing/2014/main" id="{206F68BE-4537-29A7-8054-856B54465504}"/>
              </a:ext>
            </a:extLst>
          </p:cNvPr>
          <p:cNvSpPr/>
          <p:nvPr/>
        </p:nvSpPr>
        <p:spPr>
          <a:xfrm>
            <a:off x="12423362" y="-25400"/>
            <a:ext cx="3048000" cy="6858000"/>
          </a:xfrm>
          <a:prstGeom prst="rect">
            <a:avLst/>
          </a:prstGeom>
          <a:solidFill>
            <a:schemeClr val="accent6">
              <a:lumMod val="40000"/>
              <a:lumOff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22" name="Rectángulo 21">
            <a:extLst>
              <a:ext uri="{FF2B5EF4-FFF2-40B4-BE49-F238E27FC236}">
                <a16:creationId xmlns:a16="http://schemas.microsoft.com/office/drawing/2014/main" id="{63FC0573-1C96-B010-5C7A-9B1CDF5B9CDB}"/>
              </a:ext>
            </a:extLst>
          </p:cNvPr>
          <p:cNvSpPr/>
          <p:nvPr/>
        </p:nvSpPr>
        <p:spPr>
          <a:xfrm>
            <a:off x="15471362" y="-25400"/>
            <a:ext cx="3048000" cy="6858000"/>
          </a:xfrm>
          <a:prstGeom prst="rect">
            <a:avLst/>
          </a:prstGeom>
          <a:solidFill>
            <a:schemeClr val="accent6">
              <a:lumMod val="60000"/>
              <a:lumOff val="4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24" name="Rectángulo 23">
            <a:extLst>
              <a:ext uri="{FF2B5EF4-FFF2-40B4-BE49-F238E27FC236}">
                <a16:creationId xmlns:a16="http://schemas.microsoft.com/office/drawing/2014/main" id="{26DA5716-0D0F-E62D-6A21-19130C651643}"/>
              </a:ext>
            </a:extLst>
          </p:cNvPr>
          <p:cNvSpPr/>
          <p:nvPr/>
        </p:nvSpPr>
        <p:spPr>
          <a:xfrm>
            <a:off x="18519362" y="-25400"/>
            <a:ext cx="3048000" cy="6858000"/>
          </a:xfrm>
          <a:prstGeom prst="rect">
            <a:avLst/>
          </a:prstGeom>
          <a:solidFill>
            <a:schemeClr val="accent6">
              <a:lumMod val="7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26" name="Rectángulo 25">
            <a:extLst>
              <a:ext uri="{FF2B5EF4-FFF2-40B4-BE49-F238E27FC236}">
                <a16:creationId xmlns:a16="http://schemas.microsoft.com/office/drawing/2014/main" id="{4110E6E6-7428-45D0-D9EF-968968B78DEC}"/>
              </a:ext>
            </a:extLst>
          </p:cNvPr>
          <p:cNvSpPr/>
          <p:nvPr/>
        </p:nvSpPr>
        <p:spPr>
          <a:xfrm>
            <a:off x="21567362" y="-25400"/>
            <a:ext cx="3048000" cy="6858000"/>
          </a:xfrm>
          <a:prstGeom prst="rect">
            <a:avLst/>
          </a:prstGeom>
          <a:solidFill>
            <a:schemeClr val="accent6">
              <a:lumMod val="5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solidFill>
                <a:schemeClr val="accent6">
                  <a:lumMod val="50000"/>
                </a:schemeClr>
              </a:solidFill>
            </a:endParaRPr>
          </a:p>
        </p:txBody>
      </p:sp>
      <p:sp>
        <p:nvSpPr>
          <p:cNvPr id="28" name="Triángulo isósceles 27">
            <a:extLst>
              <a:ext uri="{FF2B5EF4-FFF2-40B4-BE49-F238E27FC236}">
                <a16:creationId xmlns:a16="http://schemas.microsoft.com/office/drawing/2014/main" id="{36B6C86B-4575-54F6-E776-575E4682FC13}"/>
              </a:ext>
            </a:extLst>
          </p:cNvPr>
          <p:cNvSpPr/>
          <p:nvPr/>
        </p:nvSpPr>
        <p:spPr>
          <a:xfrm rot="5400000">
            <a:off x="15428770" y="360092"/>
            <a:ext cx="364584" cy="279400"/>
          </a:xfrm>
          <a:prstGeom prst="triangl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0" name="Triángulo isósceles 29">
            <a:extLst>
              <a:ext uri="{FF2B5EF4-FFF2-40B4-BE49-F238E27FC236}">
                <a16:creationId xmlns:a16="http://schemas.microsoft.com/office/drawing/2014/main" id="{FE43C567-BE46-1EB1-279C-7D7C5A788C79}"/>
              </a:ext>
            </a:extLst>
          </p:cNvPr>
          <p:cNvSpPr/>
          <p:nvPr/>
        </p:nvSpPr>
        <p:spPr>
          <a:xfrm rot="5400000">
            <a:off x="18476770" y="360092"/>
            <a:ext cx="364584" cy="279400"/>
          </a:xfrm>
          <a:prstGeom prst="triangl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2" name="Triángulo isósceles 31">
            <a:extLst>
              <a:ext uri="{FF2B5EF4-FFF2-40B4-BE49-F238E27FC236}">
                <a16:creationId xmlns:a16="http://schemas.microsoft.com/office/drawing/2014/main" id="{DE419A14-93B5-7C89-CA0B-4C9FA50DA772}"/>
              </a:ext>
            </a:extLst>
          </p:cNvPr>
          <p:cNvSpPr/>
          <p:nvPr/>
        </p:nvSpPr>
        <p:spPr>
          <a:xfrm rot="5400000">
            <a:off x="21524770" y="360092"/>
            <a:ext cx="364584" cy="279400"/>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4" name="CuadroTexto 33">
            <a:extLst>
              <a:ext uri="{FF2B5EF4-FFF2-40B4-BE49-F238E27FC236}">
                <a16:creationId xmlns:a16="http://schemas.microsoft.com/office/drawing/2014/main" id="{03A573F3-4AE4-CE4E-3A41-E131AA2D886A}"/>
              </a:ext>
            </a:extLst>
          </p:cNvPr>
          <p:cNvSpPr txBox="1"/>
          <p:nvPr/>
        </p:nvSpPr>
        <p:spPr>
          <a:xfrm>
            <a:off x="12423362" y="-83634"/>
            <a:ext cx="3372133" cy="982705"/>
          </a:xfrm>
          <a:prstGeom prst="rect">
            <a:avLst/>
          </a:prstGeom>
          <a:noFill/>
        </p:spPr>
        <p:txBody>
          <a:bodyPr wrap="square">
            <a:spAutoFit/>
          </a:bodyPr>
          <a:lstStyle/>
          <a:p>
            <a:pPr lvl="0">
              <a:lnSpc>
                <a:spcPts val="7791"/>
              </a:lnSpc>
              <a:spcBef>
                <a:spcPct val="0"/>
              </a:spcBef>
            </a:pPr>
            <a:r>
              <a:rPr lang="es-CL" sz="4000" b="1" spc="-557" noProof="0" dirty="0" err="1">
                <a:solidFill>
                  <a:srgbClr val="FFFFFF"/>
                </a:solidFill>
                <a:latin typeface="Montserrat Bold"/>
                <a:ea typeface="Montserrat Bold"/>
                <a:cs typeface="Montserrat Bold"/>
                <a:sym typeface="Montserrat Bold"/>
              </a:rPr>
              <a:t>Introduccion</a:t>
            </a:r>
            <a:endParaRPr lang="es-CL" sz="4400" b="1" spc="-557" noProof="0" dirty="0">
              <a:solidFill>
                <a:srgbClr val="FFFFFF"/>
              </a:solidFill>
              <a:latin typeface="Montserrat Bold"/>
              <a:ea typeface="Montserrat Bold"/>
              <a:cs typeface="Montserrat Bold"/>
              <a:sym typeface="Montserrat Bold"/>
            </a:endParaRPr>
          </a:p>
        </p:txBody>
      </p:sp>
      <p:sp>
        <p:nvSpPr>
          <p:cNvPr id="36" name="CuadroTexto 35">
            <a:extLst>
              <a:ext uri="{FF2B5EF4-FFF2-40B4-BE49-F238E27FC236}">
                <a16:creationId xmlns:a16="http://schemas.microsoft.com/office/drawing/2014/main" id="{B1759A79-3D31-16B7-2376-6F2A06BAEAD8}"/>
              </a:ext>
            </a:extLst>
          </p:cNvPr>
          <p:cNvSpPr txBox="1"/>
          <p:nvPr/>
        </p:nvSpPr>
        <p:spPr>
          <a:xfrm>
            <a:off x="15991476" y="-83634"/>
            <a:ext cx="3372133" cy="982705"/>
          </a:xfrm>
          <a:prstGeom prst="rect">
            <a:avLst/>
          </a:prstGeom>
          <a:noFill/>
        </p:spPr>
        <p:txBody>
          <a:bodyPr wrap="square">
            <a:spAutoFit/>
          </a:bodyPr>
          <a:lstStyle/>
          <a:p>
            <a:pPr lvl="0">
              <a:lnSpc>
                <a:spcPts val="7791"/>
              </a:lnSpc>
              <a:spcBef>
                <a:spcPct val="0"/>
              </a:spcBef>
            </a:pPr>
            <a:r>
              <a:rPr lang="es-CL" sz="4000" b="1" spc="-557" noProof="0" dirty="0">
                <a:solidFill>
                  <a:srgbClr val="FFFFFF"/>
                </a:solidFill>
                <a:latin typeface="Montserrat Bold"/>
                <a:ea typeface="Montserrat Bold"/>
                <a:cs typeface="Montserrat Bold"/>
                <a:sym typeface="Montserrat Bold"/>
              </a:rPr>
              <a:t>Contexto</a:t>
            </a:r>
            <a:endParaRPr lang="es-CL" sz="4400" b="1" spc="-557" noProof="0" dirty="0">
              <a:solidFill>
                <a:srgbClr val="FFFFFF"/>
              </a:solidFill>
              <a:latin typeface="Montserrat Bold"/>
              <a:ea typeface="Montserrat Bold"/>
              <a:cs typeface="Montserrat Bold"/>
              <a:sym typeface="Montserrat Bold"/>
            </a:endParaRPr>
          </a:p>
        </p:txBody>
      </p:sp>
      <p:sp>
        <p:nvSpPr>
          <p:cNvPr id="38" name="CuadroTexto 37">
            <a:extLst>
              <a:ext uri="{FF2B5EF4-FFF2-40B4-BE49-F238E27FC236}">
                <a16:creationId xmlns:a16="http://schemas.microsoft.com/office/drawing/2014/main" id="{4E6D1FEF-7AD5-D1CD-9CDE-9FC83CF2C4CD}"/>
              </a:ext>
            </a:extLst>
          </p:cNvPr>
          <p:cNvSpPr txBox="1"/>
          <p:nvPr/>
        </p:nvSpPr>
        <p:spPr>
          <a:xfrm>
            <a:off x="18715343" y="-79917"/>
            <a:ext cx="3372133" cy="982705"/>
          </a:xfrm>
          <a:prstGeom prst="rect">
            <a:avLst/>
          </a:prstGeom>
          <a:noFill/>
        </p:spPr>
        <p:txBody>
          <a:bodyPr wrap="square">
            <a:spAutoFit/>
          </a:bodyPr>
          <a:lstStyle/>
          <a:p>
            <a:pPr lvl="0">
              <a:lnSpc>
                <a:spcPts val="7791"/>
              </a:lnSpc>
              <a:spcBef>
                <a:spcPct val="0"/>
              </a:spcBef>
            </a:pPr>
            <a:r>
              <a:rPr lang="es-CL" sz="4000" b="1" spc="-557" noProof="0" dirty="0" err="1">
                <a:solidFill>
                  <a:srgbClr val="FFFFFF"/>
                </a:solidFill>
                <a:latin typeface="Montserrat Bold"/>
                <a:ea typeface="Montserrat Bold"/>
                <a:cs typeface="Montserrat Bold"/>
                <a:sym typeface="Montserrat Bold"/>
              </a:rPr>
              <a:t>Problematica</a:t>
            </a:r>
            <a:endParaRPr lang="es-CL" sz="4400" b="1" spc="-557" noProof="0" dirty="0">
              <a:solidFill>
                <a:srgbClr val="FFFFFF"/>
              </a:solidFill>
              <a:latin typeface="Montserrat Bold"/>
              <a:ea typeface="Montserrat Bold"/>
              <a:cs typeface="Montserrat Bold"/>
              <a:sym typeface="Montserrat Bold"/>
            </a:endParaRPr>
          </a:p>
        </p:txBody>
      </p:sp>
      <p:sp>
        <p:nvSpPr>
          <p:cNvPr id="40" name="CuadroTexto 39">
            <a:extLst>
              <a:ext uri="{FF2B5EF4-FFF2-40B4-BE49-F238E27FC236}">
                <a16:creationId xmlns:a16="http://schemas.microsoft.com/office/drawing/2014/main" id="{53271A0C-31EF-AF58-E622-B9E13718A30E}"/>
              </a:ext>
            </a:extLst>
          </p:cNvPr>
          <p:cNvSpPr txBox="1"/>
          <p:nvPr/>
        </p:nvSpPr>
        <p:spPr>
          <a:xfrm>
            <a:off x="22087476" y="-76200"/>
            <a:ext cx="3372133" cy="982705"/>
          </a:xfrm>
          <a:prstGeom prst="rect">
            <a:avLst/>
          </a:prstGeom>
          <a:noFill/>
        </p:spPr>
        <p:txBody>
          <a:bodyPr wrap="square">
            <a:spAutoFit/>
          </a:bodyPr>
          <a:lstStyle/>
          <a:p>
            <a:pPr lvl="0">
              <a:lnSpc>
                <a:spcPts val="7791"/>
              </a:lnSpc>
              <a:spcBef>
                <a:spcPct val="0"/>
              </a:spcBef>
            </a:pPr>
            <a:r>
              <a:rPr lang="es-CL" sz="4000" b="1" spc="-557" noProof="0" dirty="0" err="1">
                <a:solidFill>
                  <a:srgbClr val="FFFFFF"/>
                </a:solidFill>
                <a:latin typeface="Montserrat Bold"/>
                <a:ea typeface="Montserrat Bold"/>
                <a:cs typeface="Montserrat Bold"/>
                <a:sym typeface="Montserrat Bold"/>
              </a:rPr>
              <a:t>Solucion</a:t>
            </a:r>
            <a:endParaRPr lang="es-CL" sz="4400" b="1" spc="-557" noProof="0" dirty="0">
              <a:solidFill>
                <a:srgbClr val="FFFFFF"/>
              </a:solidFill>
              <a:latin typeface="Montserrat Bold"/>
              <a:ea typeface="Montserrat Bold"/>
              <a:cs typeface="Montserrat Bold"/>
              <a:sym typeface="Montserrat Bold"/>
            </a:endParaRPr>
          </a:p>
        </p:txBody>
      </p:sp>
      <p:pic>
        <p:nvPicPr>
          <p:cNvPr id="5" name="Imagen 4">
            <a:extLst>
              <a:ext uri="{FF2B5EF4-FFF2-40B4-BE49-F238E27FC236}">
                <a16:creationId xmlns:a16="http://schemas.microsoft.com/office/drawing/2014/main" id="{744F8351-E189-096F-FA42-F4FA50A69F32}"/>
              </a:ext>
            </a:extLst>
          </p:cNvPr>
          <p:cNvPicPr>
            <a:picLocks noChangeAspect="1"/>
          </p:cNvPicPr>
          <p:nvPr/>
        </p:nvPicPr>
        <p:blipFill>
          <a:blip r:embed="rId7"/>
          <a:srcRect/>
          <a:stretch>
            <a:fillRect/>
          </a:stretch>
        </p:blipFill>
        <p:spPr>
          <a:xfrm>
            <a:off x="8087293" y="553529"/>
            <a:ext cx="2407612" cy="2086018"/>
          </a:xfrm>
          <a:prstGeom prst="rect">
            <a:avLst/>
          </a:prstGeom>
        </p:spPr>
      </p:pic>
      <p:sp>
        <p:nvSpPr>
          <p:cNvPr id="6" name="TextBox 7">
            <a:extLst>
              <a:ext uri="{FF2B5EF4-FFF2-40B4-BE49-F238E27FC236}">
                <a16:creationId xmlns:a16="http://schemas.microsoft.com/office/drawing/2014/main" id="{A1EDABA3-DD01-79E7-422F-D3C89F0B0935}"/>
              </a:ext>
            </a:extLst>
          </p:cNvPr>
          <p:cNvSpPr txBox="1"/>
          <p:nvPr/>
        </p:nvSpPr>
        <p:spPr>
          <a:xfrm>
            <a:off x="13542905" y="2224809"/>
            <a:ext cx="6765124" cy="3088794"/>
          </a:xfrm>
          <a:prstGeom prst="rect">
            <a:avLst/>
          </a:prstGeom>
        </p:spPr>
        <p:txBody>
          <a:bodyPr wrap="square" lIns="0" tIns="0" rIns="0" bIns="0" rtlCol="0" anchor="t">
            <a:spAutoFit/>
          </a:bodyPr>
          <a:lstStyle/>
          <a:p>
            <a:pPr lvl="0" algn="just"/>
            <a:r>
              <a:rPr lang="es-CL" noProof="0" dirty="0"/>
              <a:t>● </a:t>
            </a:r>
            <a:r>
              <a:rPr lang="es-CL" noProof="0" dirty="0">
                <a:latin typeface="Montserrat Bold" panose="00000800000000000000" pitchFamily="2" charset="0"/>
              </a:rPr>
              <a:t>Plataforma B2B SaaS </a:t>
            </a:r>
            <a:r>
              <a:rPr lang="es-CL" noProof="0" dirty="0">
                <a:latin typeface="Montserrat" panose="00000500000000000000" pitchFamily="2" charset="0"/>
              </a:rPr>
              <a:t>que usa IA y Visión por Computadora para automatizar al 100% el análisis táctico y biomecánico en el fútbol.</a:t>
            </a:r>
          </a:p>
          <a:p>
            <a:pPr lvl="0" algn="just"/>
            <a:endParaRPr lang="es-CL" sz="1936" noProof="0" dirty="0">
              <a:latin typeface="Montserrat"/>
              <a:ea typeface="Montserrat"/>
              <a:cs typeface="Montserrat"/>
              <a:sym typeface="Montserrat"/>
            </a:endParaRPr>
          </a:p>
          <a:p>
            <a:pPr lvl="0" algn="just"/>
            <a:r>
              <a:rPr lang="es-CL" noProof="0" dirty="0"/>
              <a:t>●</a:t>
            </a:r>
            <a:r>
              <a:rPr lang="es-CL" noProof="0" dirty="0">
                <a:latin typeface="Montserrat Bold" panose="00000800000000000000" pitchFamily="2" charset="0"/>
              </a:rPr>
              <a:t> Agnóstica al hardware: </a:t>
            </a:r>
            <a:r>
              <a:rPr lang="es-CL" noProof="0" dirty="0">
                <a:latin typeface="Montserrat" panose="00000500000000000000" pitchFamily="2" charset="0"/>
              </a:rPr>
              <a:t>solo requiere video MP4 estándar, sin cámaras propietarias ni dispositivos GPS costosos.</a:t>
            </a:r>
          </a:p>
          <a:p>
            <a:pPr lvl="0" algn="just"/>
            <a:endParaRPr lang="es-CL" sz="1936" noProof="0" dirty="0">
              <a:latin typeface="Montserrat"/>
              <a:ea typeface="Montserrat"/>
              <a:cs typeface="Montserrat"/>
              <a:sym typeface="Montserrat"/>
            </a:endParaRPr>
          </a:p>
          <a:p>
            <a:pPr lvl="0" algn="just"/>
            <a:r>
              <a:rPr lang="es-CL" noProof="0" dirty="0"/>
              <a:t>● </a:t>
            </a:r>
            <a:r>
              <a:rPr lang="es-CL" noProof="0" dirty="0">
                <a:latin typeface="Montserrat Bold" panose="00000800000000000000" pitchFamily="2" charset="0"/>
              </a:rPr>
              <a:t>Democratiza la inteligencia deportiva </a:t>
            </a:r>
            <a:r>
              <a:rPr lang="es-CL" noProof="0" dirty="0">
                <a:latin typeface="Montserrat" panose="00000500000000000000" pitchFamily="2" charset="0"/>
              </a:rPr>
              <a:t>de élite</a:t>
            </a:r>
            <a:r>
              <a:rPr lang="es-CL" noProof="0" dirty="0">
                <a:latin typeface="Montserrat"/>
                <a:ea typeface="Montserrat"/>
                <a:cs typeface="Montserrat"/>
                <a:sym typeface="Montserrat"/>
              </a:rPr>
              <a:t>, poniendo herramientas al alcance de los más de 15,000 clubes que hoy operan sin datos objetivos</a:t>
            </a:r>
            <a:endParaRPr lang="es-CL" sz="1936" noProof="0" dirty="0">
              <a:latin typeface="Montserrat" panose="00000500000000000000" pitchFamily="2" charset="0"/>
              <a:ea typeface="Montserrat"/>
              <a:cs typeface="Montserrat"/>
              <a:sym typeface="Montserrat"/>
            </a:endParaRPr>
          </a:p>
        </p:txBody>
      </p:sp>
      <p:sp>
        <p:nvSpPr>
          <p:cNvPr id="8" name="CuadroTexto 7">
            <a:extLst>
              <a:ext uri="{FF2B5EF4-FFF2-40B4-BE49-F238E27FC236}">
                <a16:creationId xmlns:a16="http://schemas.microsoft.com/office/drawing/2014/main" id="{57FAE11C-E7BC-15F0-F5FA-54F555FDA786}"/>
              </a:ext>
            </a:extLst>
          </p:cNvPr>
          <p:cNvSpPr txBox="1"/>
          <p:nvPr/>
        </p:nvSpPr>
        <p:spPr>
          <a:xfrm>
            <a:off x="189626" y="5313603"/>
            <a:ext cx="2776722" cy="1477328"/>
          </a:xfrm>
          <a:prstGeom prst="rect">
            <a:avLst/>
          </a:prstGeom>
          <a:noFill/>
        </p:spPr>
        <p:txBody>
          <a:bodyPr wrap="none" rtlCol="0">
            <a:spAutoFit/>
          </a:bodyPr>
          <a:lstStyle/>
          <a:p>
            <a:r>
              <a:rPr lang="es-CL" noProof="0" dirty="0">
                <a:solidFill>
                  <a:schemeClr val="bg1">
                    <a:lumMod val="85000"/>
                  </a:schemeClr>
                </a:solidFill>
                <a:latin typeface="Montserrat Bold" panose="00000800000000000000" pitchFamily="2" charset="0"/>
              </a:rPr>
              <a:t>Presentado por:</a:t>
            </a:r>
          </a:p>
          <a:p>
            <a:pPr marL="285750" indent="-285750">
              <a:buFont typeface="Arial" panose="020B0604020202020204" pitchFamily="34" charset="0"/>
              <a:buChar char="•"/>
            </a:pPr>
            <a:r>
              <a:rPr lang="es-CL" noProof="0" dirty="0">
                <a:solidFill>
                  <a:schemeClr val="bg1">
                    <a:lumMod val="85000"/>
                  </a:schemeClr>
                </a:solidFill>
                <a:latin typeface="Montserrat" panose="00000500000000000000" pitchFamily="2" charset="0"/>
              </a:rPr>
              <a:t>Héctor Arriagada</a:t>
            </a:r>
          </a:p>
          <a:p>
            <a:pPr marL="285750" indent="-285750">
              <a:buFont typeface="Arial" panose="020B0604020202020204" pitchFamily="34" charset="0"/>
              <a:buChar char="•"/>
            </a:pPr>
            <a:r>
              <a:rPr lang="es-CL" noProof="0" dirty="0">
                <a:solidFill>
                  <a:schemeClr val="bg1">
                    <a:lumMod val="85000"/>
                  </a:schemeClr>
                </a:solidFill>
                <a:latin typeface="Montserrat" panose="00000500000000000000" pitchFamily="2" charset="0"/>
              </a:rPr>
              <a:t>Sebastián López </a:t>
            </a:r>
          </a:p>
          <a:p>
            <a:pPr marL="285750" indent="-285750">
              <a:buFont typeface="Arial" panose="020B0604020202020204" pitchFamily="34" charset="0"/>
              <a:buChar char="•"/>
            </a:pPr>
            <a:r>
              <a:rPr lang="es-CL" noProof="0" dirty="0">
                <a:solidFill>
                  <a:schemeClr val="bg1">
                    <a:lumMod val="85000"/>
                  </a:schemeClr>
                </a:solidFill>
                <a:latin typeface="Montserrat" panose="00000500000000000000" pitchFamily="2" charset="0"/>
              </a:rPr>
              <a:t>Renato Palma</a:t>
            </a:r>
          </a:p>
          <a:p>
            <a:pPr marL="285750" indent="-285750">
              <a:buFont typeface="Arial" panose="020B0604020202020204" pitchFamily="34" charset="0"/>
              <a:buChar char="•"/>
            </a:pPr>
            <a:r>
              <a:rPr lang="es-CL" noProof="0" dirty="0">
                <a:solidFill>
                  <a:schemeClr val="bg1">
                    <a:lumMod val="85000"/>
                  </a:schemeClr>
                </a:solidFill>
                <a:latin typeface="Montserrat" panose="00000500000000000000" pitchFamily="2" charset="0"/>
              </a:rPr>
              <a:t>Cristóbal Sepúlveda</a:t>
            </a:r>
          </a:p>
        </p:txBody>
      </p:sp>
    </p:spTree>
    <p:extLst>
      <p:ext uri="{BB962C8B-B14F-4D97-AF65-F5344CB8AC3E}">
        <p14:creationId xmlns:p14="http://schemas.microsoft.com/office/powerpoint/2010/main" val="3142590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90C75-32D1-BCCC-EDC3-07EC2685FC7D}"/>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3B98A3B3-F235-0543-2CC5-4FBBD0F85A90}"/>
              </a:ext>
            </a:extLst>
          </p:cNvPr>
          <p:cNvPicPr preferRelativeResize="0">
            <a:picLocks noChangeAspect="1"/>
          </p:cNvPicPr>
          <p:nvPr/>
        </p:nvPicPr>
        <p:blipFill>
          <a:blip r:embed="rId2"/>
          <a:srcRect/>
          <a:stretch>
            <a:fillRect/>
          </a:stretch>
        </p:blipFill>
        <p:spPr>
          <a:xfrm rot="13118852">
            <a:off x="-7955660" y="-3881294"/>
            <a:ext cx="7581852" cy="7260847"/>
          </a:xfrm>
          <a:prstGeom prst="rect">
            <a:avLst/>
          </a:prstGeom>
        </p:spPr>
      </p:pic>
      <p:sp>
        <p:nvSpPr>
          <p:cNvPr id="13" name="Rectángulo 12">
            <a:extLst>
              <a:ext uri="{FF2B5EF4-FFF2-40B4-BE49-F238E27FC236}">
                <a16:creationId xmlns:a16="http://schemas.microsoft.com/office/drawing/2014/main" id="{98382FAC-3ECC-33BC-9792-851EE86C89E0}"/>
              </a:ext>
            </a:extLst>
          </p:cNvPr>
          <p:cNvSpPr/>
          <p:nvPr/>
        </p:nvSpPr>
        <p:spPr>
          <a:xfrm>
            <a:off x="4666248" y="-193862"/>
            <a:ext cx="8112373" cy="6908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pic>
        <p:nvPicPr>
          <p:cNvPr id="12" name="Imagen 11">
            <a:extLst>
              <a:ext uri="{FF2B5EF4-FFF2-40B4-BE49-F238E27FC236}">
                <a16:creationId xmlns:a16="http://schemas.microsoft.com/office/drawing/2014/main" id="{374F9EE0-C743-48B1-9B4A-974347C65309}"/>
              </a:ext>
            </a:extLst>
          </p:cNvPr>
          <p:cNvPicPr>
            <a:picLocks noChangeAspect="1"/>
          </p:cNvPicPr>
          <p:nvPr/>
        </p:nvPicPr>
        <p:blipFill>
          <a:blip r:embed="rId3"/>
          <a:srcRect/>
          <a:stretch>
            <a:fillRect/>
          </a:stretch>
        </p:blipFill>
        <p:spPr>
          <a:xfrm rot="11064132" flipV="1">
            <a:off x="3632881" y="-1775514"/>
            <a:ext cx="10454542" cy="4146380"/>
          </a:xfrm>
          <a:prstGeom prst="rect">
            <a:avLst/>
          </a:prstGeom>
        </p:spPr>
      </p:pic>
      <p:sp>
        <p:nvSpPr>
          <p:cNvPr id="10" name="CuadroTexto 9">
            <a:extLst>
              <a:ext uri="{FF2B5EF4-FFF2-40B4-BE49-F238E27FC236}">
                <a16:creationId xmlns:a16="http://schemas.microsoft.com/office/drawing/2014/main" id="{FFC1DA7F-B2D5-27C8-976F-F9C27F3C6BA7}"/>
              </a:ext>
            </a:extLst>
          </p:cNvPr>
          <p:cNvSpPr txBox="1"/>
          <p:nvPr/>
        </p:nvSpPr>
        <p:spPr>
          <a:xfrm>
            <a:off x="6218311" y="143062"/>
            <a:ext cx="7079098" cy="1121397"/>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accent6">
                    <a:lumMod val="60000"/>
                    <a:lumOff val="40000"/>
                  </a:schemeClr>
                </a:solidFill>
                <a:latin typeface="Montserrat Bold"/>
                <a:ea typeface="Montserrat Bold"/>
                <a:cs typeface="Montserrat Bold"/>
                <a:sym typeface="Montserrat Bold"/>
              </a:rPr>
              <a:t>Introducción</a:t>
            </a:r>
            <a:r>
              <a:rPr lang="es-CL" sz="6600" b="1" spc="-557" noProof="0" dirty="0">
                <a:solidFill>
                  <a:srgbClr val="FFFFFF"/>
                </a:solidFill>
                <a:latin typeface="Montserrat Bold"/>
                <a:ea typeface="Montserrat Bold"/>
                <a:cs typeface="Montserrat Bold"/>
                <a:sym typeface="Montserrat Bold"/>
              </a:rPr>
              <a:t> </a:t>
            </a:r>
          </a:p>
        </p:txBody>
      </p:sp>
      <p:sp>
        <p:nvSpPr>
          <p:cNvPr id="15" name="TextBox 7">
            <a:extLst>
              <a:ext uri="{FF2B5EF4-FFF2-40B4-BE49-F238E27FC236}">
                <a16:creationId xmlns:a16="http://schemas.microsoft.com/office/drawing/2014/main" id="{47DC8ACF-2254-ABC5-B343-B70AE0D2C423}"/>
              </a:ext>
            </a:extLst>
          </p:cNvPr>
          <p:cNvSpPr txBox="1"/>
          <p:nvPr/>
        </p:nvSpPr>
        <p:spPr>
          <a:xfrm>
            <a:off x="4964771" y="2516129"/>
            <a:ext cx="6765124" cy="3088794"/>
          </a:xfrm>
          <a:prstGeom prst="rect">
            <a:avLst/>
          </a:prstGeom>
        </p:spPr>
        <p:txBody>
          <a:bodyPr wrap="square" lIns="0" tIns="0" rIns="0" bIns="0" rtlCol="0" anchor="t">
            <a:spAutoFit/>
          </a:bodyPr>
          <a:lstStyle/>
          <a:p>
            <a:pPr lvl="0" algn="just"/>
            <a:r>
              <a:rPr lang="es-CL" noProof="0" dirty="0"/>
              <a:t>● </a:t>
            </a:r>
            <a:r>
              <a:rPr lang="es-CL" noProof="0" dirty="0">
                <a:latin typeface="Montserrat Bold" panose="00000800000000000000" pitchFamily="2" charset="0"/>
              </a:rPr>
              <a:t>Plataforma B2B SaaS </a:t>
            </a:r>
            <a:r>
              <a:rPr lang="es-CL" noProof="0" dirty="0">
                <a:latin typeface="Montserrat" panose="00000500000000000000" pitchFamily="2" charset="0"/>
              </a:rPr>
              <a:t>que usa IA y Visión por Computadora para automatizar al 100% el análisis táctico y biomecánico en el fútbol.</a:t>
            </a:r>
          </a:p>
          <a:p>
            <a:pPr lvl="0" algn="just"/>
            <a:endParaRPr lang="es-CL" sz="1936" noProof="0" dirty="0">
              <a:latin typeface="Montserrat"/>
              <a:ea typeface="Montserrat"/>
              <a:cs typeface="Montserrat"/>
              <a:sym typeface="Montserrat"/>
            </a:endParaRPr>
          </a:p>
          <a:p>
            <a:pPr lvl="0" algn="just"/>
            <a:r>
              <a:rPr lang="es-CL" noProof="0" dirty="0"/>
              <a:t>●</a:t>
            </a:r>
            <a:r>
              <a:rPr lang="es-CL" noProof="0" dirty="0">
                <a:latin typeface="Montserrat Bold" panose="00000800000000000000" pitchFamily="2" charset="0"/>
              </a:rPr>
              <a:t> Agnóstica al hardware: </a:t>
            </a:r>
            <a:r>
              <a:rPr lang="es-CL" noProof="0" dirty="0">
                <a:latin typeface="Montserrat" panose="00000500000000000000" pitchFamily="2" charset="0"/>
              </a:rPr>
              <a:t>solo requiere video MP4 estándar, sin cámaras propietarias ni dispositivos GPS costosos.</a:t>
            </a:r>
          </a:p>
          <a:p>
            <a:pPr lvl="0" algn="just"/>
            <a:endParaRPr lang="es-CL" sz="1936" noProof="0" dirty="0">
              <a:latin typeface="Montserrat"/>
              <a:ea typeface="Montserrat"/>
              <a:cs typeface="Montserrat"/>
              <a:sym typeface="Montserrat"/>
            </a:endParaRPr>
          </a:p>
          <a:p>
            <a:pPr lvl="0" algn="just"/>
            <a:r>
              <a:rPr lang="es-CL" noProof="0" dirty="0"/>
              <a:t>● </a:t>
            </a:r>
            <a:r>
              <a:rPr lang="es-CL" noProof="0" dirty="0">
                <a:latin typeface="Montserrat Bold" panose="00000800000000000000" pitchFamily="2" charset="0"/>
              </a:rPr>
              <a:t>Democratiza la inteligencia deportiva </a:t>
            </a:r>
            <a:r>
              <a:rPr lang="es-CL" noProof="0" dirty="0">
                <a:latin typeface="Montserrat" panose="00000500000000000000" pitchFamily="2" charset="0"/>
              </a:rPr>
              <a:t>de élite</a:t>
            </a:r>
            <a:r>
              <a:rPr lang="es-CL" noProof="0" dirty="0">
                <a:latin typeface="Montserrat"/>
                <a:ea typeface="Montserrat"/>
                <a:cs typeface="Montserrat"/>
                <a:sym typeface="Montserrat"/>
              </a:rPr>
              <a:t>, poniendo herramientas al alcance de los más de 15,000 clubes que hoy operan sin datos objetivos</a:t>
            </a:r>
            <a:endParaRPr lang="es-CL" sz="1936" noProof="0" dirty="0">
              <a:latin typeface="Montserrat" panose="00000500000000000000" pitchFamily="2" charset="0"/>
              <a:ea typeface="Montserrat"/>
              <a:cs typeface="Montserrat"/>
              <a:sym typeface="Montserrat"/>
            </a:endParaRPr>
          </a:p>
        </p:txBody>
      </p:sp>
      <p:sp>
        <p:nvSpPr>
          <p:cNvPr id="4" name="Rectángulo 3">
            <a:extLst>
              <a:ext uri="{FF2B5EF4-FFF2-40B4-BE49-F238E27FC236}">
                <a16:creationId xmlns:a16="http://schemas.microsoft.com/office/drawing/2014/main" id="{FE5407CB-95B9-0B09-D5A4-4AE9F3E572EE}"/>
              </a:ext>
            </a:extLst>
          </p:cNvPr>
          <p:cNvSpPr/>
          <p:nvPr/>
        </p:nvSpPr>
        <p:spPr>
          <a:xfrm>
            <a:off x="-34926" y="-25400"/>
            <a:ext cx="4766583" cy="69088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mc:AlternateContent xmlns:mc="http://schemas.openxmlformats.org/markup-compatibility/2006">
        <mc:Choice xmlns:am3d="http://schemas.microsoft.com/office/drawing/2017/model3d" Requires="am3d">
          <p:graphicFrame>
            <p:nvGraphicFramePr>
              <p:cNvPr id="2" name="Modelo 3D 1">
                <a:extLst>
                  <a:ext uri="{FF2B5EF4-FFF2-40B4-BE49-F238E27FC236}">
                    <a16:creationId xmlns:a16="http://schemas.microsoft.com/office/drawing/2014/main" id="{C96B4FD6-7BEA-317E-63BF-E236E245D10E}"/>
                  </a:ext>
                </a:extLst>
              </p:cNvPr>
              <p:cNvGraphicFramePr>
                <a:graphicFrameLocks noChangeAspect="1"/>
              </p:cNvGraphicFramePr>
              <p:nvPr>
                <p:extLst>
                  <p:ext uri="{D42A27DB-BD31-4B8C-83A1-F6EECF244321}">
                    <p14:modId xmlns:p14="http://schemas.microsoft.com/office/powerpoint/2010/main" val="3654866677"/>
                  </p:ext>
                </p:extLst>
              </p:nvPr>
            </p:nvGraphicFramePr>
            <p:xfrm>
              <a:off x="1153704" y="2307334"/>
              <a:ext cx="2245050" cy="2283102"/>
            </p:xfrm>
            <a:graphic>
              <a:graphicData uri="http://schemas.microsoft.com/office/drawing/2017/model3d">
                <am3d:model3d r:embed="rId4">
                  <am3d:spPr>
                    <a:xfrm>
                      <a:off x="0" y="0"/>
                      <a:ext cx="2245050" cy="2283102"/>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9198745" ay="2879711" az="-9571060"/>
                    <am3d:postTrans dx="0" dy="0" dz="0"/>
                  </am3d:trans>
                  <am3d:raster rName="Office3DRenderer" rVer="16.0.8326">
                    <am3d:blip r:embed="rId5"/>
                  </am3d:raster>
                  <am3d:objViewport viewportSz="601216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o 3D 1">
                <a:extLst>
                  <a:ext uri="{FF2B5EF4-FFF2-40B4-BE49-F238E27FC236}">
                    <a16:creationId xmlns:a16="http://schemas.microsoft.com/office/drawing/2014/main" id="{C96B4FD6-7BEA-317E-63BF-E236E245D10E}"/>
                  </a:ext>
                </a:extLst>
              </p:cNvPr>
              <p:cNvPicPr>
                <a:picLocks noGrp="1" noRot="1" noChangeAspect="1" noMove="1" noResize="1" noEditPoints="1" noAdjustHandles="1" noChangeArrowheads="1" noChangeShapeType="1" noCrop="1"/>
              </p:cNvPicPr>
              <p:nvPr/>
            </p:nvPicPr>
            <p:blipFill>
              <a:blip r:embed="rId5"/>
              <a:stretch>
                <a:fillRect/>
              </a:stretch>
            </p:blipFill>
            <p:spPr>
              <a:xfrm>
                <a:off x="1153704" y="2307334"/>
                <a:ext cx="2245050" cy="2283102"/>
              </a:xfrm>
              <a:prstGeom prst="rect">
                <a:avLst/>
              </a:prstGeom>
            </p:spPr>
          </p:pic>
        </mc:Fallback>
      </mc:AlternateContent>
      <p:sp>
        <p:nvSpPr>
          <p:cNvPr id="7" name="CuadroTexto 6">
            <a:extLst>
              <a:ext uri="{FF2B5EF4-FFF2-40B4-BE49-F238E27FC236}">
                <a16:creationId xmlns:a16="http://schemas.microsoft.com/office/drawing/2014/main" id="{91CBA33B-8F82-5B8E-7798-DC88A7FF78CD}"/>
              </a:ext>
            </a:extLst>
          </p:cNvPr>
          <p:cNvSpPr txBox="1"/>
          <p:nvPr/>
        </p:nvSpPr>
        <p:spPr>
          <a:xfrm>
            <a:off x="1062155" y="212761"/>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rgbClr val="FFFFFF"/>
                </a:solidFill>
                <a:latin typeface="Montserrat Bold"/>
                <a:ea typeface="Montserrat Bold"/>
                <a:cs typeface="Montserrat Bold"/>
                <a:sym typeface="Montserrat Bold"/>
              </a:rPr>
              <a:t>Fut.Ai</a:t>
            </a:r>
          </a:p>
        </p:txBody>
      </p:sp>
      <p:pic>
        <p:nvPicPr>
          <p:cNvPr id="6" name="Imagen 5">
            <a:extLst>
              <a:ext uri="{FF2B5EF4-FFF2-40B4-BE49-F238E27FC236}">
                <a16:creationId xmlns:a16="http://schemas.microsoft.com/office/drawing/2014/main" id="{D379DEBB-7843-D95A-B9A2-1E3947962264}"/>
              </a:ext>
            </a:extLst>
          </p:cNvPr>
          <p:cNvPicPr>
            <a:picLocks noChangeAspect="1"/>
          </p:cNvPicPr>
          <p:nvPr/>
        </p:nvPicPr>
        <p:blipFill>
          <a:blip r:embed="rId6"/>
          <a:srcRect/>
          <a:stretch>
            <a:fillRect/>
          </a:stretch>
        </p:blipFill>
        <p:spPr>
          <a:xfrm>
            <a:off x="2795768" y="440119"/>
            <a:ext cx="996664" cy="863537"/>
          </a:xfrm>
          <a:prstGeom prst="rect">
            <a:avLst/>
          </a:prstGeom>
        </p:spPr>
      </p:pic>
      <p:sp>
        <p:nvSpPr>
          <p:cNvPr id="73" name="AutoShape 6">
            <a:extLst>
              <a:ext uri="{FF2B5EF4-FFF2-40B4-BE49-F238E27FC236}">
                <a16:creationId xmlns:a16="http://schemas.microsoft.com/office/drawing/2014/main" id="{7217BEC0-2B87-65BC-2F4E-17486B9AEC9F}"/>
              </a:ext>
            </a:extLst>
          </p:cNvPr>
          <p:cNvSpPr/>
          <p:nvPr/>
        </p:nvSpPr>
        <p:spPr>
          <a:xfrm>
            <a:off x="-7963917" y="2065315"/>
            <a:ext cx="1108" cy="3762619"/>
          </a:xfrm>
          <a:prstGeom prst="line">
            <a:avLst/>
          </a:prstGeom>
          <a:ln w="19050" cap="rnd">
            <a:solidFill>
              <a:schemeClr val="tx1"/>
            </a:solidFill>
            <a:prstDash val="solid"/>
            <a:headEnd type="none" w="sm" len="sm"/>
            <a:tailEnd type="none" w="sm" len="sm"/>
          </a:ln>
        </p:spPr>
        <p:txBody>
          <a:bodyPr/>
          <a:lstStyle/>
          <a:p>
            <a:endParaRPr lang="es-CL" noProof="0" dirty="0"/>
          </a:p>
        </p:txBody>
      </p:sp>
      <p:grpSp>
        <p:nvGrpSpPr>
          <p:cNvPr id="74" name="Group 7">
            <a:extLst>
              <a:ext uri="{FF2B5EF4-FFF2-40B4-BE49-F238E27FC236}">
                <a16:creationId xmlns:a16="http://schemas.microsoft.com/office/drawing/2014/main" id="{485A61CD-2924-5FF2-16CC-0202708905BD}"/>
              </a:ext>
            </a:extLst>
          </p:cNvPr>
          <p:cNvGrpSpPr/>
          <p:nvPr/>
        </p:nvGrpSpPr>
        <p:grpSpPr>
          <a:xfrm>
            <a:off x="-8398691" y="1303656"/>
            <a:ext cx="851357" cy="873116"/>
            <a:chOff x="-8684" y="-76200"/>
            <a:chExt cx="812800" cy="833574"/>
          </a:xfrm>
        </p:grpSpPr>
        <p:sp>
          <p:nvSpPr>
            <p:cNvPr id="75" name="Freeform 8">
              <a:extLst>
                <a:ext uri="{FF2B5EF4-FFF2-40B4-BE49-F238E27FC236}">
                  <a16:creationId xmlns:a16="http://schemas.microsoft.com/office/drawing/2014/main" id="{A9714C2F-E9B2-DAA8-C273-EADAADEEB6B6}"/>
                </a:ext>
              </a:extLst>
            </p:cNvPr>
            <p:cNvSpPr/>
            <p:nvPr/>
          </p:nvSpPr>
          <p:spPr>
            <a:xfrm>
              <a:off x="-8684" y="-5542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p:spPr>
          <p:txBody>
            <a:bodyPr/>
            <a:lstStyle/>
            <a:p>
              <a:endParaRPr lang="es-CL" noProof="0" dirty="0"/>
            </a:p>
          </p:txBody>
        </p:sp>
        <p:sp>
          <p:nvSpPr>
            <p:cNvPr id="76" name="TextBox 9">
              <a:extLst>
                <a:ext uri="{FF2B5EF4-FFF2-40B4-BE49-F238E27FC236}">
                  <a16:creationId xmlns:a16="http://schemas.microsoft.com/office/drawing/2014/main" id="{55C2C09E-BB9F-C677-B800-B01E780453EB}"/>
                </a:ext>
              </a:extLst>
            </p:cNvPr>
            <p:cNvSpPr txBox="1"/>
            <p:nvPr/>
          </p:nvSpPr>
          <p:spPr>
            <a:xfrm>
              <a:off x="76200" y="-76200"/>
              <a:ext cx="660400" cy="812800"/>
            </a:xfrm>
            <a:prstGeom prst="rect">
              <a:avLst/>
            </a:prstGeom>
          </p:spPr>
          <p:txBody>
            <a:bodyPr lIns="50800" tIns="50800" rIns="50800" bIns="50800" rtlCol="0" anchor="ctr"/>
            <a:lstStyle/>
            <a:p>
              <a:pPr marL="0" lvl="0" indent="0" algn="ctr">
                <a:lnSpc>
                  <a:spcPts val="4253"/>
                </a:lnSpc>
              </a:pPr>
              <a:r>
                <a:rPr lang="es-CL" sz="3038" b="1" noProof="0" dirty="0">
                  <a:solidFill>
                    <a:srgbClr val="FFFFFF"/>
                  </a:solidFill>
                  <a:latin typeface="Agrandir Wide Bold"/>
                  <a:ea typeface="Agrandir Wide Bold"/>
                  <a:cs typeface="Agrandir Wide Bold"/>
                  <a:sym typeface="Agrandir Wide Bold"/>
                </a:rPr>
                <a:t>1</a:t>
              </a:r>
            </a:p>
          </p:txBody>
        </p:sp>
      </p:grpSp>
      <p:grpSp>
        <p:nvGrpSpPr>
          <p:cNvPr id="77" name="Group 10">
            <a:extLst>
              <a:ext uri="{FF2B5EF4-FFF2-40B4-BE49-F238E27FC236}">
                <a16:creationId xmlns:a16="http://schemas.microsoft.com/office/drawing/2014/main" id="{12F78E29-C1D5-3DCA-A798-198B88DB6EC4}"/>
              </a:ext>
            </a:extLst>
          </p:cNvPr>
          <p:cNvGrpSpPr/>
          <p:nvPr/>
        </p:nvGrpSpPr>
        <p:grpSpPr>
          <a:xfrm>
            <a:off x="-8398692" y="3176771"/>
            <a:ext cx="851357" cy="851357"/>
            <a:chOff x="0" y="0"/>
            <a:chExt cx="812800" cy="812800"/>
          </a:xfrm>
        </p:grpSpPr>
        <p:sp>
          <p:nvSpPr>
            <p:cNvPr id="78" name="Freeform 11">
              <a:extLst>
                <a:ext uri="{FF2B5EF4-FFF2-40B4-BE49-F238E27FC236}">
                  <a16:creationId xmlns:a16="http://schemas.microsoft.com/office/drawing/2014/main" id="{D705E3DA-F343-9C6C-AA47-2025D5901D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a:ln cap="sq">
              <a:noFill/>
              <a:prstDash val="solid"/>
              <a:miter/>
            </a:ln>
          </p:spPr>
          <p:txBody>
            <a:bodyPr/>
            <a:lstStyle/>
            <a:p>
              <a:endParaRPr lang="es-CL" noProof="0" dirty="0"/>
            </a:p>
          </p:txBody>
        </p:sp>
        <p:sp>
          <p:nvSpPr>
            <p:cNvPr id="79" name="TextBox 12">
              <a:extLst>
                <a:ext uri="{FF2B5EF4-FFF2-40B4-BE49-F238E27FC236}">
                  <a16:creationId xmlns:a16="http://schemas.microsoft.com/office/drawing/2014/main" id="{9D105760-E7AB-7B1C-098E-A188F3C0D8CD}"/>
                </a:ext>
              </a:extLst>
            </p:cNvPr>
            <p:cNvSpPr txBox="1"/>
            <p:nvPr/>
          </p:nvSpPr>
          <p:spPr>
            <a:xfrm>
              <a:off x="76200" y="-76200"/>
              <a:ext cx="660400" cy="812800"/>
            </a:xfrm>
            <a:prstGeom prst="rect">
              <a:avLst/>
            </a:prstGeom>
          </p:spPr>
          <p:txBody>
            <a:bodyPr lIns="50800" tIns="50800" rIns="50800" bIns="50800" rtlCol="0" anchor="ctr"/>
            <a:lstStyle/>
            <a:p>
              <a:pPr marL="0" lvl="0" indent="0" algn="ctr">
                <a:lnSpc>
                  <a:spcPts val="4253"/>
                </a:lnSpc>
                <a:spcBef>
                  <a:spcPct val="0"/>
                </a:spcBef>
              </a:pPr>
              <a:r>
                <a:rPr lang="es-CL" sz="3038" b="1" noProof="0" dirty="0">
                  <a:solidFill>
                    <a:srgbClr val="FFFFFF"/>
                  </a:solidFill>
                  <a:latin typeface="Agrandir Wide Bold"/>
                  <a:ea typeface="Agrandir Wide Bold"/>
                  <a:cs typeface="Agrandir Wide Bold"/>
                  <a:sym typeface="Agrandir Wide Bold"/>
                </a:rPr>
                <a:t>2</a:t>
              </a:r>
            </a:p>
          </p:txBody>
        </p:sp>
      </p:grpSp>
      <p:grpSp>
        <p:nvGrpSpPr>
          <p:cNvPr id="80" name="Group 13">
            <a:extLst>
              <a:ext uri="{FF2B5EF4-FFF2-40B4-BE49-F238E27FC236}">
                <a16:creationId xmlns:a16="http://schemas.microsoft.com/office/drawing/2014/main" id="{54950FCD-4E38-15AB-2AF1-7D49B92E66C6}"/>
              </a:ext>
            </a:extLst>
          </p:cNvPr>
          <p:cNvGrpSpPr/>
          <p:nvPr/>
        </p:nvGrpSpPr>
        <p:grpSpPr>
          <a:xfrm>
            <a:off x="-8389596" y="4983184"/>
            <a:ext cx="851357" cy="851357"/>
            <a:chOff x="118247" y="-1676692"/>
            <a:chExt cx="812800" cy="812800"/>
          </a:xfrm>
        </p:grpSpPr>
        <p:sp>
          <p:nvSpPr>
            <p:cNvPr id="81" name="Freeform 14">
              <a:extLst>
                <a:ext uri="{FF2B5EF4-FFF2-40B4-BE49-F238E27FC236}">
                  <a16:creationId xmlns:a16="http://schemas.microsoft.com/office/drawing/2014/main" id="{314DC147-361D-8B87-0EAA-53E8BAB5FCAB}"/>
                </a:ext>
              </a:extLst>
            </p:cNvPr>
            <p:cNvSpPr/>
            <p:nvPr/>
          </p:nvSpPr>
          <p:spPr>
            <a:xfrm>
              <a:off x="118247" y="-1676692"/>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a:ln cap="sq">
              <a:noFill/>
              <a:prstDash val="solid"/>
              <a:miter/>
            </a:ln>
          </p:spPr>
          <p:txBody>
            <a:bodyPr/>
            <a:lstStyle/>
            <a:p>
              <a:endParaRPr lang="es-CL" noProof="0" dirty="0"/>
            </a:p>
          </p:txBody>
        </p:sp>
        <p:sp>
          <p:nvSpPr>
            <p:cNvPr id="82" name="TextBox 15">
              <a:extLst>
                <a:ext uri="{FF2B5EF4-FFF2-40B4-BE49-F238E27FC236}">
                  <a16:creationId xmlns:a16="http://schemas.microsoft.com/office/drawing/2014/main" id="{774E7AE3-B719-BBA1-F52B-113BEC9ABB02}"/>
                </a:ext>
              </a:extLst>
            </p:cNvPr>
            <p:cNvSpPr txBox="1"/>
            <p:nvPr/>
          </p:nvSpPr>
          <p:spPr>
            <a:xfrm>
              <a:off x="211233" y="-1676692"/>
              <a:ext cx="660400" cy="812800"/>
            </a:xfrm>
            <a:prstGeom prst="rect">
              <a:avLst/>
            </a:prstGeom>
          </p:spPr>
          <p:txBody>
            <a:bodyPr lIns="50800" tIns="50800" rIns="50800" bIns="50800" rtlCol="0" anchor="ctr"/>
            <a:lstStyle/>
            <a:p>
              <a:pPr marL="0" lvl="0" indent="0" algn="ctr">
                <a:lnSpc>
                  <a:spcPts val="4253"/>
                </a:lnSpc>
                <a:spcBef>
                  <a:spcPct val="0"/>
                </a:spcBef>
              </a:pPr>
              <a:r>
                <a:rPr lang="es-CL" sz="3038" b="1" u="none" strike="noStrike" noProof="0" dirty="0">
                  <a:solidFill>
                    <a:srgbClr val="FFFFFF"/>
                  </a:solidFill>
                  <a:latin typeface="Agrandir Wide Bold"/>
                  <a:ea typeface="Agrandir Wide Bold"/>
                  <a:cs typeface="Agrandir Wide Bold"/>
                  <a:sym typeface="Agrandir Wide Bold"/>
                </a:rPr>
                <a:t>3</a:t>
              </a:r>
            </a:p>
          </p:txBody>
        </p:sp>
      </p:grpSp>
      <p:grpSp>
        <p:nvGrpSpPr>
          <p:cNvPr id="83" name="Group 16">
            <a:extLst>
              <a:ext uri="{FF2B5EF4-FFF2-40B4-BE49-F238E27FC236}">
                <a16:creationId xmlns:a16="http://schemas.microsoft.com/office/drawing/2014/main" id="{D2535491-D172-F82D-B7E6-DC28247C785E}"/>
              </a:ext>
            </a:extLst>
          </p:cNvPr>
          <p:cNvGrpSpPr/>
          <p:nvPr/>
        </p:nvGrpSpPr>
        <p:grpSpPr>
          <a:xfrm>
            <a:off x="-7387891" y="1378056"/>
            <a:ext cx="7804675" cy="1073165"/>
            <a:chOff x="0" y="0"/>
            <a:chExt cx="10406234" cy="1430886"/>
          </a:xfrm>
        </p:grpSpPr>
        <p:sp>
          <p:nvSpPr>
            <p:cNvPr id="84" name="TextBox 17">
              <a:extLst>
                <a:ext uri="{FF2B5EF4-FFF2-40B4-BE49-F238E27FC236}">
                  <a16:creationId xmlns:a16="http://schemas.microsoft.com/office/drawing/2014/main" id="{279ACB16-70AB-FFCE-7210-07CE7CE7D059}"/>
                </a:ext>
              </a:extLst>
            </p:cNvPr>
            <p:cNvSpPr txBox="1"/>
            <p:nvPr/>
          </p:nvSpPr>
          <p:spPr>
            <a:xfrm>
              <a:off x="0" y="0"/>
              <a:ext cx="10406234" cy="533308"/>
            </a:xfrm>
            <a:prstGeom prst="rect">
              <a:avLst/>
            </a:prstGeom>
          </p:spPr>
          <p:txBody>
            <a:bodyPr wrap="square" lIns="0" tIns="0" rIns="0" bIns="0" rtlCol="0" anchor="t">
              <a:spAutoFit/>
            </a:bodyPr>
            <a:lstStyle/>
            <a:p>
              <a:pPr marL="0" lvl="0" indent="0" algn="l">
                <a:lnSpc>
                  <a:spcPts val="3468"/>
                </a:lnSpc>
                <a:spcBef>
                  <a:spcPct val="0"/>
                </a:spcBef>
              </a:pPr>
              <a:r>
                <a:rPr lang="es-CL" b="1" noProof="0" dirty="0">
                  <a:solidFill>
                    <a:srgbClr val="171717"/>
                  </a:solidFill>
                  <a:latin typeface="Montserrat Bold"/>
                  <a:ea typeface="Montserrat Bold"/>
                  <a:cs typeface="Montserrat Bold"/>
                  <a:sym typeface="Montserrat Bold"/>
                </a:rPr>
                <a:t>CRECIMIENTO DEL MERCADO GLOBAL</a:t>
              </a:r>
            </a:p>
          </p:txBody>
        </p:sp>
        <p:sp>
          <p:nvSpPr>
            <p:cNvPr id="85" name="TextBox 18">
              <a:extLst>
                <a:ext uri="{FF2B5EF4-FFF2-40B4-BE49-F238E27FC236}">
                  <a16:creationId xmlns:a16="http://schemas.microsoft.com/office/drawing/2014/main" id="{F0BBD61E-5CD9-C5B7-A966-898737BB0B9B}"/>
                </a:ext>
              </a:extLst>
            </p:cNvPr>
            <p:cNvSpPr txBox="1"/>
            <p:nvPr/>
          </p:nvSpPr>
          <p:spPr>
            <a:xfrm>
              <a:off x="0" y="653579"/>
              <a:ext cx="9541205" cy="777307"/>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Sports </a:t>
              </a:r>
              <a:r>
                <a:rPr lang="es-CL" sz="1200" noProof="0" dirty="0" err="1">
                  <a:solidFill>
                    <a:schemeClr val="tx1">
                      <a:lumMod val="85000"/>
                      <a:lumOff val="15000"/>
                    </a:schemeClr>
                  </a:solidFill>
                  <a:latin typeface="Montserrat"/>
                  <a:ea typeface="Montserrat"/>
                  <a:cs typeface="Montserrat"/>
                  <a:sym typeface="Montserrat"/>
                </a:rPr>
                <a:t>analytics</a:t>
              </a:r>
              <a:r>
                <a:rPr lang="es-CL" sz="1200" noProof="0" dirty="0">
                  <a:solidFill>
                    <a:schemeClr val="tx1">
                      <a:lumMod val="85000"/>
                      <a:lumOff val="15000"/>
                    </a:schemeClr>
                  </a:solidFill>
                  <a:latin typeface="Montserrat"/>
                  <a:ea typeface="Montserrat"/>
                  <a:cs typeface="Montserrat"/>
                  <a:sym typeface="Montserrat"/>
                </a:rPr>
                <a:t> global: USD 4.6B en 2024, proyectado a USD 15B para 2030. Un mercado en expansión acelerada con alto potencial sin explotar.</a:t>
              </a:r>
            </a:p>
          </p:txBody>
        </p:sp>
      </p:grpSp>
      <p:grpSp>
        <p:nvGrpSpPr>
          <p:cNvPr id="86" name="Group 19">
            <a:extLst>
              <a:ext uri="{FF2B5EF4-FFF2-40B4-BE49-F238E27FC236}">
                <a16:creationId xmlns:a16="http://schemas.microsoft.com/office/drawing/2014/main" id="{96208656-2A87-68E5-7D36-ED5C8E07F350}"/>
              </a:ext>
            </a:extLst>
          </p:cNvPr>
          <p:cNvGrpSpPr/>
          <p:nvPr/>
        </p:nvGrpSpPr>
        <p:grpSpPr>
          <a:xfrm>
            <a:off x="-7423943" y="3159798"/>
            <a:ext cx="7840727" cy="1043033"/>
            <a:chOff x="-48069" y="-756850"/>
            <a:chExt cx="10454302" cy="1390710"/>
          </a:xfrm>
        </p:grpSpPr>
        <p:sp>
          <p:nvSpPr>
            <p:cNvPr id="87" name="TextBox 20">
              <a:extLst>
                <a:ext uri="{FF2B5EF4-FFF2-40B4-BE49-F238E27FC236}">
                  <a16:creationId xmlns:a16="http://schemas.microsoft.com/office/drawing/2014/main" id="{C6286142-CC2B-78AA-5DA6-030BB6436855}"/>
                </a:ext>
              </a:extLst>
            </p:cNvPr>
            <p:cNvSpPr txBox="1"/>
            <p:nvPr/>
          </p:nvSpPr>
          <p:spPr>
            <a:xfrm>
              <a:off x="0" y="-756850"/>
              <a:ext cx="10406233" cy="524930"/>
            </a:xfrm>
            <a:prstGeom prst="rect">
              <a:avLst/>
            </a:prstGeom>
          </p:spPr>
          <p:txBody>
            <a:bodyPr wrap="square" lIns="0" tIns="0" rIns="0" bIns="0" rtlCol="0" anchor="t">
              <a:spAutoFit/>
            </a:bodyPr>
            <a:lstStyle/>
            <a:p>
              <a:pPr marL="0" lvl="0" indent="0" algn="l">
                <a:lnSpc>
                  <a:spcPts val="3468"/>
                </a:lnSpc>
                <a:spcBef>
                  <a:spcPct val="0"/>
                </a:spcBef>
              </a:pPr>
              <a:r>
                <a:rPr lang="es-CL" b="1" noProof="0" dirty="0">
                  <a:latin typeface="Montserrat Bold"/>
                  <a:ea typeface="Montserrat Bold"/>
                  <a:cs typeface="Montserrat Bold"/>
                  <a:sym typeface="Montserrat Bold"/>
                </a:rPr>
                <a:t>BRECHA CRÍTICA: SOLO EL 2% TIENE ACCESO</a:t>
              </a:r>
            </a:p>
          </p:txBody>
        </p:sp>
        <p:sp>
          <p:nvSpPr>
            <p:cNvPr id="88" name="TextBox 21">
              <a:extLst>
                <a:ext uri="{FF2B5EF4-FFF2-40B4-BE49-F238E27FC236}">
                  <a16:creationId xmlns:a16="http://schemas.microsoft.com/office/drawing/2014/main" id="{F70B67B7-E577-2A9A-154F-31E235176DAF}"/>
                </a:ext>
              </a:extLst>
            </p:cNvPr>
            <p:cNvSpPr txBox="1"/>
            <p:nvPr/>
          </p:nvSpPr>
          <p:spPr>
            <a:xfrm>
              <a:off x="-48069" y="-143448"/>
              <a:ext cx="9541204" cy="777308"/>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Solo el 2% de los clubes profesionales de élite usan tracking avanzado. El 98% restante — segunda división y academias — opera completamente "a ciegas".</a:t>
              </a:r>
            </a:p>
          </p:txBody>
        </p:sp>
      </p:grpSp>
      <p:grpSp>
        <p:nvGrpSpPr>
          <p:cNvPr id="89" name="Group 22">
            <a:extLst>
              <a:ext uri="{FF2B5EF4-FFF2-40B4-BE49-F238E27FC236}">
                <a16:creationId xmlns:a16="http://schemas.microsoft.com/office/drawing/2014/main" id="{BE183F25-2070-1B1B-10C4-44E35367C919}"/>
              </a:ext>
            </a:extLst>
          </p:cNvPr>
          <p:cNvGrpSpPr/>
          <p:nvPr/>
        </p:nvGrpSpPr>
        <p:grpSpPr>
          <a:xfrm>
            <a:off x="-7503072" y="4954692"/>
            <a:ext cx="7804675" cy="1000459"/>
            <a:chOff x="-153575" y="-2562879"/>
            <a:chExt cx="10406234" cy="1333946"/>
          </a:xfrm>
        </p:grpSpPr>
        <p:sp>
          <p:nvSpPr>
            <p:cNvPr id="90" name="TextBox 23">
              <a:extLst>
                <a:ext uri="{FF2B5EF4-FFF2-40B4-BE49-F238E27FC236}">
                  <a16:creationId xmlns:a16="http://schemas.microsoft.com/office/drawing/2014/main" id="{9A87A072-B932-2DD7-E3C8-27A136A72E55}"/>
                </a:ext>
              </a:extLst>
            </p:cNvPr>
            <p:cNvSpPr txBox="1"/>
            <p:nvPr/>
          </p:nvSpPr>
          <p:spPr>
            <a:xfrm>
              <a:off x="-153575" y="-2562879"/>
              <a:ext cx="10406234" cy="533308"/>
            </a:xfrm>
            <a:prstGeom prst="rect">
              <a:avLst/>
            </a:prstGeom>
          </p:spPr>
          <p:txBody>
            <a:bodyPr wrap="square" lIns="0" tIns="0" rIns="0" bIns="0" rtlCol="0" anchor="t">
              <a:spAutoFit/>
            </a:bodyPr>
            <a:lstStyle/>
            <a:p>
              <a:pPr marL="0" lvl="0" indent="0" algn="l">
                <a:lnSpc>
                  <a:spcPts val="3468"/>
                </a:lnSpc>
                <a:spcBef>
                  <a:spcPct val="0"/>
                </a:spcBef>
              </a:pPr>
              <a:r>
                <a:rPr lang="es-CL" b="1" noProof="0" dirty="0">
                  <a:solidFill>
                    <a:schemeClr val="tx1">
                      <a:lumMod val="95000"/>
                      <a:lumOff val="5000"/>
                    </a:schemeClr>
                  </a:solidFill>
                  <a:latin typeface="Montserrat Bold"/>
                  <a:ea typeface="Montserrat Bold"/>
                  <a:cs typeface="Montserrat Bold"/>
                  <a:sym typeface="Montserrat Bold"/>
                </a:rPr>
                <a:t>BARRERA DE ENTRADA: HARDWARE PROPIETARIO</a:t>
              </a:r>
            </a:p>
          </p:txBody>
        </p:sp>
        <p:sp>
          <p:nvSpPr>
            <p:cNvPr id="91" name="TextBox 24">
              <a:extLst>
                <a:ext uri="{FF2B5EF4-FFF2-40B4-BE49-F238E27FC236}">
                  <a16:creationId xmlns:a16="http://schemas.microsoft.com/office/drawing/2014/main" id="{3A44AB43-F2B5-5388-CFA5-5254ED04A433}"/>
                </a:ext>
              </a:extLst>
            </p:cNvPr>
            <p:cNvSpPr txBox="1"/>
            <p:nvPr/>
          </p:nvSpPr>
          <p:spPr>
            <a:xfrm>
              <a:off x="-153575" y="-2014618"/>
              <a:ext cx="9541205" cy="785685"/>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Costos superiores a USD 10,000 en hardware propietario excluyen a miles de clubes sub-élite del análisis táctico avanzado.</a:t>
              </a:r>
            </a:p>
          </p:txBody>
        </p:sp>
      </p:grpSp>
      <p:sp>
        <p:nvSpPr>
          <p:cNvPr id="5" name="CuadroTexto 4">
            <a:extLst>
              <a:ext uri="{FF2B5EF4-FFF2-40B4-BE49-F238E27FC236}">
                <a16:creationId xmlns:a16="http://schemas.microsoft.com/office/drawing/2014/main" id="{E52C81EB-73A5-8302-AA44-37D1A25D2AED}"/>
              </a:ext>
            </a:extLst>
          </p:cNvPr>
          <p:cNvSpPr txBox="1"/>
          <p:nvPr/>
        </p:nvSpPr>
        <p:spPr>
          <a:xfrm>
            <a:off x="-2802553" y="5316524"/>
            <a:ext cx="2776722" cy="1477328"/>
          </a:xfrm>
          <a:prstGeom prst="rect">
            <a:avLst/>
          </a:prstGeom>
          <a:noFill/>
        </p:spPr>
        <p:txBody>
          <a:bodyPr wrap="none" rtlCol="0">
            <a:spAutoFit/>
          </a:bodyPr>
          <a:lstStyle/>
          <a:p>
            <a:r>
              <a:rPr lang="es-CL" noProof="0" dirty="0">
                <a:solidFill>
                  <a:schemeClr val="bg1">
                    <a:lumMod val="85000"/>
                  </a:schemeClr>
                </a:solidFill>
                <a:latin typeface="Montserrat Bold" panose="00000800000000000000" pitchFamily="2" charset="0"/>
              </a:rPr>
              <a:t>Presentado por:</a:t>
            </a:r>
          </a:p>
          <a:p>
            <a:pPr marL="285750" indent="-285750">
              <a:buFont typeface="Arial" panose="020B0604020202020204" pitchFamily="34" charset="0"/>
              <a:buChar char="•"/>
            </a:pPr>
            <a:r>
              <a:rPr lang="es-CL" noProof="0" dirty="0">
                <a:solidFill>
                  <a:schemeClr val="bg1">
                    <a:lumMod val="85000"/>
                  </a:schemeClr>
                </a:solidFill>
                <a:latin typeface="Montserrat" panose="00000500000000000000" pitchFamily="2" charset="0"/>
              </a:rPr>
              <a:t>Héctor Arriagada</a:t>
            </a:r>
          </a:p>
          <a:p>
            <a:pPr marL="285750" indent="-285750">
              <a:buFont typeface="Arial" panose="020B0604020202020204" pitchFamily="34" charset="0"/>
              <a:buChar char="•"/>
            </a:pPr>
            <a:r>
              <a:rPr lang="es-CL" noProof="0" dirty="0">
                <a:solidFill>
                  <a:schemeClr val="bg1">
                    <a:lumMod val="85000"/>
                  </a:schemeClr>
                </a:solidFill>
                <a:latin typeface="Montserrat" panose="00000500000000000000" pitchFamily="2" charset="0"/>
              </a:rPr>
              <a:t>Sebastián López </a:t>
            </a:r>
          </a:p>
          <a:p>
            <a:pPr marL="285750" indent="-285750">
              <a:buFont typeface="Arial" panose="020B0604020202020204" pitchFamily="34" charset="0"/>
              <a:buChar char="•"/>
            </a:pPr>
            <a:r>
              <a:rPr lang="es-CL" noProof="0" dirty="0">
                <a:solidFill>
                  <a:schemeClr val="bg1">
                    <a:lumMod val="85000"/>
                  </a:schemeClr>
                </a:solidFill>
                <a:latin typeface="Montserrat" panose="00000500000000000000" pitchFamily="2" charset="0"/>
              </a:rPr>
              <a:t>Renato Palma</a:t>
            </a:r>
          </a:p>
          <a:p>
            <a:pPr marL="285750" indent="-285750">
              <a:buFont typeface="Arial" panose="020B0604020202020204" pitchFamily="34" charset="0"/>
              <a:buChar char="•"/>
            </a:pPr>
            <a:r>
              <a:rPr lang="es-CL" noProof="0" dirty="0">
                <a:solidFill>
                  <a:schemeClr val="bg1">
                    <a:lumMod val="85000"/>
                  </a:schemeClr>
                </a:solidFill>
                <a:latin typeface="Montserrat" panose="00000500000000000000" pitchFamily="2" charset="0"/>
              </a:rPr>
              <a:t>Cristóbal Sepúlveda</a:t>
            </a:r>
          </a:p>
        </p:txBody>
      </p:sp>
    </p:spTree>
    <p:extLst>
      <p:ext uri="{BB962C8B-B14F-4D97-AF65-F5344CB8AC3E}">
        <p14:creationId xmlns:p14="http://schemas.microsoft.com/office/powerpoint/2010/main" val="27100851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05439-D9B0-63A2-B78C-8B116E7E4B1A}"/>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7443F1F-5BA0-6420-3729-9D66020583DD}"/>
              </a:ext>
            </a:extLst>
          </p:cNvPr>
          <p:cNvPicPr preferRelativeResize="0">
            <a:picLocks noChangeAspect="1"/>
          </p:cNvPicPr>
          <p:nvPr/>
        </p:nvPicPr>
        <p:blipFill>
          <a:blip r:embed="rId3"/>
          <a:srcRect/>
          <a:stretch>
            <a:fillRect/>
          </a:stretch>
        </p:blipFill>
        <p:spPr>
          <a:xfrm rot="15893212">
            <a:off x="2568637" y="-6698325"/>
            <a:ext cx="4810883" cy="12321824"/>
          </a:xfrm>
          <a:prstGeom prst="rect">
            <a:avLst/>
          </a:prstGeom>
        </p:spPr>
      </p:pic>
      <p:pic>
        <p:nvPicPr>
          <p:cNvPr id="12" name="Imagen 11">
            <a:extLst>
              <a:ext uri="{FF2B5EF4-FFF2-40B4-BE49-F238E27FC236}">
                <a16:creationId xmlns:a16="http://schemas.microsoft.com/office/drawing/2014/main" id="{14A8F139-EA4D-52F9-AC66-6B4482ED01BC}"/>
              </a:ext>
            </a:extLst>
          </p:cNvPr>
          <p:cNvPicPr>
            <a:picLocks noChangeAspect="1"/>
          </p:cNvPicPr>
          <p:nvPr/>
        </p:nvPicPr>
        <p:blipFill>
          <a:blip r:embed="rId4"/>
          <a:srcRect/>
          <a:stretch>
            <a:fillRect/>
          </a:stretch>
        </p:blipFill>
        <p:spPr>
          <a:xfrm rot="11064132" flipV="1">
            <a:off x="-5227271" y="-8190040"/>
            <a:ext cx="10454542" cy="4146380"/>
          </a:xfrm>
          <a:prstGeom prst="rect">
            <a:avLst/>
          </a:prstGeom>
        </p:spPr>
      </p:pic>
      <p:sp>
        <p:nvSpPr>
          <p:cNvPr id="10" name="CuadroTexto 9">
            <a:extLst>
              <a:ext uri="{FF2B5EF4-FFF2-40B4-BE49-F238E27FC236}">
                <a16:creationId xmlns:a16="http://schemas.microsoft.com/office/drawing/2014/main" id="{7680ADBB-BFB2-7243-E24E-E9671F9AEE33}"/>
              </a:ext>
            </a:extLst>
          </p:cNvPr>
          <p:cNvSpPr txBox="1"/>
          <p:nvPr/>
        </p:nvSpPr>
        <p:spPr>
          <a:xfrm>
            <a:off x="2734965" y="272674"/>
            <a:ext cx="4766583" cy="1121397"/>
          </a:xfrm>
          <a:prstGeom prst="rect">
            <a:avLst/>
          </a:prstGeom>
          <a:noFill/>
        </p:spPr>
        <p:txBody>
          <a:bodyPr wrap="square">
            <a:spAutoFit/>
          </a:bodyPr>
          <a:lstStyle/>
          <a:p>
            <a:pPr marL="0" lvl="0" indent="0" algn="l">
              <a:lnSpc>
                <a:spcPts val="7791"/>
              </a:lnSpc>
              <a:spcBef>
                <a:spcPct val="0"/>
              </a:spcBef>
            </a:pPr>
            <a:r>
              <a:rPr lang="es-CL" sz="6600" b="1" spc="-557" noProof="0" dirty="0">
                <a:solidFill>
                  <a:srgbClr val="171717"/>
                </a:solidFill>
                <a:latin typeface="Montserrat Bold"/>
                <a:ea typeface="Montserrat Bold"/>
                <a:cs typeface="Montserrat Bold"/>
                <a:sym typeface="Montserrat Bold"/>
              </a:rPr>
              <a:t>Contexto</a:t>
            </a:r>
            <a:r>
              <a:rPr lang="es-CL" sz="8000" b="1" spc="-557" noProof="0" dirty="0">
                <a:solidFill>
                  <a:srgbClr val="4AEFD8"/>
                </a:solidFill>
                <a:latin typeface="Montserrat Bold"/>
                <a:ea typeface="Montserrat Bold"/>
                <a:cs typeface="Montserrat Bold"/>
                <a:sym typeface="Montserrat Bold"/>
              </a:rPr>
              <a:t> </a:t>
            </a:r>
          </a:p>
        </p:txBody>
      </p:sp>
      <p:sp>
        <p:nvSpPr>
          <p:cNvPr id="4" name="Rectángulo 3">
            <a:extLst>
              <a:ext uri="{FF2B5EF4-FFF2-40B4-BE49-F238E27FC236}">
                <a16:creationId xmlns:a16="http://schemas.microsoft.com/office/drawing/2014/main" id="{5F907240-28D7-C29D-C5FE-A590ABDA1588}"/>
              </a:ext>
            </a:extLst>
          </p:cNvPr>
          <p:cNvSpPr/>
          <p:nvPr/>
        </p:nvSpPr>
        <p:spPr>
          <a:xfrm>
            <a:off x="9022533" y="0"/>
            <a:ext cx="3169467" cy="69088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mc:AlternateContent xmlns:mc="http://schemas.openxmlformats.org/markup-compatibility/2006">
        <mc:Choice xmlns:am3d="http://schemas.microsoft.com/office/drawing/2017/model3d" Requires="am3d">
          <p:graphicFrame>
            <p:nvGraphicFramePr>
              <p:cNvPr id="2" name="Modelo 3D 1">
                <a:extLst>
                  <a:ext uri="{FF2B5EF4-FFF2-40B4-BE49-F238E27FC236}">
                    <a16:creationId xmlns:a16="http://schemas.microsoft.com/office/drawing/2014/main" id="{F3DE0F71-837C-3533-B67B-961ACDD38009}"/>
                  </a:ext>
                </a:extLst>
              </p:cNvPr>
              <p:cNvGraphicFramePr>
                <a:graphicFrameLocks noChangeAspect="1"/>
              </p:cNvGraphicFramePr>
              <p:nvPr>
                <p:extLst>
                  <p:ext uri="{D42A27DB-BD31-4B8C-83A1-F6EECF244321}">
                    <p14:modId xmlns:p14="http://schemas.microsoft.com/office/powerpoint/2010/main" val="765033927"/>
                  </p:ext>
                </p:extLst>
              </p:nvPr>
            </p:nvGraphicFramePr>
            <p:xfrm>
              <a:off x="9538256" y="2848211"/>
              <a:ext cx="2264075" cy="2264075"/>
            </p:xfrm>
            <a:graphic>
              <a:graphicData uri="http://schemas.microsoft.com/office/drawing/2017/model3d">
                <am3d:model3d r:embed="rId5">
                  <am3d:spPr>
                    <a:xfrm>
                      <a:off x="0" y="0"/>
                      <a:ext cx="2264075" cy="2264075"/>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910241" ay="-1927918" az="492378"/>
                    <am3d:postTrans dx="0" dy="0" dz="0"/>
                  </am3d:trans>
                  <am3d:raster rName="Office3DRenderer" rVer="16.0.8326">
                    <am3d:blip r:embed="rId6"/>
                  </am3d:raster>
                  <am3d:objViewport viewportSz="601216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o 3D 1">
                <a:extLst>
                  <a:ext uri="{FF2B5EF4-FFF2-40B4-BE49-F238E27FC236}">
                    <a16:creationId xmlns:a16="http://schemas.microsoft.com/office/drawing/2014/main" id="{F3DE0F71-837C-3533-B67B-961ACDD38009}"/>
                  </a:ext>
                </a:extLst>
              </p:cNvPr>
              <p:cNvPicPr>
                <a:picLocks noGrp="1" noRot="1" noChangeAspect="1" noMove="1" noResize="1" noEditPoints="1" noAdjustHandles="1" noChangeArrowheads="1" noChangeShapeType="1" noCrop="1"/>
              </p:cNvPicPr>
              <p:nvPr/>
            </p:nvPicPr>
            <p:blipFill>
              <a:blip r:embed="rId6"/>
              <a:stretch>
                <a:fillRect/>
              </a:stretch>
            </p:blipFill>
            <p:spPr>
              <a:xfrm>
                <a:off x="9538256" y="2848211"/>
                <a:ext cx="2264075" cy="2264075"/>
              </a:xfrm>
              <a:prstGeom prst="rect">
                <a:avLst/>
              </a:prstGeom>
            </p:spPr>
          </p:pic>
        </mc:Fallback>
      </mc:AlternateContent>
      <p:sp>
        <p:nvSpPr>
          <p:cNvPr id="7" name="CuadroTexto 6">
            <a:extLst>
              <a:ext uri="{FF2B5EF4-FFF2-40B4-BE49-F238E27FC236}">
                <a16:creationId xmlns:a16="http://schemas.microsoft.com/office/drawing/2014/main" id="{4B1A3A18-147C-6B09-2AAD-40FD0E8459C2}"/>
              </a:ext>
            </a:extLst>
          </p:cNvPr>
          <p:cNvSpPr txBox="1"/>
          <p:nvPr/>
        </p:nvSpPr>
        <p:spPr>
          <a:xfrm>
            <a:off x="9174995" y="0"/>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rgbClr val="FFFFFF"/>
                </a:solidFill>
                <a:latin typeface="Montserrat Bold"/>
                <a:ea typeface="Montserrat Bold"/>
                <a:cs typeface="Montserrat Bold"/>
                <a:sym typeface="Montserrat Bold"/>
              </a:rPr>
              <a:t>Fut.Ai</a:t>
            </a:r>
          </a:p>
        </p:txBody>
      </p:sp>
      <p:pic>
        <p:nvPicPr>
          <p:cNvPr id="6" name="Imagen 5">
            <a:extLst>
              <a:ext uri="{FF2B5EF4-FFF2-40B4-BE49-F238E27FC236}">
                <a16:creationId xmlns:a16="http://schemas.microsoft.com/office/drawing/2014/main" id="{346969DA-44EC-5468-2AB2-12C0B442CA43}"/>
              </a:ext>
            </a:extLst>
          </p:cNvPr>
          <p:cNvPicPr>
            <a:picLocks noChangeAspect="1"/>
          </p:cNvPicPr>
          <p:nvPr/>
        </p:nvPicPr>
        <p:blipFill>
          <a:blip r:embed="rId7"/>
          <a:srcRect/>
          <a:stretch>
            <a:fillRect/>
          </a:stretch>
        </p:blipFill>
        <p:spPr>
          <a:xfrm>
            <a:off x="11199579" y="188161"/>
            <a:ext cx="996664" cy="863537"/>
          </a:xfrm>
          <a:prstGeom prst="rect">
            <a:avLst/>
          </a:prstGeom>
        </p:spPr>
      </p:pic>
      <p:sp>
        <p:nvSpPr>
          <p:cNvPr id="68" name="AutoShape 6">
            <a:extLst>
              <a:ext uri="{FF2B5EF4-FFF2-40B4-BE49-F238E27FC236}">
                <a16:creationId xmlns:a16="http://schemas.microsoft.com/office/drawing/2014/main" id="{E141231F-2E48-C1CE-7A47-73CCDB34EC78}"/>
              </a:ext>
            </a:extLst>
          </p:cNvPr>
          <p:cNvSpPr/>
          <p:nvPr/>
        </p:nvSpPr>
        <p:spPr>
          <a:xfrm>
            <a:off x="639894" y="2542738"/>
            <a:ext cx="1108" cy="3762619"/>
          </a:xfrm>
          <a:prstGeom prst="line">
            <a:avLst/>
          </a:prstGeom>
          <a:ln w="19050" cap="rnd">
            <a:solidFill>
              <a:schemeClr val="tx1"/>
            </a:solidFill>
            <a:prstDash val="solid"/>
            <a:headEnd type="none" w="sm" len="sm"/>
            <a:tailEnd type="none" w="sm" len="sm"/>
          </a:ln>
        </p:spPr>
        <p:txBody>
          <a:bodyPr/>
          <a:lstStyle/>
          <a:p>
            <a:endParaRPr lang="es-CL" noProof="0" dirty="0"/>
          </a:p>
        </p:txBody>
      </p:sp>
      <p:grpSp>
        <p:nvGrpSpPr>
          <p:cNvPr id="69" name="Group 7">
            <a:extLst>
              <a:ext uri="{FF2B5EF4-FFF2-40B4-BE49-F238E27FC236}">
                <a16:creationId xmlns:a16="http://schemas.microsoft.com/office/drawing/2014/main" id="{1543282A-2746-A3DF-9E18-1CBD9CAE1D8C}"/>
              </a:ext>
            </a:extLst>
          </p:cNvPr>
          <p:cNvGrpSpPr/>
          <p:nvPr/>
        </p:nvGrpSpPr>
        <p:grpSpPr>
          <a:xfrm>
            <a:off x="205120" y="1781079"/>
            <a:ext cx="851357" cy="873116"/>
            <a:chOff x="-8684" y="-76200"/>
            <a:chExt cx="812800" cy="833574"/>
          </a:xfrm>
        </p:grpSpPr>
        <p:sp>
          <p:nvSpPr>
            <p:cNvPr id="70" name="Freeform 8">
              <a:extLst>
                <a:ext uri="{FF2B5EF4-FFF2-40B4-BE49-F238E27FC236}">
                  <a16:creationId xmlns:a16="http://schemas.microsoft.com/office/drawing/2014/main" id="{50FDEAE4-1DB6-BD6F-1D33-1D5669CBDBA4}"/>
                </a:ext>
              </a:extLst>
            </p:cNvPr>
            <p:cNvSpPr/>
            <p:nvPr/>
          </p:nvSpPr>
          <p:spPr>
            <a:xfrm>
              <a:off x="-8684" y="-5542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p:spPr>
          <p:txBody>
            <a:bodyPr/>
            <a:lstStyle/>
            <a:p>
              <a:endParaRPr lang="es-CL" noProof="0" dirty="0"/>
            </a:p>
          </p:txBody>
        </p:sp>
        <p:sp>
          <p:nvSpPr>
            <p:cNvPr id="71" name="TextBox 9">
              <a:extLst>
                <a:ext uri="{FF2B5EF4-FFF2-40B4-BE49-F238E27FC236}">
                  <a16:creationId xmlns:a16="http://schemas.microsoft.com/office/drawing/2014/main" id="{29FB5D6F-A5DF-1DC2-0CAF-0629DE938019}"/>
                </a:ext>
              </a:extLst>
            </p:cNvPr>
            <p:cNvSpPr txBox="1"/>
            <p:nvPr/>
          </p:nvSpPr>
          <p:spPr>
            <a:xfrm>
              <a:off x="76200" y="-76200"/>
              <a:ext cx="660400" cy="812800"/>
            </a:xfrm>
            <a:prstGeom prst="rect">
              <a:avLst/>
            </a:prstGeom>
          </p:spPr>
          <p:txBody>
            <a:bodyPr lIns="50800" tIns="50800" rIns="50800" bIns="50800" rtlCol="0" anchor="ctr"/>
            <a:lstStyle/>
            <a:p>
              <a:pPr marL="0" lvl="0" indent="0" algn="ctr">
                <a:lnSpc>
                  <a:spcPts val="4253"/>
                </a:lnSpc>
              </a:pPr>
              <a:r>
                <a:rPr lang="es-CL" sz="3038" b="1" noProof="0" dirty="0">
                  <a:solidFill>
                    <a:srgbClr val="FFFFFF"/>
                  </a:solidFill>
                  <a:latin typeface="Agrandir Wide Bold"/>
                  <a:ea typeface="Agrandir Wide Bold"/>
                  <a:cs typeface="Agrandir Wide Bold"/>
                  <a:sym typeface="Agrandir Wide Bold"/>
                </a:rPr>
                <a:t>1</a:t>
              </a:r>
            </a:p>
          </p:txBody>
        </p:sp>
      </p:grpSp>
      <p:grpSp>
        <p:nvGrpSpPr>
          <p:cNvPr id="72" name="Group 10">
            <a:extLst>
              <a:ext uri="{FF2B5EF4-FFF2-40B4-BE49-F238E27FC236}">
                <a16:creationId xmlns:a16="http://schemas.microsoft.com/office/drawing/2014/main" id="{86DC7CAA-42EF-56B3-7439-7B156E94E55A}"/>
              </a:ext>
            </a:extLst>
          </p:cNvPr>
          <p:cNvGrpSpPr/>
          <p:nvPr/>
        </p:nvGrpSpPr>
        <p:grpSpPr>
          <a:xfrm>
            <a:off x="205119" y="3654194"/>
            <a:ext cx="851357" cy="851357"/>
            <a:chOff x="0" y="0"/>
            <a:chExt cx="812800" cy="812800"/>
          </a:xfrm>
        </p:grpSpPr>
        <p:sp>
          <p:nvSpPr>
            <p:cNvPr id="73" name="Freeform 11">
              <a:extLst>
                <a:ext uri="{FF2B5EF4-FFF2-40B4-BE49-F238E27FC236}">
                  <a16:creationId xmlns:a16="http://schemas.microsoft.com/office/drawing/2014/main" id="{D49E1FA1-3B52-D41F-11D2-D837226E9F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a:ln cap="sq">
              <a:noFill/>
              <a:prstDash val="solid"/>
              <a:miter/>
            </a:ln>
          </p:spPr>
          <p:txBody>
            <a:bodyPr/>
            <a:lstStyle/>
            <a:p>
              <a:endParaRPr lang="es-CL" noProof="0" dirty="0"/>
            </a:p>
          </p:txBody>
        </p:sp>
        <p:sp>
          <p:nvSpPr>
            <p:cNvPr id="74" name="TextBox 12">
              <a:extLst>
                <a:ext uri="{FF2B5EF4-FFF2-40B4-BE49-F238E27FC236}">
                  <a16:creationId xmlns:a16="http://schemas.microsoft.com/office/drawing/2014/main" id="{3649AC29-39C9-0209-F875-03D96A8C474E}"/>
                </a:ext>
              </a:extLst>
            </p:cNvPr>
            <p:cNvSpPr txBox="1"/>
            <p:nvPr/>
          </p:nvSpPr>
          <p:spPr>
            <a:xfrm>
              <a:off x="76200" y="-76200"/>
              <a:ext cx="660400" cy="812800"/>
            </a:xfrm>
            <a:prstGeom prst="rect">
              <a:avLst/>
            </a:prstGeom>
          </p:spPr>
          <p:txBody>
            <a:bodyPr lIns="50800" tIns="50800" rIns="50800" bIns="50800" rtlCol="0" anchor="ctr"/>
            <a:lstStyle/>
            <a:p>
              <a:pPr marL="0" lvl="0" indent="0" algn="ctr">
                <a:lnSpc>
                  <a:spcPts val="4253"/>
                </a:lnSpc>
                <a:spcBef>
                  <a:spcPct val="0"/>
                </a:spcBef>
              </a:pPr>
              <a:r>
                <a:rPr lang="es-CL" sz="3038" b="1" noProof="0" dirty="0">
                  <a:solidFill>
                    <a:srgbClr val="FFFFFF"/>
                  </a:solidFill>
                  <a:latin typeface="Agrandir Wide Bold"/>
                  <a:ea typeface="Agrandir Wide Bold"/>
                  <a:cs typeface="Agrandir Wide Bold"/>
                  <a:sym typeface="Agrandir Wide Bold"/>
                </a:rPr>
                <a:t>2</a:t>
              </a:r>
            </a:p>
          </p:txBody>
        </p:sp>
      </p:grpSp>
      <p:grpSp>
        <p:nvGrpSpPr>
          <p:cNvPr id="75" name="Group 13">
            <a:extLst>
              <a:ext uri="{FF2B5EF4-FFF2-40B4-BE49-F238E27FC236}">
                <a16:creationId xmlns:a16="http://schemas.microsoft.com/office/drawing/2014/main" id="{4D6DB3CF-020D-AC1E-765D-5D667A28CED0}"/>
              </a:ext>
            </a:extLst>
          </p:cNvPr>
          <p:cNvGrpSpPr/>
          <p:nvPr/>
        </p:nvGrpSpPr>
        <p:grpSpPr>
          <a:xfrm>
            <a:off x="214217" y="5530950"/>
            <a:ext cx="851357" cy="851357"/>
            <a:chOff x="118247" y="-1676692"/>
            <a:chExt cx="812800" cy="812800"/>
          </a:xfrm>
        </p:grpSpPr>
        <p:sp>
          <p:nvSpPr>
            <p:cNvPr id="76" name="Freeform 14">
              <a:extLst>
                <a:ext uri="{FF2B5EF4-FFF2-40B4-BE49-F238E27FC236}">
                  <a16:creationId xmlns:a16="http://schemas.microsoft.com/office/drawing/2014/main" id="{AE33D1A9-831D-CABD-3E77-DB7FBC373E1F}"/>
                </a:ext>
              </a:extLst>
            </p:cNvPr>
            <p:cNvSpPr/>
            <p:nvPr/>
          </p:nvSpPr>
          <p:spPr>
            <a:xfrm>
              <a:off x="118247" y="-1676692"/>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a:ln cap="sq">
              <a:noFill/>
              <a:prstDash val="solid"/>
              <a:miter/>
            </a:ln>
          </p:spPr>
          <p:txBody>
            <a:bodyPr/>
            <a:lstStyle/>
            <a:p>
              <a:endParaRPr lang="es-CL" noProof="0" dirty="0"/>
            </a:p>
          </p:txBody>
        </p:sp>
        <p:sp>
          <p:nvSpPr>
            <p:cNvPr id="77" name="TextBox 15">
              <a:extLst>
                <a:ext uri="{FF2B5EF4-FFF2-40B4-BE49-F238E27FC236}">
                  <a16:creationId xmlns:a16="http://schemas.microsoft.com/office/drawing/2014/main" id="{B520982C-2B38-78A9-1D7D-A4DF1AEF6CC9}"/>
                </a:ext>
              </a:extLst>
            </p:cNvPr>
            <p:cNvSpPr txBox="1"/>
            <p:nvPr/>
          </p:nvSpPr>
          <p:spPr>
            <a:xfrm>
              <a:off x="211233" y="-1676692"/>
              <a:ext cx="660400" cy="812800"/>
            </a:xfrm>
            <a:prstGeom prst="rect">
              <a:avLst/>
            </a:prstGeom>
          </p:spPr>
          <p:txBody>
            <a:bodyPr lIns="50800" tIns="50800" rIns="50800" bIns="50800" rtlCol="0" anchor="ctr"/>
            <a:lstStyle/>
            <a:p>
              <a:pPr marL="0" lvl="0" indent="0" algn="ctr">
                <a:lnSpc>
                  <a:spcPts val="4253"/>
                </a:lnSpc>
                <a:spcBef>
                  <a:spcPct val="0"/>
                </a:spcBef>
              </a:pPr>
              <a:r>
                <a:rPr lang="es-CL" sz="3038" b="1" u="none" strike="noStrike" noProof="0" dirty="0">
                  <a:solidFill>
                    <a:srgbClr val="FFFFFF"/>
                  </a:solidFill>
                  <a:latin typeface="Agrandir Wide Bold"/>
                  <a:ea typeface="Agrandir Wide Bold"/>
                  <a:cs typeface="Agrandir Wide Bold"/>
                  <a:sym typeface="Agrandir Wide Bold"/>
                </a:rPr>
                <a:t>3</a:t>
              </a:r>
            </a:p>
          </p:txBody>
        </p:sp>
      </p:grpSp>
      <p:grpSp>
        <p:nvGrpSpPr>
          <p:cNvPr id="78" name="Group 16">
            <a:extLst>
              <a:ext uri="{FF2B5EF4-FFF2-40B4-BE49-F238E27FC236}">
                <a16:creationId xmlns:a16="http://schemas.microsoft.com/office/drawing/2014/main" id="{E7CE6899-EDCC-E63E-1DB9-201E05ED4D17}"/>
              </a:ext>
            </a:extLst>
          </p:cNvPr>
          <p:cNvGrpSpPr/>
          <p:nvPr/>
        </p:nvGrpSpPr>
        <p:grpSpPr>
          <a:xfrm>
            <a:off x="1215920" y="1855479"/>
            <a:ext cx="7804675" cy="1073165"/>
            <a:chOff x="0" y="0"/>
            <a:chExt cx="10406234" cy="1430886"/>
          </a:xfrm>
        </p:grpSpPr>
        <p:sp>
          <p:nvSpPr>
            <p:cNvPr id="79" name="TextBox 17">
              <a:extLst>
                <a:ext uri="{FF2B5EF4-FFF2-40B4-BE49-F238E27FC236}">
                  <a16:creationId xmlns:a16="http://schemas.microsoft.com/office/drawing/2014/main" id="{0F7CC2D7-1CCE-5AD4-DD6B-8E9611639E04}"/>
                </a:ext>
              </a:extLst>
            </p:cNvPr>
            <p:cNvSpPr txBox="1"/>
            <p:nvPr/>
          </p:nvSpPr>
          <p:spPr>
            <a:xfrm>
              <a:off x="0" y="0"/>
              <a:ext cx="10406234" cy="533308"/>
            </a:xfrm>
            <a:prstGeom prst="rect">
              <a:avLst/>
            </a:prstGeom>
          </p:spPr>
          <p:txBody>
            <a:bodyPr wrap="square" lIns="0" tIns="0" rIns="0" bIns="0" rtlCol="0" anchor="t">
              <a:spAutoFit/>
            </a:bodyPr>
            <a:lstStyle/>
            <a:p>
              <a:pPr marL="0" lvl="0" indent="0" algn="l">
                <a:lnSpc>
                  <a:spcPts val="3468"/>
                </a:lnSpc>
                <a:spcBef>
                  <a:spcPct val="0"/>
                </a:spcBef>
              </a:pPr>
              <a:r>
                <a:rPr lang="es-CL" b="1" noProof="0" dirty="0">
                  <a:solidFill>
                    <a:srgbClr val="171717"/>
                  </a:solidFill>
                  <a:latin typeface="Montserrat Bold"/>
                  <a:ea typeface="Montserrat Bold"/>
                  <a:cs typeface="Montserrat Bold"/>
                  <a:sym typeface="Montserrat Bold"/>
                </a:rPr>
                <a:t>CRECIMIENTO DEL MERCADO GLOBAL</a:t>
              </a:r>
            </a:p>
          </p:txBody>
        </p:sp>
        <p:sp>
          <p:nvSpPr>
            <p:cNvPr id="80" name="TextBox 18">
              <a:extLst>
                <a:ext uri="{FF2B5EF4-FFF2-40B4-BE49-F238E27FC236}">
                  <a16:creationId xmlns:a16="http://schemas.microsoft.com/office/drawing/2014/main" id="{A1F769F7-C99D-A37B-F2F9-2019B0352E36}"/>
                </a:ext>
              </a:extLst>
            </p:cNvPr>
            <p:cNvSpPr txBox="1"/>
            <p:nvPr/>
          </p:nvSpPr>
          <p:spPr>
            <a:xfrm>
              <a:off x="0" y="653579"/>
              <a:ext cx="9541205" cy="777307"/>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Sports </a:t>
              </a:r>
              <a:r>
                <a:rPr lang="es-CL" sz="1200" noProof="0" dirty="0" err="1">
                  <a:solidFill>
                    <a:schemeClr val="tx1">
                      <a:lumMod val="85000"/>
                      <a:lumOff val="15000"/>
                    </a:schemeClr>
                  </a:solidFill>
                  <a:latin typeface="Montserrat"/>
                  <a:ea typeface="Montserrat"/>
                  <a:cs typeface="Montserrat"/>
                  <a:sym typeface="Montserrat"/>
                </a:rPr>
                <a:t>analytics</a:t>
              </a:r>
              <a:r>
                <a:rPr lang="es-CL" sz="1200" noProof="0" dirty="0">
                  <a:solidFill>
                    <a:schemeClr val="tx1">
                      <a:lumMod val="85000"/>
                      <a:lumOff val="15000"/>
                    </a:schemeClr>
                  </a:solidFill>
                  <a:latin typeface="Montserrat"/>
                  <a:ea typeface="Montserrat"/>
                  <a:cs typeface="Montserrat"/>
                  <a:sym typeface="Montserrat"/>
                </a:rPr>
                <a:t> global: USD 4.6B en 2024, proyectado a USD 15B para 2030. Un mercado en expansión acelerada con alto potencial sin explotar.</a:t>
              </a:r>
            </a:p>
          </p:txBody>
        </p:sp>
      </p:grpSp>
      <p:grpSp>
        <p:nvGrpSpPr>
          <p:cNvPr id="81" name="Group 19">
            <a:extLst>
              <a:ext uri="{FF2B5EF4-FFF2-40B4-BE49-F238E27FC236}">
                <a16:creationId xmlns:a16="http://schemas.microsoft.com/office/drawing/2014/main" id="{3685934D-EE2C-0B6D-5964-E78D854D2DCE}"/>
              </a:ext>
            </a:extLst>
          </p:cNvPr>
          <p:cNvGrpSpPr/>
          <p:nvPr/>
        </p:nvGrpSpPr>
        <p:grpSpPr>
          <a:xfrm>
            <a:off x="1179868" y="3637221"/>
            <a:ext cx="7840727" cy="1043033"/>
            <a:chOff x="-48069" y="-756850"/>
            <a:chExt cx="10454302" cy="1390710"/>
          </a:xfrm>
        </p:grpSpPr>
        <p:sp>
          <p:nvSpPr>
            <p:cNvPr id="82" name="TextBox 20">
              <a:extLst>
                <a:ext uri="{FF2B5EF4-FFF2-40B4-BE49-F238E27FC236}">
                  <a16:creationId xmlns:a16="http://schemas.microsoft.com/office/drawing/2014/main" id="{F0C2B9B1-54ED-C655-3FDB-535600898C99}"/>
                </a:ext>
              </a:extLst>
            </p:cNvPr>
            <p:cNvSpPr txBox="1"/>
            <p:nvPr/>
          </p:nvSpPr>
          <p:spPr>
            <a:xfrm>
              <a:off x="0" y="-756850"/>
              <a:ext cx="10406233" cy="524930"/>
            </a:xfrm>
            <a:prstGeom prst="rect">
              <a:avLst/>
            </a:prstGeom>
          </p:spPr>
          <p:txBody>
            <a:bodyPr wrap="square" lIns="0" tIns="0" rIns="0" bIns="0" rtlCol="0" anchor="t">
              <a:spAutoFit/>
            </a:bodyPr>
            <a:lstStyle/>
            <a:p>
              <a:pPr marL="0" lvl="0" indent="0" algn="l">
                <a:lnSpc>
                  <a:spcPts val="3468"/>
                </a:lnSpc>
                <a:spcBef>
                  <a:spcPct val="0"/>
                </a:spcBef>
              </a:pPr>
              <a:r>
                <a:rPr lang="es-CL" b="1" noProof="0" dirty="0">
                  <a:latin typeface="Montserrat Bold"/>
                  <a:ea typeface="Montserrat Bold"/>
                  <a:cs typeface="Montserrat Bold"/>
                  <a:sym typeface="Montserrat Bold"/>
                </a:rPr>
                <a:t>BRECHA CRÍTICA: SOLO EL 2% TIENE ACCESO</a:t>
              </a:r>
            </a:p>
          </p:txBody>
        </p:sp>
        <p:sp>
          <p:nvSpPr>
            <p:cNvPr id="83" name="TextBox 21">
              <a:extLst>
                <a:ext uri="{FF2B5EF4-FFF2-40B4-BE49-F238E27FC236}">
                  <a16:creationId xmlns:a16="http://schemas.microsoft.com/office/drawing/2014/main" id="{B79F8653-5E7D-B452-17D6-6641B9746CE1}"/>
                </a:ext>
              </a:extLst>
            </p:cNvPr>
            <p:cNvSpPr txBox="1"/>
            <p:nvPr/>
          </p:nvSpPr>
          <p:spPr>
            <a:xfrm>
              <a:off x="-48069" y="-143448"/>
              <a:ext cx="9541204" cy="777308"/>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Solo el 2% de los clubes profesionales de élite usan tracking avanzado. El 98% restante — segunda división y academias — opera completamente "a ciegas".</a:t>
              </a:r>
            </a:p>
          </p:txBody>
        </p:sp>
      </p:grpSp>
      <p:grpSp>
        <p:nvGrpSpPr>
          <p:cNvPr id="84" name="Group 22">
            <a:extLst>
              <a:ext uri="{FF2B5EF4-FFF2-40B4-BE49-F238E27FC236}">
                <a16:creationId xmlns:a16="http://schemas.microsoft.com/office/drawing/2014/main" id="{30155C43-7A84-1864-F33A-6B379E224C06}"/>
              </a:ext>
            </a:extLst>
          </p:cNvPr>
          <p:cNvGrpSpPr/>
          <p:nvPr/>
        </p:nvGrpSpPr>
        <p:grpSpPr>
          <a:xfrm>
            <a:off x="1100739" y="5432115"/>
            <a:ext cx="7804675" cy="1000459"/>
            <a:chOff x="-153575" y="-2562879"/>
            <a:chExt cx="10406234" cy="1333946"/>
          </a:xfrm>
        </p:grpSpPr>
        <p:sp>
          <p:nvSpPr>
            <p:cNvPr id="85" name="TextBox 23">
              <a:extLst>
                <a:ext uri="{FF2B5EF4-FFF2-40B4-BE49-F238E27FC236}">
                  <a16:creationId xmlns:a16="http://schemas.microsoft.com/office/drawing/2014/main" id="{E83E5160-0E54-410C-BA35-DAAF5106B333}"/>
                </a:ext>
              </a:extLst>
            </p:cNvPr>
            <p:cNvSpPr txBox="1"/>
            <p:nvPr/>
          </p:nvSpPr>
          <p:spPr>
            <a:xfrm>
              <a:off x="-153575" y="-2562879"/>
              <a:ext cx="10406234" cy="533308"/>
            </a:xfrm>
            <a:prstGeom prst="rect">
              <a:avLst/>
            </a:prstGeom>
          </p:spPr>
          <p:txBody>
            <a:bodyPr wrap="square" lIns="0" tIns="0" rIns="0" bIns="0" rtlCol="0" anchor="t">
              <a:spAutoFit/>
            </a:bodyPr>
            <a:lstStyle/>
            <a:p>
              <a:pPr marL="0" lvl="0" indent="0" algn="l">
                <a:lnSpc>
                  <a:spcPts val="3468"/>
                </a:lnSpc>
                <a:spcBef>
                  <a:spcPct val="0"/>
                </a:spcBef>
              </a:pPr>
              <a:r>
                <a:rPr lang="es-CL" b="1" noProof="0" dirty="0">
                  <a:solidFill>
                    <a:schemeClr val="tx1">
                      <a:lumMod val="95000"/>
                      <a:lumOff val="5000"/>
                    </a:schemeClr>
                  </a:solidFill>
                  <a:latin typeface="Montserrat Bold"/>
                  <a:ea typeface="Montserrat Bold"/>
                  <a:cs typeface="Montserrat Bold"/>
                  <a:sym typeface="Montserrat Bold"/>
                </a:rPr>
                <a:t>BARRERA DE ENTRADA: HARDWARE PROPIETARIO</a:t>
              </a:r>
            </a:p>
          </p:txBody>
        </p:sp>
        <p:sp>
          <p:nvSpPr>
            <p:cNvPr id="86" name="TextBox 24">
              <a:extLst>
                <a:ext uri="{FF2B5EF4-FFF2-40B4-BE49-F238E27FC236}">
                  <a16:creationId xmlns:a16="http://schemas.microsoft.com/office/drawing/2014/main" id="{0067220F-973F-93B0-9438-24FD3E38718F}"/>
                </a:ext>
              </a:extLst>
            </p:cNvPr>
            <p:cNvSpPr txBox="1"/>
            <p:nvPr/>
          </p:nvSpPr>
          <p:spPr>
            <a:xfrm>
              <a:off x="-153575" y="-2014618"/>
              <a:ext cx="9541205" cy="785685"/>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Costos superiores a USD 10,000 en hardware propietario excluyen a miles de clubes sub-élite del análisis táctico avanzado.</a:t>
              </a:r>
            </a:p>
          </p:txBody>
        </p:sp>
      </p:grpSp>
      <p:sp>
        <p:nvSpPr>
          <p:cNvPr id="111" name="TextBox 5">
            <a:extLst>
              <a:ext uri="{FF2B5EF4-FFF2-40B4-BE49-F238E27FC236}">
                <a16:creationId xmlns:a16="http://schemas.microsoft.com/office/drawing/2014/main" id="{DDD57870-836F-FCC3-9DA6-51388D065CED}"/>
              </a:ext>
            </a:extLst>
          </p:cNvPr>
          <p:cNvSpPr txBox="1"/>
          <p:nvPr/>
        </p:nvSpPr>
        <p:spPr>
          <a:xfrm>
            <a:off x="13511104" y="1327532"/>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EVALUACIÓN SUBJETIVA</a:t>
            </a:r>
          </a:p>
        </p:txBody>
      </p:sp>
      <p:sp>
        <p:nvSpPr>
          <p:cNvPr id="112" name="TextBox 6">
            <a:extLst>
              <a:ext uri="{FF2B5EF4-FFF2-40B4-BE49-F238E27FC236}">
                <a16:creationId xmlns:a16="http://schemas.microsoft.com/office/drawing/2014/main" id="{8CCF013C-4A1C-FCED-1F12-2EB296994D35}"/>
              </a:ext>
            </a:extLst>
          </p:cNvPr>
          <p:cNvSpPr txBox="1"/>
          <p:nvPr/>
        </p:nvSpPr>
        <p:spPr>
          <a:xfrm>
            <a:off x="13511103" y="2833893"/>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LESIONES PREVENIBLES</a:t>
            </a:r>
          </a:p>
        </p:txBody>
      </p:sp>
      <p:sp>
        <p:nvSpPr>
          <p:cNvPr id="113" name="TextBox 7">
            <a:extLst>
              <a:ext uri="{FF2B5EF4-FFF2-40B4-BE49-F238E27FC236}">
                <a16:creationId xmlns:a16="http://schemas.microsoft.com/office/drawing/2014/main" id="{EFCD4EAD-EC45-A572-B315-4388E10DF97C}"/>
              </a:ext>
            </a:extLst>
          </p:cNvPr>
          <p:cNvSpPr txBox="1"/>
          <p:nvPr/>
        </p:nvSpPr>
        <p:spPr>
          <a:xfrm>
            <a:off x="13511102" y="4124808"/>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HARDWARE COSTOSO</a:t>
            </a:r>
          </a:p>
        </p:txBody>
      </p:sp>
      <p:sp>
        <p:nvSpPr>
          <p:cNvPr id="114" name="TextBox 8">
            <a:extLst>
              <a:ext uri="{FF2B5EF4-FFF2-40B4-BE49-F238E27FC236}">
                <a16:creationId xmlns:a16="http://schemas.microsoft.com/office/drawing/2014/main" id="{8F7A8C97-3160-4181-45A0-E39698DD9B1D}"/>
              </a:ext>
            </a:extLst>
          </p:cNvPr>
          <p:cNvSpPr txBox="1"/>
          <p:nvPr/>
        </p:nvSpPr>
        <p:spPr>
          <a:xfrm>
            <a:off x="13511101" y="5399281"/>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PÉRDIDA DE COMPETITIVIDAD</a:t>
            </a:r>
          </a:p>
        </p:txBody>
      </p:sp>
      <p:sp>
        <p:nvSpPr>
          <p:cNvPr id="115" name="TextBox 9">
            <a:extLst>
              <a:ext uri="{FF2B5EF4-FFF2-40B4-BE49-F238E27FC236}">
                <a16:creationId xmlns:a16="http://schemas.microsoft.com/office/drawing/2014/main" id="{321973CA-E86E-0671-C098-B7D181806507}"/>
              </a:ext>
            </a:extLst>
          </p:cNvPr>
          <p:cNvSpPr txBox="1"/>
          <p:nvPr/>
        </p:nvSpPr>
        <p:spPr>
          <a:xfrm>
            <a:off x="13511104" y="1862339"/>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u="none" strike="noStrike" noProof="0" dirty="0">
                <a:solidFill>
                  <a:srgbClr val="FFFFFF"/>
                </a:solidFill>
                <a:latin typeface="Montserrat"/>
                <a:ea typeface="Montserrat"/>
                <a:cs typeface="Montserrat"/>
                <a:sym typeface="Montserrat"/>
              </a:rPr>
              <a:t>Los cuerpos técnicos toman decisiones tácticas y de rendimiento sin datos objetivos, basándose únicamente en percepción subjetiva y observación visual limitada.</a:t>
            </a:r>
          </a:p>
        </p:txBody>
      </p:sp>
      <p:sp>
        <p:nvSpPr>
          <p:cNvPr id="116" name="TextBox 10">
            <a:extLst>
              <a:ext uri="{FF2B5EF4-FFF2-40B4-BE49-F238E27FC236}">
                <a16:creationId xmlns:a16="http://schemas.microsoft.com/office/drawing/2014/main" id="{4BBF6EA9-0BC7-2EE1-5338-F3486487F86A}"/>
              </a:ext>
            </a:extLst>
          </p:cNvPr>
          <p:cNvSpPr txBox="1"/>
          <p:nvPr/>
        </p:nvSpPr>
        <p:spPr>
          <a:xfrm>
            <a:off x="13511104" y="3262728"/>
            <a:ext cx="6545626" cy="550985"/>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La ausencia de monitoreo biomecánico continuo impide detectar asimetrías y sobrecargas a tiempo, dejando lesiones musculares completamente prevenibles sin atención.</a:t>
            </a:r>
          </a:p>
        </p:txBody>
      </p:sp>
      <p:sp>
        <p:nvSpPr>
          <p:cNvPr id="117" name="TextBox 11">
            <a:extLst>
              <a:ext uri="{FF2B5EF4-FFF2-40B4-BE49-F238E27FC236}">
                <a16:creationId xmlns:a16="http://schemas.microsoft.com/office/drawing/2014/main" id="{1EE9D1BC-7027-0DE9-836E-D47EC2020D1A}"/>
              </a:ext>
            </a:extLst>
          </p:cNvPr>
          <p:cNvSpPr txBox="1"/>
          <p:nvPr/>
        </p:nvSpPr>
        <p:spPr>
          <a:xfrm>
            <a:off x="13511104" y="4537201"/>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Sistemas de tracking propietarios requieren cámaras y GPS especializados con costos superiores a USD 10,000, inaccesibles para clubes de segunda división y academias.</a:t>
            </a:r>
          </a:p>
        </p:txBody>
      </p:sp>
      <p:sp>
        <p:nvSpPr>
          <p:cNvPr id="118" name="TextBox 12">
            <a:extLst>
              <a:ext uri="{FF2B5EF4-FFF2-40B4-BE49-F238E27FC236}">
                <a16:creationId xmlns:a16="http://schemas.microsoft.com/office/drawing/2014/main" id="{1FABDA18-6A98-7579-BFC0-2735D8D26FC5}"/>
              </a:ext>
            </a:extLst>
          </p:cNvPr>
          <p:cNvSpPr txBox="1"/>
          <p:nvPr/>
        </p:nvSpPr>
        <p:spPr>
          <a:xfrm>
            <a:off x="13511104" y="5828116"/>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Los clubes formativos y sub-élite operan "a ciegas", perdiendo talento y competitividad frente a élites con acceso a inteligencia deportiva avanzada.</a:t>
            </a:r>
          </a:p>
        </p:txBody>
      </p:sp>
      <p:grpSp>
        <p:nvGrpSpPr>
          <p:cNvPr id="119" name="Group 13">
            <a:extLst>
              <a:ext uri="{FF2B5EF4-FFF2-40B4-BE49-F238E27FC236}">
                <a16:creationId xmlns:a16="http://schemas.microsoft.com/office/drawing/2014/main" id="{3E8C97D7-92F2-2F5D-AE4F-4F7894AD92E0}"/>
              </a:ext>
            </a:extLst>
          </p:cNvPr>
          <p:cNvGrpSpPr/>
          <p:nvPr/>
        </p:nvGrpSpPr>
        <p:grpSpPr>
          <a:xfrm>
            <a:off x="12824803" y="1535629"/>
            <a:ext cx="516267" cy="220738"/>
            <a:chOff x="0" y="0"/>
            <a:chExt cx="349533" cy="158342"/>
          </a:xfrm>
        </p:grpSpPr>
        <p:sp>
          <p:nvSpPr>
            <p:cNvPr id="120" name="Freeform 14">
              <a:extLst>
                <a:ext uri="{FF2B5EF4-FFF2-40B4-BE49-F238E27FC236}">
                  <a16:creationId xmlns:a16="http://schemas.microsoft.com/office/drawing/2014/main" id="{26B710DE-5B64-91DF-D166-097593CC95DD}"/>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121" name="TextBox 15">
              <a:extLst>
                <a:ext uri="{FF2B5EF4-FFF2-40B4-BE49-F238E27FC236}">
                  <a16:creationId xmlns:a16="http://schemas.microsoft.com/office/drawing/2014/main" id="{A447D5EA-DFEA-0F0D-5743-473CB75152EA}"/>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122" name="Freeform 25">
            <a:extLst>
              <a:ext uri="{FF2B5EF4-FFF2-40B4-BE49-F238E27FC236}">
                <a16:creationId xmlns:a16="http://schemas.microsoft.com/office/drawing/2014/main" id="{632B16FE-C7A2-5CF5-9D1F-7A60BAAF7741}"/>
              </a:ext>
            </a:extLst>
          </p:cNvPr>
          <p:cNvSpPr/>
          <p:nvPr/>
        </p:nvSpPr>
        <p:spPr>
          <a:xfrm>
            <a:off x="12957891" y="1564369"/>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123" name="Group 13">
            <a:extLst>
              <a:ext uri="{FF2B5EF4-FFF2-40B4-BE49-F238E27FC236}">
                <a16:creationId xmlns:a16="http://schemas.microsoft.com/office/drawing/2014/main" id="{21240FA0-AA90-D410-EB6D-EF7BBEBE36CB}"/>
              </a:ext>
            </a:extLst>
          </p:cNvPr>
          <p:cNvGrpSpPr/>
          <p:nvPr/>
        </p:nvGrpSpPr>
        <p:grpSpPr>
          <a:xfrm>
            <a:off x="12824803" y="3041990"/>
            <a:ext cx="516267" cy="220738"/>
            <a:chOff x="0" y="0"/>
            <a:chExt cx="349533" cy="158342"/>
          </a:xfrm>
        </p:grpSpPr>
        <p:sp>
          <p:nvSpPr>
            <p:cNvPr id="124" name="Freeform 14">
              <a:extLst>
                <a:ext uri="{FF2B5EF4-FFF2-40B4-BE49-F238E27FC236}">
                  <a16:creationId xmlns:a16="http://schemas.microsoft.com/office/drawing/2014/main" id="{5F717C97-0158-875A-54FD-CBB86FA13B0C}"/>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125" name="TextBox 15">
              <a:extLst>
                <a:ext uri="{FF2B5EF4-FFF2-40B4-BE49-F238E27FC236}">
                  <a16:creationId xmlns:a16="http://schemas.microsoft.com/office/drawing/2014/main" id="{F6863F10-399F-7AB3-7B05-BE581879FBCD}"/>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126" name="Freeform 25">
            <a:extLst>
              <a:ext uri="{FF2B5EF4-FFF2-40B4-BE49-F238E27FC236}">
                <a16:creationId xmlns:a16="http://schemas.microsoft.com/office/drawing/2014/main" id="{E2BA1037-2CBE-4C54-B10D-44FC355BADC9}"/>
              </a:ext>
            </a:extLst>
          </p:cNvPr>
          <p:cNvSpPr/>
          <p:nvPr/>
        </p:nvSpPr>
        <p:spPr>
          <a:xfrm>
            <a:off x="12957891" y="3070730"/>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127" name="Group 13">
            <a:extLst>
              <a:ext uri="{FF2B5EF4-FFF2-40B4-BE49-F238E27FC236}">
                <a16:creationId xmlns:a16="http://schemas.microsoft.com/office/drawing/2014/main" id="{1457718A-00FA-B0DC-D0F3-FE50B003BF31}"/>
              </a:ext>
            </a:extLst>
          </p:cNvPr>
          <p:cNvGrpSpPr/>
          <p:nvPr/>
        </p:nvGrpSpPr>
        <p:grpSpPr>
          <a:xfrm>
            <a:off x="12824803" y="4332905"/>
            <a:ext cx="516267" cy="220738"/>
            <a:chOff x="0" y="0"/>
            <a:chExt cx="349533" cy="158342"/>
          </a:xfrm>
        </p:grpSpPr>
        <p:sp>
          <p:nvSpPr>
            <p:cNvPr id="128" name="Freeform 14">
              <a:extLst>
                <a:ext uri="{FF2B5EF4-FFF2-40B4-BE49-F238E27FC236}">
                  <a16:creationId xmlns:a16="http://schemas.microsoft.com/office/drawing/2014/main" id="{CA9D4F5D-071C-31B7-BA50-E0255F31AF94}"/>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129" name="TextBox 15">
              <a:extLst>
                <a:ext uri="{FF2B5EF4-FFF2-40B4-BE49-F238E27FC236}">
                  <a16:creationId xmlns:a16="http://schemas.microsoft.com/office/drawing/2014/main" id="{DB37BB48-484C-D64D-CA4F-2E51F4539FC3}"/>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130" name="Freeform 25">
            <a:extLst>
              <a:ext uri="{FF2B5EF4-FFF2-40B4-BE49-F238E27FC236}">
                <a16:creationId xmlns:a16="http://schemas.microsoft.com/office/drawing/2014/main" id="{4E4B475F-3FAA-5310-11C0-6038C5A94121}"/>
              </a:ext>
            </a:extLst>
          </p:cNvPr>
          <p:cNvSpPr/>
          <p:nvPr/>
        </p:nvSpPr>
        <p:spPr>
          <a:xfrm>
            <a:off x="12957891" y="4361645"/>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131" name="Group 13">
            <a:extLst>
              <a:ext uri="{FF2B5EF4-FFF2-40B4-BE49-F238E27FC236}">
                <a16:creationId xmlns:a16="http://schemas.microsoft.com/office/drawing/2014/main" id="{F6FE93BE-E04C-6B44-1D49-657FC30ACA4A}"/>
              </a:ext>
            </a:extLst>
          </p:cNvPr>
          <p:cNvGrpSpPr/>
          <p:nvPr/>
        </p:nvGrpSpPr>
        <p:grpSpPr>
          <a:xfrm>
            <a:off x="12824803" y="5607378"/>
            <a:ext cx="516267" cy="220738"/>
            <a:chOff x="0" y="0"/>
            <a:chExt cx="349533" cy="158342"/>
          </a:xfrm>
        </p:grpSpPr>
        <p:sp>
          <p:nvSpPr>
            <p:cNvPr id="132" name="Freeform 14">
              <a:extLst>
                <a:ext uri="{FF2B5EF4-FFF2-40B4-BE49-F238E27FC236}">
                  <a16:creationId xmlns:a16="http://schemas.microsoft.com/office/drawing/2014/main" id="{35DD8810-EF74-27EA-26C9-73958666296D}"/>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133" name="TextBox 15">
              <a:extLst>
                <a:ext uri="{FF2B5EF4-FFF2-40B4-BE49-F238E27FC236}">
                  <a16:creationId xmlns:a16="http://schemas.microsoft.com/office/drawing/2014/main" id="{54E48DD1-A183-DEA5-A45F-ADF9D1343DF1}"/>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134" name="Freeform 25">
            <a:extLst>
              <a:ext uri="{FF2B5EF4-FFF2-40B4-BE49-F238E27FC236}">
                <a16:creationId xmlns:a16="http://schemas.microsoft.com/office/drawing/2014/main" id="{1D1EDA7F-EA7A-FD6D-33ED-BB8A392EE5B6}"/>
              </a:ext>
            </a:extLst>
          </p:cNvPr>
          <p:cNvSpPr/>
          <p:nvPr/>
        </p:nvSpPr>
        <p:spPr>
          <a:xfrm>
            <a:off x="12957891" y="5636118"/>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sp>
        <p:nvSpPr>
          <p:cNvPr id="136" name="TextBox 7">
            <a:extLst>
              <a:ext uri="{FF2B5EF4-FFF2-40B4-BE49-F238E27FC236}">
                <a16:creationId xmlns:a16="http://schemas.microsoft.com/office/drawing/2014/main" id="{8A40DF3F-0CC6-86A4-1F3C-5248C2B7970F}"/>
              </a:ext>
            </a:extLst>
          </p:cNvPr>
          <p:cNvSpPr txBox="1"/>
          <p:nvPr/>
        </p:nvSpPr>
        <p:spPr>
          <a:xfrm>
            <a:off x="13363046" y="1619441"/>
            <a:ext cx="5931471" cy="4293291"/>
          </a:xfrm>
          <a:prstGeom prst="rect">
            <a:avLst/>
          </a:prstGeom>
        </p:spPr>
        <p:txBody>
          <a:bodyPr lIns="0" tIns="0" rIns="0" bIns="0" rtlCol="0" anchor="t">
            <a:spAutoFit/>
          </a:bodyPr>
          <a:lstStyle/>
          <a:p>
            <a:pPr marL="0" lvl="0" indent="0" algn="just">
              <a:lnSpc>
                <a:spcPts val="2362"/>
              </a:lnSpc>
            </a:pPr>
            <a:r>
              <a:rPr lang="es-CL" sz="1936" noProof="0" dirty="0">
                <a:latin typeface="Montserrat"/>
                <a:ea typeface="Montserrat"/>
                <a:cs typeface="Montserrat"/>
                <a:sym typeface="Montserrat"/>
              </a:rPr>
              <a:t>FUT.AI es una plataforma B2B SaaS 100% automatizada que combina Inteligencia Artificial y Visión por Computadora para transformar el análisis táctico y biomecánico en el fútbol.</a:t>
            </a:r>
          </a:p>
          <a:p>
            <a:pPr marL="0" lvl="0" indent="0" algn="just">
              <a:lnSpc>
                <a:spcPts val="2362"/>
              </a:lnSpc>
            </a:pPr>
            <a:r>
              <a:rPr lang="es-CL" sz="1936" noProof="0" dirty="0">
                <a:latin typeface="Montserrat"/>
                <a:ea typeface="Montserrat"/>
                <a:cs typeface="Montserrat"/>
                <a:sym typeface="Montserrat"/>
              </a:rPr>
              <a:t>Diseñada para equipos profesionales y formativos, opera de forma agnóstica al hardware: solo requiere video MP4 estándar, eliminando la necesidad de costosas cámaras propietarias o dispositivos GPS.</a:t>
            </a:r>
          </a:p>
          <a:p>
            <a:pPr marL="0" lvl="0" indent="0" algn="just">
              <a:lnSpc>
                <a:spcPts val="2362"/>
              </a:lnSpc>
            </a:pPr>
            <a:r>
              <a:rPr lang="es-CL" sz="1936" noProof="0" dirty="0">
                <a:latin typeface="Montserrat"/>
                <a:ea typeface="Montserrat"/>
                <a:cs typeface="Montserrat"/>
                <a:sym typeface="Montserrat"/>
              </a:rPr>
              <a:t>Nuestra misión es democratizar la inteligencia deportiva avanzada, poniendo herramientas de élite al alcance de los 15,000 clubes sub-élite que hoy operan sin datos objetivos.</a:t>
            </a:r>
          </a:p>
        </p:txBody>
      </p:sp>
    </p:spTree>
    <p:extLst>
      <p:ext uri="{BB962C8B-B14F-4D97-AF65-F5344CB8AC3E}">
        <p14:creationId xmlns:p14="http://schemas.microsoft.com/office/powerpoint/2010/main" val="3109465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98B24-7C5B-F6B4-EB66-FD5AFCDE0FE7}"/>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3AF50BB3-8DB0-4760-AE71-49F6BC545384}"/>
              </a:ext>
            </a:extLst>
          </p:cNvPr>
          <p:cNvPicPr preferRelativeResize="0">
            <a:picLocks noChangeAspect="1"/>
          </p:cNvPicPr>
          <p:nvPr/>
        </p:nvPicPr>
        <p:blipFill>
          <a:blip r:embed="rId3"/>
          <a:srcRect/>
          <a:stretch>
            <a:fillRect/>
          </a:stretch>
        </p:blipFill>
        <p:spPr>
          <a:xfrm rot="15893212">
            <a:off x="12317157" y="-8014277"/>
            <a:ext cx="4810883" cy="12321824"/>
          </a:xfrm>
          <a:prstGeom prst="rect">
            <a:avLst/>
          </a:prstGeom>
        </p:spPr>
      </p:pic>
      <p:pic>
        <p:nvPicPr>
          <p:cNvPr id="12" name="Imagen 11">
            <a:extLst>
              <a:ext uri="{FF2B5EF4-FFF2-40B4-BE49-F238E27FC236}">
                <a16:creationId xmlns:a16="http://schemas.microsoft.com/office/drawing/2014/main" id="{ED3C076C-A2F0-16BB-2256-29520F76D167}"/>
              </a:ext>
            </a:extLst>
          </p:cNvPr>
          <p:cNvPicPr>
            <a:picLocks noChangeAspect="1"/>
          </p:cNvPicPr>
          <p:nvPr/>
        </p:nvPicPr>
        <p:blipFill>
          <a:blip r:embed="rId4"/>
          <a:srcRect/>
          <a:stretch>
            <a:fillRect/>
          </a:stretch>
        </p:blipFill>
        <p:spPr>
          <a:xfrm rot="15974694" flipV="1">
            <a:off x="-2493704" y="-3736394"/>
            <a:ext cx="8942846" cy="6448570"/>
          </a:xfrm>
          <a:prstGeom prst="rect">
            <a:avLst/>
          </a:prstGeom>
        </p:spPr>
      </p:pic>
      <p:sp>
        <p:nvSpPr>
          <p:cNvPr id="4" name="Rectángulo 3">
            <a:extLst>
              <a:ext uri="{FF2B5EF4-FFF2-40B4-BE49-F238E27FC236}">
                <a16:creationId xmlns:a16="http://schemas.microsoft.com/office/drawing/2014/main" id="{56060326-E112-988B-0B35-16DBFF8E1047}"/>
              </a:ext>
            </a:extLst>
          </p:cNvPr>
          <p:cNvSpPr/>
          <p:nvPr/>
        </p:nvSpPr>
        <p:spPr>
          <a:xfrm>
            <a:off x="3710487" y="-25400"/>
            <a:ext cx="8481513" cy="69088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mc:AlternateContent xmlns:mc="http://schemas.openxmlformats.org/markup-compatibility/2006">
        <mc:Choice xmlns:am3d="http://schemas.microsoft.com/office/drawing/2017/model3d" Requires="am3d">
          <p:graphicFrame>
            <p:nvGraphicFramePr>
              <p:cNvPr id="2" name="Modelo 3D 1">
                <a:extLst>
                  <a:ext uri="{FF2B5EF4-FFF2-40B4-BE49-F238E27FC236}">
                    <a16:creationId xmlns:a16="http://schemas.microsoft.com/office/drawing/2014/main" id="{3C7320DD-1338-925C-2739-63F67F0AF1E8}"/>
                  </a:ext>
                </a:extLst>
              </p:cNvPr>
              <p:cNvGraphicFramePr>
                <a:graphicFrameLocks noChangeAspect="1"/>
              </p:cNvGraphicFramePr>
              <p:nvPr>
                <p:extLst>
                  <p:ext uri="{D42A27DB-BD31-4B8C-83A1-F6EECF244321}">
                    <p14:modId xmlns:p14="http://schemas.microsoft.com/office/powerpoint/2010/main" val="3255287427"/>
                  </p:ext>
                </p:extLst>
              </p:nvPr>
            </p:nvGraphicFramePr>
            <p:xfrm>
              <a:off x="845680" y="4151364"/>
              <a:ext cx="2264075" cy="2283101"/>
            </p:xfrm>
            <a:graphic>
              <a:graphicData uri="http://schemas.microsoft.com/office/drawing/2017/model3d">
                <am3d:model3d r:embed="rId5">
                  <am3d:spPr>
                    <a:xfrm>
                      <a:off x="0" y="0"/>
                      <a:ext cx="2264075" cy="2283101"/>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1546058" ay="-855076" az="10393534"/>
                    <am3d:postTrans dx="0" dy="0" dz="0"/>
                  </am3d:trans>
                  <am3d:raster rName="Office3DRenderer" rVer="16.0.8326">
                    <am3d:blip r:embed="rId6"/>
                  </am3d:raster>
                  <am3d:objViewport viewportSz="601216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o 3D 1">
                <a:extLst>
                  <a:ext uri="{FF2B5EF4-FFF2-40B4-BE49-F238E27FC236}">
                    <a16:creationId xmlns:a16="http://schemas.microsoft.com/office/drawing/2014/main" id="{3C7320DD-1338-925C-2739-63F67F0AF1E8}"/>
                  </a:ext>
                </a:extLst>
              </p:cNvPr>
              <p:cNvPicPr>
                <a:picLocks noGrp="1" noRot="1" noChangeAspect="1" noMove="1" noResize="1" noEditPoints="1" noAdjustHandles="1" noChangeArrowheads="1" noChangeShapeType="1" noCrop="1"/>
              </p:cNvPicPr>
              <p:nvPr/>
            </p:nvPicPr>
            <p:blipFill>
              <a:blip r:embed="rId6"/>
              <a:stretch>
                <a:fillRect/>
              </a:stretch>
            </p:blipFill>
            <p:spPr>
              <a:xfrm>
                <a:off x="845680" y="4151364"/>
                <a:ext cx="2264075" cy="2283101"/>
              </a:xfrm>
              <a:prstGeom prst="rect">
                <a:avLst/>
              </a:prstGeom>
            </p:spPr>
          </p:pic>
        </mc:Fallback>
      </mc:AlternateContent>
      <p:sp>
        <p:nvSpPr>
          <p:cNvPr id="7" name="CuadroTexto 6">
            <a:extLst>
              <a:ext uri="{FF2B5EF4-FFF2-40B4-BE49-F238E27FC236}">
                <a16:creationId xmlns:a16="http://schemas.microsoft.com/office/drawing/2014/main" id="{4401DCE9-EC1F-39FB-F3D2-33996680689D}"/>
              </a:ext>
            </a:extLst>
          </p:cNvPr>
          <p:cNvSpPr txBox="1"/>
          <p:nvPr/>
        </p:nvSpPr>
        <p:spPr>
          <a:xfrm>
            <a:off x="606950" y="433046"/>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rgbClr val="FFFFFF"/>
                </a:solidFill>
                <a:latin typeface="Montserrat Bold"/>
                <a:ea typeface="Montserrat Bold"/>
                <a:cs typeface="Montserrat Bold"/>
                <a:sym typeface="Montserrat Bold"/>
              </a:rPr>
              <a:t>Fut.Ai</a:t>
            </a:r>
          </a:p>
        </p:txBody>
      </p:sp>
      <p:pic>
        <p:nvPicPr>
          <p:cNvPr id="6" name="Imagen 5">
            <a:extLst>
              <a:ext uri="{FF2B5EF4-FFF2-40B4-BE49-F238E27FC236}">
                <a16:creationId xmlns:a16="http://schemas.microsoft.com/office/drawing/2014/main" id="{0136A1EE-E5DE-CDB1-D7EB-CF2C97ADD91A}"/>
              </a:ext>
            </a:extLst>
          </p:cNvPr>
          <p:cNvPicPr>
            <a:picLocks noChangeAspect="1"/>
          </p:cNvPicPr>
          <p:nvPr/>
        </p:nvPicPr>
        <p:blipFill>
          <a:blip r:embed="rId7"/>
          <a:srcRect/>
          <a:stretch>
            <a:fillRect/>
          </a:stretch>
        </p:blipFill>
        <p:spPr>
          <a:xfrm>
            <a:off x="2468310" y="633293"/>
            <a:ext cx="996664" cy="863537"/>
          </a:xfrm>
          <a:prstGeom prst="rect">
            <a:avLst/>
          </a:prstGeom>
        </p:spPr>
      </p:pic>
      <p:sp>
        <p:nvSpPr>
          <p:cNvPr id="10" name="CuadroTexto 9">
            <a:extLst>
              <a:ext uri="{FF2B5EF4-FFF2-40B4-BE49-F238E27FC236}">
                <a16:creationId xmlns:a16="http://schemas.microsoft.com/office/drawing/2014/main" id="{58020ED2-20B3-F307-0D29-E2ECEA1CE19E}"/>
              </a:ext>
            </a:extLst>
          </p:cNvPr>
          <p:cNvSpPr txBox="1"/>
          <p:nvPr/>
        </p:nvSpPr>
        <p:spPr>
          <a:xfrm>
            <a:off x="5156300" y="376043"/>
            <a:ext cx="5589885" cy="1096006"/>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bg1">
                    <a:lumMod val="85000"/>
                  </a:schemeClr>
                </a:solidFill>
                <a:latin typeface="Montserrat Bold"/>
                <a:ea typeface="Montserrat Bold"/>
                <a:cs typeface="Montserrat Bold"/>
                <a:sym typeface="Montserrat Bold"/>
              </a:rPr>
              <a:t>Problemática</a:t>
            </a:r>
            <a:r>
              <a:rPr lang="es-CL" sz="6600" b="1" spc="-557" noProof="0" dirty="0">
                <a:solidFill>
                  <a:srgbClr val="4AEFD8"/>
                </a:solidFill>
                <a:latin typeface="Montserrat Bold"/>
                <a:ea typeface="Montserrat Bold"/>
                <a:cs typeface="Montserrat Bold"/>
                <a:sym typeface="Montserrat Bold"/>
              </a:rPr>
              <a:t> </a:t>
            </a:r>
          </a:p>
        </p:txBody>
      </p:sp>
      <p:sp>
        <p:nvSpPr>
          <p:cNvPr id="8" name="TextBox 5">
            <a:extLst>
              <a:ext uri="{FF2B5EF4-FFF2-40B4-BE49-F238E27FC236}">
                <a16:creationId xmlns:a16="http://schemas.microsoft.com/office/drawing/2014/main" id="{370EDCB1-BC61-08B9-3A51-8EBE55CEAF7B}"/>
              </a:ext>
            </a:extLst>
          </p:cNvPr>
          <p:cNvSpPr txBox="1"/>
          <p:nvPr/>
        </p:nvSpPr>
        <p:spPr>
          <a:xfrm>
            <a:off x="5326334" y="1493024"/>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EVALUACIÓN SUBJETIVA</a:t>
            </a:r>
          </a:p>
        </p:txBody>
      </p:sp>
      <p:sp>
        <p:nvSpPr>
          <p:cNvPr id="13" name="TextBox 6">
            <a:extLst>
              <a:ext uri="{FF2B5EF4-FFF2-40B4-BE49-F238E27FC236}">
                <a16:creationId xmlns:a16="http://schemas.microsoft.com/office/drawing/2014/main" id="{D4714206-314A-657A-1792-FD05CA0C55DD}"/>
              </a:ext>
            </a:extLst>
          </p:cNvPr>
          <p:cNvSpPr txBox="1"/>
          <p:nvPr/>
        </p:nvSpPr>
        <p:spPr>
          <a:xfrm>
            <a:off x="5326333" y="2999385"/>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LESIONES PREVENIBLES</a:t>
            </a:r>
          </a:p>
        </p:txBody>
      </p:sp>
      <p:sp>
        <p:nvSpPr>
          <p:cNvPr id="15" name="TextBox 7">
            <a:extLst>
              <a:ext uri="{FF2B5EF4-FFF2-40B4-BE49-F238E27FC236}">
                <a16:creationId xmlns:a16="http://schemas.microsoft.com/office/drawing/2014/main" id="{9723B745-6372-F688-36FB-749F1748210F}"/>
              </a:ext>
            </a:extLst>
          </p:cNvPr>
          <p:cNvSpPr txBox="1"/>
          <p:nvPr/>
        </p:nvSpPr>
        <p:spPr>
          <a:xfrm>
            <a:off x="5326332" y="4290300"/>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HARDWARE COSTOSO</a:t>
            </a:r>
          </a:p>
        </p:txBody>
      </p:sp>
      <p:sp>
        <p:nvSpPr>
          <p:cNvPr id="17" name="TextBox 8">
            <a:extLst>
              <a:ext uri="{FF2B5EF4-FFF2-40B4-BE49-F238E27FC236}">
                <a16:creationId xmlns:a16="http://schemas.microsoft.com/office/drawing/2014/main" id="{08A6CDC6-AECA-FF6D-0F1F-D94BEFDC4010}"/>
              </a:ext>
            </a:extLst>
          </p:cNvPr>
          <p:cNvSpPr txBox="1"/>
          <p:nvPr/>
        </p:nvSpPr>
        <p:spPr>
          <a:xfrm>
            <a:off x="5326331" y="5564773"/>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PÉRDIDA DE COMPETITIVIDAD</a:t>
            </a:r>
          </a:p>
        </p:txBody>
      </p:sp>
      <p:sp>
        <p:nvSpPr>
          <p:cNvPr id="19" name="TextBox 9">
            <a:extLst>
              <a:ext uri="{FF2B5EF4-FFF2-40B4-BE49-F238E27FC236}">
                <a16:creationId xmlns:a16="http://schemas.microsoft.com/office/drawing/2014/main" id="{93137855-30B3-F0D7-2EDA-BE386D76CCE9}"/>
              </a:ext>
            </a:extLst>
          </p:cNvPr>
          <p:cNvSpPr txBox="1"/>
          <p:nvPr/>
        </p:nvSpPr>
        <p:spPr>
          <a:xfrm>
            <a:off x="5326334" y="2027831"/>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u="none" strike="noStrike" noProof="0" dirty="0">
                <a:solidFill>
                  <a:srgbClr val="FFFFFF"/>
                </a:solidFill>
                <a:latin typeface="Montserrat"/>
                <a:ea typeface="Montserrat"/>
                <a:cs typeface="Montserrat"/>
                <a:sym typeface="Montserrat"/>
              </a:rPr>
              <a:t>Los cuerpos técnicos toman decisiones tácticas y de rendimiento sin datos objetivos, basándose únicamente en percepción subjetiva y observación visual limitada.</a:t>
            </a:r>
          </a:p>
        </p:txBody>
      </p:sp>
      <p:sp>
        <p:nvSpPr>
          <p:cNvPr id="21" name="TextBox 10">
            <a:extLst>
              <a:ext uri="{FF2B5EF4-FFF2-40B4-BE49-F238E27FC236}">
                <a16:creationId xmlns:a16="http://schemas.microsoft.com/office/drawing/2014/main" id="{358B01C5-6F4F-226A-A526-7DB4994979E7}"/>
              </a:ext>
            </a:extLst>
          </p:cNvPr>
          <p:cNvSpPr txBox="1"/>
          <p:nvPr/>
        </p:nvSpPr>
        <p:spPr>
          <a:xfrm>
            <a:off x="5326334" y="3428220"/>
            <a:ext cx="6545626" cy="550985"/>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La ausencia de monitoreo biomecánico continuo impide detectar asimetrías y sobrecargas a tiempo, dejando lesiones musculares completamente prevenibles sin atención.</a:t>
            </a:r>
          </a:p>
        </p:txBody>
      </p:sp>
      <p:sp>
        <p:nvSpPr>
          <p:cNvPr id="23" name="TextBox 11">
            <a:extLst>
              <a:ext uri="{FF2B5EF4-FFF2-40B4-BE49-F238E27FC236}">
                <a16:creationId xmlns:a16="http://schemas.microsoft.com/office/drawing/2014/main" id="{6D85E8B4-A027-27AA-5B41-707C34631F65}"/>
              </a:ext>
            </a:extLst>
          </p:cNvPr>
          <p:cNvSpPr txBox="1"/>
          <p:nvPr/>
        </p:nvSpPr>
        <p:spPr>
          <a:xfrm>
            <a:off x="5326334" y="4702693"/>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Sistemas de tracking propietarios requieren cámaras y GPS especializados con costos superiores a USD 10,000, inaccesibles para clubes de segunda división y academias.</a:t>
            </a:r>
          </a:p>
        </p:txBody>
      </p:sp>
      <p:sp>
        <p:nvSpPr>
          <p:cNvPr id="25" name="TextBox 12">
            <a:extLst>
              <a:ext uri="{FF2B5EF4-FFF2-40B4-BE49-F238E27FC236}">
                <a16:creationId xmlns:a16="http://schemas.microsoft.com/office/drawing/2014/main" id="{209408EA-28B3-944E-7FB1-91E4890373BF}"/>
              </a:ext>
            </a:extLst>
          </p:cNvPr>
          <p:cNvSpPr txBox="1"/>
          <p:nvPr/>
        </p:nvSpPr>
        <p:spPr>
          <a:xfrm>
            <a:off x="5326334" y="5993608"/>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Los clubes formativos y sub-élite operan "a ciegas", perdiendo talento y competitividad frente a élites con acceso a inteligencia deportiva avanzada.</a:t>
            </a:r>
          </a:p>
        </p:txBody>
      </p:sp>
      <p:grpSp>
        <p:nvGrpSpPr>
          <p:cNvPr id="26" name="Group 13">
            <a:extLst>
              <a:ext uri="{FF2B5EF4-FFF2-40B4-BE49-F238E27FC236}">
                <a16:creationId xmlns:a16="http://schemas.microsoft.com/office/drawing/2014/main" id="{AB4CC37E-2B09-D125-2107-A9F5F525E70C}"/>
              </a:ext>
            </a:extLst>
          </p:cNvPr>
          <p:cNvGrpSpPr/>
          <p:nvPr/>
        </p:nvGrpSpPr>
        <p:grpSpPr>
          <a:xfrm>
            <a:off x="4640033" y="1701121"/>
            <a:ext cx="516267" cy="220738"/>
            <a:chOff x="0" y="0"/>
            <a:chExt cx="349533" cy="158342"/>
          </a:xfrm>
        </p:grpSpPr>
        <p:sp>
          <p:nvSpPr>
            <p:cNvPr id="27" name="Freeform 14">
              <a:extLst>
                <a:ext uri="{FF2B5EF4-FFF2-40B4-BE49-F238E27FC236}">
                  <a16:creationId xmlns:a16="http://schemas.microsoft.com/office/drawing/2014/main" id="{74432577-2826-A705-B8BB-C9661780FB2B}"/>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28" name="TextBox 15">
              <a:extLst>
                <a:ext uri="{FF2B5EF4-FFF2-40B4-BE49-F238E27FC236}">
                  <a16:creationId xmlns:a16="http://schemas.microsoft.com/office/drawing/2014/main" id="{6E8CFF56-005A-9AB4-505D-BAB74813DFB7}"/>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29" name="Freeform 25">
            <a:extLst>
              <a:ext uri="{FF2B5EF4-FFF2-40B4-BE49-F238E27FC236}">
                <a16:creationId xmlns:a16="http://schemas.microsoft.com/office/drawing/2014/main" id="{52A17377-2F88-354A-EE7E-ABE8BFA65964}"/>
              </a:ext>
            </a:extLst>
          </p:cNvPr>
          <p:cNvSpPr/>
          <p:nvPr/>
        </p:nvSpPr>
        <p:spPr>
          <a:xfrm>
            <a:off x="4773121" y="1729861"/>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30" name="Group 13">
            <a:extLst>
              <a:ext uri="{FF2B5EF4-FFF2-40B4-BE49-F238E27FC236}">
                <a16:creationId xmlns:a16="http://schemas.microsoft.com/office/drawing/2014/main" id="{53533C08-09CB-C405-82B5-1BBA3F7AF9F7}"/>
              </a:ext>
            </a:extLst>
          </p:cNvPr>
          <p:cNvGrpSpPr/>
          <p:nvPr/>
        </p:nvGrpSpPr>
        <p:grpSpPr>
          <a:xfrm>
            <a:off x="4640033" y="3207482"/>
            <a:ext cx="516267" cy="220738"/>
            <a:chOff x="0" y="0"/>
            <a:chExt cx="349533" cy="158342"/>
          </a:xfrm>
        </p:grpSpPr>
        <p:sp>
          <p:nvSpPr>
            <p:cNvPr id="31" name="Freeform 14">
              <a:extLst>
                <a:ext uri="{FF2B5EF4-FFF2-40B4-BE49-F238E27FC236}">
                  <a16:creationId xmlns:a16="http://schemas.microsoft.com/office/drawing/2014/main" id="{3E7F208B-DD99-914A-EEE1-9371B6B152AE}"/>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32" name="TextBox 15">
              <a:extLst>
                <a:ext uri="{FF2B5EF4-FFF2-40B4-BE49-F238E27FC236}">
                  <a16:creationId xmlns:a16="http://schemas.microsoft.com/office/drawing/2014/main" id="{0D9F63BE-AB73-23B4-6E67-A97BA2A5E13C}"/>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33" name="Freeform 25">
            <a:extLst>
              <a:ext uri="{FF2B5EF4-FFF2-40B4-BE49-F238E27FC236}">
                <a16:creationId xmlns:a16="http://schemas.microsoft.com/office/drawing/2014/main" id="{521DC1D3-C6CF-0930-79B3-D42F931A361D}"/>
              </a:ext>
            </a:extLst>
          </p:cNvPr>
          <p:cNvSpPr/>
          <p:nvPr/>
        </p:nvSpPr>
        <p:spPr>
          <a:xfrm>
            <a:off x="4773121" y="3236222"/>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34" name="Group 13">
            <a:extLst>
              <a:ext uri="{FF2B5EF4-FFF2-40B4-BE49-F238E27FC236}">
                <a16:creationId xmlns:a16="http://schemas.microsoft.com/office/drawing/2014/main" id="{952431FC-231C-DBAA-D440-A86C8B438A6F}"/>
              </a:ext>
            </a:extLst>
          </p:cNvPr>
          <p:cNvGrpSpPr/>
          <p:nvPr/>
        </p:nvGrpSpPr>
        <p:grpSpPr>
          <a:xfrm>
            <a:off x="4640033" y="4498397"/>
            <a:ext cx="516267" cy="220738"/>
            <a:chOff x="0" y="0"/>
            <a:chExt cx="349533" cy="158342"/>
          </a:xfrm>
        </p:grpSpPr>
        <p:sp>
          <p:nvSpPr>
            <p:cNvPr id="35" name="Freeform 14">
              <a:extLst>
                <a:ext uri="{FF2B5EF4-FFF2-40B4-BE49-F238E27FC236}">
                  <a16:creationId xmlns:a16="http://schemas.microsoft.com/office/drawing/2014/main" id="{5F3DAA74-C219-8A10-FE3B-BC8AF1ADE3A6}"/>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36" name="TextBox 15">
              <a:extLst>
                <a:ext uri="{FF2B5EF4-FFF2-40B4-BE49-F238E27FC236}">
                  <a16:creationId xmlns:a16="http://schemas.microsoft.com/office/drawing/2014/main" id="{261E34A3-B682-51F6-A4AB-BC8C405F7113}"/>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37" name="Freeform 25">
            <a:extLst>
              <a:ext uri="{FF2B5EF4-FFF2-40B4-BE49-F238E27FC236}">
                <a16:creationId xmlns:a16="http://schemas.microsoft.com/office/drawing/2014/main" id="{F68C4F88-AB94-A7FC-8E6A-9994300BD39B}"/>
              </a:ext>
            </a:extLst>
          </p:cNvPr>
          <p:cNvSpPr/>
          <p:nvPr/>
        </p:nvSpPr>
        <p:spPr>
          <a:xfrm>
            <a:off x="4773121" y="4527137"/>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38" name="Group 13">
            <a:extLst>
              <a:ext uri="{FF2B5EF4-FFF2-40B4-BE49-F238E27FC236}">
                <a16:creationId xmlns:a16="http://schemas.microsoft.com/office/drawing/2014/main" id="{658AB324-A434-6D74-9A29-4EC6CB7A4126}"/>
              </a:ext>
            </a:extLst>
          </p:cNvPr>
          <p:cNvGrpSpPr/>
          <p:nvPr/>
        </p:nvGrpSpPr>
        <p:grpSpPr>
          <a:xfrm>
            <a:off x="4640033" y="5772870"/>
            <a:ext cx="516267" cy="220738"/>
            <a:chOff x="0" y="0"/>
            <a:chExt cx="349533" cy="158342"/>
          </a:xfrm>
        </p:grpSpPr>
        <p:sp>
          <p:nvSpPr>
            <p:cNvPr id="39" name="Freeform 14">
              <a:extLst>
                <a:ext uri="{FF2B5EF4-FFF2-40B4-BE49-F238E27FC236}">
                  <a16:creationId xmlns:a16="http://schemas.microsoft.com/office/drawing/2014/main" id="{282B2B02-24A9-0194-406A-A481C455CB6B}"/>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40" name="TextBox 15">
              <a:extLst>
                <a:ext uri="{FF2B5EF4-FFF2-40B4-BE49-F238E27FC236}">
                  <a16:creationId xmlns:a16="http://schemas.microsoft.com/office/drawing/2014/main" id="{BE72CC4C-63A2-6F9E-58C3-AE3722E022FA}"/>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41" name="Freeform 25">
            <a:extLst>
              <a:ext uri="{FF2B5EF4-FFF2-40B4-BE49-F238E27FC236}">
                <a16:creationId xmlns:a16="http://schemas.microsoft.com/office/drawing/2014/main" id="{4B68172B-B3F4-9D9A-9568-3C65A1F435AC}"/>
              </a:ext>
            </a:extLst>
          </p:cNvPr>
          <p:cNvSpPr/>
          <p:nvPr/>
        </p:nvSpPr>
        <p:spPr>
          <a:xfrm>
            <a:off x="4773121" y="5801610"/>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spTree>
    <p:extLst>
      <p:ext uri="{BB962C8B-B14F-4D97-AF65-F5344CB8AC3E}">
        <p14:creationId xmlns:p14="http://schemas.microsoft.com/office/powerpoint/2010/main" val="2303133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22B0-D860-2399-2377-BFECA235B076}"/>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63952BC-6D4F-998E-DF40-A73E68D38ECE}"/>
              </a:ext>
            </a:extLst>
          </p:cNvPr>
          <p:cNvPicPr preferRelativeResize="0">
            <a:picLocks noChangeAspect="1"/>
          </p:cNvPicPr>
          <p:nvPr/>
        </p:nvPicPr>
        <p:blipFill>
          <a:blip r:embed="rId3"/>
          <a:srcRect/>
          <a:stretch>
            <a:fillRect/>
          </a:stretch>
        </p:blipFill>
        <p:spPr>
          <a:xfrm rot="15893212">
            <a:off x="7447404" y="-10082687"/>
            <a:ext cx="4810883" cy="12321824"/>
          </a:xfrm>
          <a:prstGeom prst="rect">
            <a:avLst/>
          </a:prstGeom>
        </p:spPr>
      </p:pic>
      <p:pic>
        <p:nvPicPr>
          <p:cNvPr id="12" name="Imagen 11">
            <a:extLst>
              <a:ext uri="{FF2B5EF4-FFF2-40B4-BE49-F238E27FC236}">
                <a16:creationId xmlns:a16="http://schemas.microsoft.com/office/drawing/2014/main" id="{691C29EF-E738-E933-E0D9-F1336EA6D76A}"/>
              </a:ext>
            </a:extLst>
          </p:cNvPr>
          <p:cNvPicPr>
            <a:picLocks noChangeAspect="1"/>
          </p:cNvPicPr>
          <p:nvPr/>
        </p:nvPicPr>
        <p:blipFill>
          <a:blip r:embed="rId4"/>
          <a:srcRect/>
          <a:stretch>
            <a:fillRect/>
          </a:stretch>
        </p:blipFill>
        <p:spPr>
          <a:xfrm rot="15974694" flipV="1">
            <a:off x="-721971" y="-2518538"/>
            <a:ext cx="14049299" cy="11472289"/>
          </a:xfrm>
          <a:prstGeom prst="rect">
            <a:avLst/>
          </a:prstGeom>
        </p:spPr>
      </p:pic>
      <p:sp>
        <p:nvSpPr>
          <p:cNvPr id="4" name="Rectángulo 3">
            <a:extLst>
              <a:ext uri="{FF2B5EF4-FFF2-40B4-BE49-F238E27FC236}">
                <a16:creationId xmlns:a16="http://schemas.microsoft.com/office/drawing/2014/main" id="{12AD2AB8-8617-EFC6-E025-79D556E9E92E}"/>
              </a:ext>
            </a:extLst>
          </p:cNvPr>
          <p:cNvSpPr/>
          <p:nvPr/>
        </p:nvSpPr>
        <p:spPr>
          <a:xfrm>
            <a:off x="12910872" y="0"/>
            <a:ext cx="8481513" cy="68580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DD178022-0ECA-DE2A-592C-603E2B2CA389}"/>
              </a:ext>
            </a:extLst>
          </p:cNvPr>
          <p:cNvSpPr txBox="1"/>
          <p:nvPr/>
        </p:nvSpPr>
        <p:spPr>
          <a:xfrm>
            <a:off x="4424737" y="5792395"/>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tx1">
                    <a:lumMod val="85000"/>
                    <a:lumOff val="15000"/>
                  </a:schemeClr>
                </a:solidFill>
                <a:latin typeface="Montserrat Bold"/>
                <a:ea typeface="Montserrat Bold"/>
                <a:cs typeface="Montserrat Bold"/>
                <a:sym typeface="Montserrat Bold"/>
              </a:rPr>
              <a:t>Fut.Ai</a:t>
            </a:r>
          </a:p>
        </p:txBody>
      </p:sp>
      <p:pic>
        <p:nvPicPr>
          <p:cNvPr id="6" name="Imagen 5">
            <a:extLst>
              <a:ext uri="{FF2B5EF4-FFF2-40B4-BE49-F238E27FC236}">
                <a16:creationId xmlns:a16="http://schemas.microsoft.com/office/drawing/2014/main" id="{62FFD085-DE4B-B940-75DD-DCC46FBA07FC}"/>
              </a:ext>
            </a:extLst>
          </p:cNvPr>
          <p:cNvPicPr>
            <a:picLocks noChangeAspect="1"/>
          </p:cNvPicPr>
          <p:nvPr/>
        </p:nvPicPr>
        <p:blipFill>
          <a:blip r:embed="rId5"/>
          <a:srcRect/>
          <a:stretch>
            <a:fillRect/>
          </a:stretch>
        </p:blipFill>
        <p:spPr>
          <a:xfrm>
            <a:off x="6282488" y="5996899"/>
            <a:ext cx="996664" cy="863537"/>
          </a:xfrm>
          <a:prstGeom prst="rect">
            <a:avLst/>
          </a:prstGeom>
        </p:spPr>
      </p:pic>
      <p:sp>
        <p:nvSpPr>
          <p:cNvPr id="10" name="CuadroTexto 9">
            <a:extLst>
              <a:ext uri="{FF2B5EF4-FFF2-40B4-BE49-F238E27FC236}">
                <a16:creationId xmlns:a16="http://schemas.microsoft.com/office/drawing/2014/main" id="{98934A37-414B-99A0-528B-1E12CDED7B03}"/>
              </a:ext>
            </a:extLst>
          </p:cNvPr>
          <p:cNvSpPr txBox="1"/>
          <p:nvPr/>
        </p:nvSpPr>
        <p:spPr>
          <a:xfrm>
            <a:off x="2674161" y="233967"/>
            <a:ext cx="6843679" cy="1092607"/>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bg1">
                    <a:lumMod val="85000"/>
                  </a:schemeClr>
                </a:solidFill>
                <a:latin typeface="Montserrat Bold"/>
                <a:ea typeface="Montserrat Bold"/>
                <a:cs typeface="Montserrat Bold"/>
                <a:sym typeface="Montserrat Bold"/>
              </a:rPr>
              <a:t>Nuestra Solución</a:t>
            </a:r>
            <a:r>
              <a:rPr lang="es-CL" sz="6600" b="1" spc="-557" noProof="0" dirty="0">
                <a:solidFill>
                  <a:srgbClr val="4AEFD8"/>
                </a:solidFill>
                <a:latin typeface="Montserrat Bold"/>
                <a:ea typeface="Montserrat Bold"/>
                <a:cs typeface="Montserrat Bold"/>
                <a:sym typeface="Montserrat Bold"/>
              </a:rPr>
              <a:t> </a:t>
            </a:r>
          </a:p>
        </p:txBody>
      </p:sp>
      <p:sp>
        <p:nvSpPr>
          <p:cNvPr id="8" name="TextBox 5">
            <a:extLst>
              <a:ext uri="{FF2B5EF4-FFF2-40B4-BE49-F238E27FC236}">
                <a16:creationId xmlns:a16="http://schemas.microsoft.com/office/drawing/2014/main" id="{323572A6-FB9E-D706-D111-DB03EDA3A6B3}"/>
              </a:ext>
            </a:extLst>
          </p:cNvPr>
          <p:cNvSpPr txBox="1"/>
          <p:nvPr/>
        </p:nvSpPr>
        <p:spPr>
          <a:xfrm>
            <a:off x="14241734" y="700761"/>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EVALUACIÓN SUBJETIVA</a:t>
            </a:r>
          </a:p>
        </p:txBody>
      </p:sp>
      <p:sp>
        <p:nvSpPr>
          <p:cNvPr id="13" name="TextBox 6">
            <a:extLst>
              <a:ext uri="{FF2B5EF4-FFF2-40B4-BE49-F238E27FC236}">
                <a16:creationId xmlns:a16="http://schemas.microsoft.com/office/drawing/2014/main" id="{57869608-99DC-0CB0-6291-11A36E120321}"/>
              </a:ext>
            </a:extLst>
          </p:cNvPr>
          <p:cNvSpPr txBox="1"/>
          <p:nvPr/>
        </p:nvSpPr>
        <p:spPr>
          <a:xfrm>
            <a:off x="14241733" y="2207122"/>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LESIONES PREVENIBLES</a:t>
            </a:r>
          </a:p>
        </p:txBody>
      </p:sp>
      <p:sp>
        <p:nvSpPr>
          <p:cNvPr id="15" name="TextBox 7">
            <a:extLst>
              <a:ext uri="{FF2B5EF4-FFF2-40B4-BE49-F238E27FC236}">
                <a16:creationId xmlns:a16="http://schemas.microsoft.com/office/drawing/2014/main" id="{E3B45EBD-330D-5B0E-655B-E6EB02C49CC3}"/>
              </a:ext>
            </a:extLst>
          </p:cNvPr>
          <p:cNvSpPr txBox="1"/>
          <p:nvPr/>
        </p:nvSpPr>
        <p:spPr>
          <a:xfrm>
            <a:off x="14241732" y="3498037"/>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HARDWARE COSTOSO</a:t>
            </a:r>
          </a:p>
        </p:txBody>
      </p:sp>
      <p:sp>
        <p:nvSpPr>
          <p:cNvPr id="17" name="TextBox 8">
            <a:extLst>
              <a:ext uri="{FF2B5EF4-FFF2-40B4-BE49-F238E27FC236}">
                <a16:creationId xmlns:a16="http://schemas.microsoft.com/office/drawing/2014/main" id="{DE226833-B038-B81A-BB5C-700FFCA9AB74}"/>
              </a:ext>
            </a:extLst>
          </p:cNvPr>
          <p:cNvSpPr txBox="1"/>
          <p:nvPr/>
        </p:nvSpPr>
        <p:spPr>
          <a:xfrm>
            <a:off x="14241731" y="4772510"/>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PÉRDIDA DE COMPETITIVIDAD</a:t>
            </a:r>
          </a:p>
        </p:txBody>
      </p:sp>
      <p:sp>
        <p:nvSpPr>
          <p:cNvPr id="19" name="TextBox 9">
            <a:extLst>
              <a:ext uri="{FF2B5EF4-FFF2-40B4-BE49-F238E27FC236}">
                <a16:creationId xmlns:a16="http://schemas.microsoft.com/office/drawing/2014/main" id="{20F13B84-EB70-A72D-E370-A7FB08A52EED}"/>
              </a:ext>
            </a:extLst>
          </p:cNvPr>
          <p:cNvSpPr txBox="1"/>
          <p:nvPr/>
        </p:nvSpPr>
        <p:spPr>
          <a:xfrm>
            <a:off x="14241734" y="1235568"/>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u="none" strike="noStrike" noProof="0" dirty="0">
                <a:solidFill>
                  <a:srgbClr val="FFFFFF"/>
                </a:solidFill>
                <a:latin typeface="Montserrat"/>
                <a:ea typeface="Montserrat"/>
                <a:cs typeface="Montserrat"/>
                <a:sym typeface="Montserrat"/>
              </a:rPr>
              <a:t>Los cuerpos técnicos toman decisiones tácticas y de rendimiento sin datos objetivos, basándose únicamente en percepción subjetiva y observación visual limitada.</a:t>
            </a:r>
          </a:p>
        </p:txBody>
      </p:sp>
      <p:sp>
        <p:nvSpPr>
          <p:cNvPr id="21" name="TextBox 10">
            <a:extLst>
              <a:ext uri="{FF2B5EF4-FFF2-40B4-BE49-F238E27FC236}">
                <a16:creationId xmlns:a16="http://schemas.microsoft.com/office/drawing/2014/main" id="{ADC70A18-B378-F9E4-74D7-6B377EFC1853}"/>
              </a:ext>
            </a:extLst>
          </p:cNvPr>
          <p:cNvSpPr txBox="1"/>
          <p:nvPr/>
        </p:nvSpPr>
        <p:spPr>
          <a:xfrm>
            <a:off x="14241734" y="2635957"/>
            <a:ext cx="6545626" cy="550985"/>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La ausencia de monitoreo biomecánico continuo impide detectar asimetrías y sobrecargas a tiempo, dejando lesiones musculares completamente prevenibles sin atención.</a:t>
            </a:r>
          </a:p>
        </p:txBody>
      </p:sp>
      <p:sp>
        <p:nvSpPr>
          <p:cNvPr id="23" name="TextBox 11">
            <a:extLst>
              <a:ext uri="{FF2B5EF4-FFF2-40B4-BE49-F238E27FC236}">
                <a16:creationId xmlns:a16="http://schemas.microsoft.com/office/drawing/2014/main" id="{E8F6D8A7-C9C7-0155-ADC0-446ACF3A7502}"/>
              </a:ext>
            </a:extLst>
          </p:cNvPr>
          <p:cNvSpPr txBox="1"/>
          <p:nvPr/>
        </p:nvSpPr>
        <p:spPr>
          <a:xfrm>
            <a:off x="14241734" y="3910430"/>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Sistemas de tracking propietarios requieren cámaras y GPS especializados con costos superiores a USD 10,000, inaccesibles para clubes de segunda división y academias.</a:t>
            </a:r>
          </a:p>
        </p:txBody>
      </p:sp>
      <p:sp>
        <p:nvSpPr>
          <p:cNvPr id="25" name="TextBox 12">
            <a:extLst>
              <a:ext uri="{FF2B5EF4-FFF2-40B4-BE49-F238E27FC236}">
                <a16:creationId xmlns:a16="http://schemas.microsoft.com/office/drawing/2014/main" id="{B74E15CA-2BC8-D003-C5F8-FADF6A653737}"/>
              </a:ext>
            </a:extLst>
          </p:cNvPr>
          <p:cNvSpPr txBox="1"/>
          <p:nvPr/>
        </p:nvSpPr>
        <p:spPr>
          <a:xfrm>
            <a:off x="14241734" y="5201345"/>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Los clubes formativos y sub-élite operan "a ciegas", perdiendo talento y competitividad frente a élites con acceso a inteligencia deportiva avanzada.</a:t>
            </a:r>
          </a:p>
        </p:txBody>
      </p:sp>
      <p:grpSp>
        <p:nvGrpSpPr>
          <p:cNvPr id="26" name="Group 13">
            <a:extLst>
              <a:ext uri="{FF2B5EF4-FFF2-40B4-BE49-F238E27FC236}">
                <a16:creationId xmlns:a16="http://schemas.microsoft.com/office/drawing/2014/main" id="{686424C6-AA48-2082-E692-DA22D8ADFA6B}"/>
              </a:ext>
            </a:extLst>
          </p:cNvPr>
          <p:cNvGrpSpPr/>
          <p:nvPr/>
        </p:nvGrpSpPr>
        <p:grpSpPr>
          <a:xfrm>
            <a:off x="13555433" y="908858"/>
            <a:ext cx="516267" cy="220738"/>
            <a:chOff x="0" y="0"/>
            <a:chExt cx="349533" cy="158342"/>
          </a:xfrm>
        </p:grpSpPr>
        <p:sp>
          <p:nvSpPr>
            <p:cNvPr id="27" name="Freeform 14">
              <a:extLst>
                <a:ext uri="{FF2B5EF4-FFF2-40B4-BE49-F238E27FC236}">
                  <a16:creationId xmlns:a16="http://schemas.microsoft.com/office/drawing/2014/main" id="{29F8CC9B-17E5-DE1A-4030-73972B7A2D6B}"/>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28" name="TextBox 15">
              <a:extLst>
                <a:ext uri="{FF2B5EF4-FFF2-40B4-BE49-F238E27FC236}">
                  <a16:creationId xmlns:a16="http://schemas.microsoft.com/office/drawing/2014/main" id="{184037FC-1AA5-6217-D8E6-6549FE5D67C3}"/>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29" name="Freeform 25">
            <a:extLst>
              <a:ext uri="{FF2B5EF4-FFF2-40B4-BE49-F238E27FC236}">
                <a16:creationId xmlns:a16="http://schemas.microsoft.com/office/drawing/2014/main" id="{D8402379-BAEC-6FE9-BE5A-9105663D9D03}"/>
              </a:ext>
            </a:extLst>
          </p:cNvPr>
          <p:cNvSpPr/>
          <p:nvPr/>
        </p:nvSpPr>
        <p:spPr>
          <a:xfrm>
            <a:off x="13688521" y="937598"/>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6"/>
            <a:stretch>
              <a:fillRect/>
            </a:stretch>
          </a:blipFill>
        </p:spPr>
        <p:txBody>
          <a:bodyPr/>
          <a:lstStyle/>
          <a:p>
            <a:endParaRPr lang="es-CL" noProof="0" dirty="0"/>
          </a:p>
        </p:txBody>
      </p:sp>
      <p:grpSp>
        <p:nvGrpSpPr>
          <p:cNvPr id="30" name="Group 13">
            <a:extLst>
              <a:ext uri="{FF2B5EF4-FFF2-40B4-BE49-F238E27FC236}">
                <a16:creationId xmlns:a16="http://schemas.microsoft.com/office/drawing/2014/main" id="{B37311E7-343B-2EE8-CE36-D9BC784D8B7B}"/>
              </a:ext>
            </a:extLst>
          </p:cNvPr>
          <p:cNvGrpSpPr/>
          <p:nvPr/>
        </p:nvGrpSpPr>
        <p:grpSpPr>
          <a:xfrm>
            <a:off x="13555433" y="2415219"/>
            <a:ext cx="516267" cy="220738"/>
            <a:chOff x="0" y="0"/>
            <a:chExt cx="349533" cy="158342"/>
          </a:xfrm>
        </p:grpSpPr>
        <p:sp>
          <p:nvSpPr>
            <p:cNvPr id="31" name="Freeform 14">
              <a:extLst>
                <a:ext uri="{FF2B5EF4-FFF2-40B4-BE49-F238E27FC236}">
                  <a16:creationId xmlns:a16="http://schemas.microsoft.com/office/drawing/2014/main" id="{326CBEAA-BD96-F35F-6036-92CD626C73D4}"/>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32" name="TextBox 15">
              <a:extLst>
                <a:ext uri="{FF2B5EF4-FFF2-40B4-BE49-F238E27FC236}">
                  <a16:creationId xmlns:a16="http://schemas.microsoft.com/office/drawing/2014/main" id="{6337E44C-0112-0240-0FE7-0D150F803309}"/>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33" name="Freeform 25">
            <a:extLst>
              <a:ext uri="{FF2B5EF4-FFF2-40B4-BE49-F238E27FC236}">
                <a16:creationId xmlns:a16="http://schemas.microsoft.com/office/drawing/2014/main" id="{BA9DB787-713F-E5BE-3FE4-E7E6824A55CC}"/>
              </a:ext>
            </a:extLst>
          </p:cNvPr>
          <p:cNvSpPr/>
          <p:nvPr/>
        </p:nvSpPr>
        <p:spPr>
          <a:xfrm>
            <a:off x="13688521" y="2443959"/>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6"/>
            <a:stretch>
              <a:fillRect/>
            </a:stretch>
          </a:blipFill>
        </p:spPr>
        <p:txBody>
          <a:bodyPr/>
          <a:lstStyle/>
          <a:p>
            <a:endParaRPr lang="es-CL" noProof="0" dirty="0"/>
          </a:p>
        </p:txBody>
      </p:sp>
      <p:grpSp>
        <p:nvGrpSpPr>
          <p:cNvPr id="34" name="Group 13">
            <a:extLst>
              <a:ext uri="{FF2B5EF4-FFF2-40B4-BE49-F238E27FC236}">
                <a16:creationId xmlns:a16="http://schemas.microsoft.com/office/drawing/2014/main" id="{ED31D2D7-9E11-DE6B-6DBF-9A41797212E0}"/>
              </a:ext>
            </a:extLst>
          </p:cNvPr>
          <p:cNvGrpSpPr/>
          <p:nvPr/>
        </p:nvGrpSpPr>
        <p:grpSpPr>
          <a:xfrm>
            <a:off x="13555433" y="3706134"/>
            <a:ext cx="516267" cy="220738"/>
            <a:chOff x="0" y="0"/>
            <a:chExt cx="349533" cy="158342"/>
          </a:xfrm>
        </p:grpSpPr>
        <p:sp>
          <p:nvSpPr>
            <p:cNvPr id="35" name="Freeform 14">
              <a:extLst>
                <a:ext uri="{FF2B5EF4-FFF2-40B4-BE49-F238E27FC236}">
                  <a16:creationId xmlns:a16="http://schemas.microsoft.com/office/drawing/2014/main" id="{7D58A61E-742F-5AF3-FE8D-31FB0EFC3E51}"/>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36" name="TextBox 15">
              <a:extLst>
                <a:ext uri="{FF2B5EF4-FFF2-40B4-BE49-F238E27FC236}">
                  <a16:creationId xmlns:a16="http://schemas.microsoft.com/office/drawing/2014/main" id="{F304C2C3-6C70-4552-F9CE-EFDA85F20479}"/>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37" name="Freeform 25">
            <a:extLst>
              <a:ext uri="{FF2B5EF4-FFF2-40B4-BE49-F238E27FC236}">
                <a16:creationId xmlns:a16="http://schemas.microsoft.com/office/drawing/2014/main" id="{E0D663A9-BCE1-C442-242B-7616C8CBEDE1}"/>
              </a:ext>
            </a:extLst>
          </p:cNvPr>
          <p:cNvSpPr/>
          <p:nvPr/>
        </p:nvSpPr>
        <p:spPr>
          <a:xfrm>
            <a:off x="13688521" y="3734874"/>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6"/>
            <a:stretch>
              <a:fillRect/>
            </a:stretch>
          </a:blipFill>
        </p:spPr>
        <p:txBody>
          <a:bodyPr/>
          <a:lstStyle/>
          <a:p>
            <a:endParaRPr lang="es-CL" noProof="0" dirty="0"/>
          </a:p>
        </p:txBody>
      </p:sp>
      <p:grpSp>
        <p:nvGrpSpPr>
          <p:cNvPr id="38" name="Group 13">
            <a:extLst>
              <a:ext uri="{FF2B5EF4-FFF2-40B4-BE49-F238E27FC236}">
                <a16:creationId xmlns:a16="http://schemas.microsoft.com/office/drawing/2014/main" id="{D0174EBC-A386-5250-E769-44A18D8B644A}"/>
              </a:ext>
            </a:extLst>
          </p:cNvPr>
          <p:cNvGrpSpPr/>
          <p:nvPr/>
        </p:nvGrpSpPr>
        <p:grpSpPr>
          <a:xfrm>
            <a:off x="13555433" y="4980607"/>
            <a:ext cx="516267" cy="220738"/>
            <a:chOff x="0" y="0"/>
            <a:chExt cx="349533" cy="158342"/>
          </a:xfrm>
        </p:grpSpPr>
        <p:sp>
          <p:nvSpPr>
            <p:cNvPr id="39" name="Freeform 14">
              <a:extLst>
                <a:ext uri="{FF2B5EF4-FFF2-40B4-BE49-F238E27FC236}">
                  <a16:creationId xmlns:a16="http://schemas.microsoft.com/office/drawing/2014/main" id="{0816D120-7236-88C7-2688-F7DBD50C666F}"/>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40" name="TextBox 15">
              <a:extLst>
                <a:ext uri="{FF2B5EF4-FFF2-40B4-BE49-F238E27FC236}">
                  <a16:creationId xmlns:a16="http://schemas.microsoft.com/office/drawing/2014/main" id="{7DED8A17-0CD2-B3C0-2CAC-DE98586B2DD5}"/>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41" name="Freeform 25">
            <a:extLst>
              <a:ext uri="{FF2B5EF4-FFF2-40B4-BE49-F238E27FC236}">
                <a16:creationId xmlns:a16="http://schemas.microsoft.com/office/drawing/2014/main" id="{95C9DBC5-366C-455C-18BC-71BD77972D61}"/>
              </a:ext>
            </a:extLst>
          </p:cNvPr>
          <p:cNvSpPr/>
          <p:nvPr/>
        </p:nvSpPr>
        <p:spPr>
          <a:xfrm>
            <a:off x="13688521" y="5009347"/>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6"/>
            <a:stretch>
              <a:fillRect/>
            </a:stretch>
          </a:blipFill>
        </p:spPr>
        <p:txBody>
          <a:bodyPr/>
          <a:lstStyle/>
          <a:p>
            <a:endParaRPr lang="es-CL" noProof="0" dirty="0"/>
          </a:p>
        </p:txBody>
      </p:sp>
      <p:sp>
        <p:nvSpPr>
          <p:cNvPr id="5" name="Freeform 4">
            <a:extLst>
              <a:ext uri="{FF2B5EF4-FFF2-40B4-BE49-F238E27FC236}">
                <a16:creationId xmlns:a16="http://schemas.microsoft.com/office/drawing/2014/main" id="{655DC90B-F8AD-77FB-0ACE-188882CF1687}"/>
              </a:ext>
            </a:extLst>
          </p:cNvPr>
          <p:cNvSpPr/>
          <p:nvPr/>
        </p:nvSpPr>
        <p:spPr>
          <a:xfrm>
            <a:off x="215512" y="1538889"/>
            <a:ext cx="1251086" cy="1152563"/>
          </a:xfrm>
          <a:custGeom>
            <a:avLst/>
            <a:gdLst/>
            <a:ahLst/>
            <a:cxnLst/>
            <a:rect l="l" t="t" r="r" b="b"/>
            <a:pathLst>
              <a:path w="1251086" h="1152563">
                <a:moveTo>
                  <a:pt x="0" y="0"/>
                </a:moveTo>
                <a:lnTo>
                  <a:pt x="1251085" y="0"/>
                </a:lnTo>
                <a:lnTo>
                  <a:pt x="1251085" y="1152562"/>
                </a:lnTo>
                <a:lnTo>
                  <a:pt x="0" y="1152562"/>
                </a:lnTo>
                <a:lnTo>
                  <a:pt x="0" y="0"/>
                </a:lnTo>
                <a:close/>
              </a:path>
            </a:pathLst>
          </a:custGeom>
          <a:blipFill>
            <a:blip r:embed="rId7">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a:blipFill>
        </p:spPr>
        <p:txBody>
          <a:bodyPr/>
          <a:lstStyle/>
          <a:p>
            <a:endParaRPr lang="es-CL" noProof="0" dirty="0"/>
          </a:p>
        </p:txBody>
      </p:sp>
      <p:sp>
        <p:nvSpPr>
          <p:cNvPr id="14" name="Freeform 5">
            <a:extLst>
              <a:ext uri="{FF2B5EF4-FFF2-40B4-BE49-F238E27FC236}">
                <a16:creationId xmlns:a16="http://schemas.microsoft.com/office/drawing/2014/main" id="{A78AB80C-5E56-6C85-8196-407784B636EE}"/>
              </a:ext>
            </a:extLst>
          </p:cNvPr>
          <p:cNvSpPr/>
          <p:nvPr/>
        </p:nvSpPr>
        <p:spPr>
          <a:xfrm>
            <a:off x="7502899" y="1606622"/>
            <a:ext cx="762466" cy="957932"/>
          </a:xfrm>
          <a:custGeom>
            <a:avLst/>
            <a:gdLst/>
            <a:ahLst/>
            <a:cxnLst/>
            <a:rect l="l" t="t" r="r" b="b"/>
            <a:pathLst>
              <a:path w="1258364" h="2436269">
                <a:moveTo>
                  <a:pt x="0" y="0"/>
                </a:moveTo>
                <a:lnTo>
                  <a:pt x="1258363" y="0"/>
                </a:lnTo>
                <a:lnTo>
                  <a:pt x="1258363" y="2436269"/>
                </a:lnTo>
                <a:lnTo>
                  <a:pt x="0" y="2436269"/>
                </a:lnTo>
                <a:lnTo>
                  <a:pt x="0" y="0"/>
                </a:lnTo>
                <a:close/>
              </a:path>
            </a:pathLst>
          </a:custGeom>
          <a:blipFill>
            <a:blip r:embed="rId9"/>
            <a:stretch>
              <a:fillRect/>
            </a:stretch>
          </a:blipFill>
        </p:spPr>
        <p:txBody>
          <a:bodyPr/>
          <a:lstStyle/>
          <a:p>
            <a:endParaRPr lang="es-CL" noProof="0" dirty="0"/>
          </a:p>
        </p:txBody>
      </p:sp>
      <p:sp>
        <p:nvSpPr>
          <p:cNvPr id="18" name="Freeform 6">
            <a:extLst>
              <a:ext uri="{FF2B5EF4-FFF2-40B4-BE49-F238E27FC236}">
                <a16:creationId xmlns:a16="http://schemas.microsoft.com/office/drawing/2014/main" id="{7BAB1B39-3F1C-BE4F-09BF-F17BD76983F3}"/>
              </a:ext>
            </a:extLst>
          </p:cNvPr>
          <p:cNvSpPr/>
          <p:nvPr/>
        </p:nvSpPr>
        <p:spPr>
          <a:xfrm>
            <a:off x="211651" y="5007081"/>
            <a:ext cx="1176437" cy="1019002"/>
          </a:xfrm>
          <a:custGeom>
            <a:avLst/>
            <a:gdLst/>
            <a:ahLst/>
            <a:cxnLst/>
            <a:rect l="l" t="t" r="r" b="b"/>
            <a:pathLst>
              <a:path w="1176437" h="1019002">
                <a:moveTo>
                  <a:pt x="0" y="0"/>
                </a:moveTo>
                <a:lnTo>
                  <a:pt x="1176437" y="0"/>
                </a:lnTo>
                <a:lnTo>
                  <a:pt x="1176437" y="1019002"/>
                </a:lnTo>
                <a:lnTo>
                  <a:pt x="0" y="1019002"/>
                </a:lnTo>
                <a:lnTo>
                  <a:pt x="0" y="0"/>
                </a:lnTo>
                <a:close/>
              </a:path>
            </a:pathLst>
          </a:custGeom>
          <a:blipFill>
            <a:blip r:embed="rId10">
              <a:extLst>
                <a:ext uri="{BEBA8EAE-BF5A-486C-A8C5-ECC9F3942E4B}">
                  <a14:imgProps xmlns:a14="http://schemas.microsoft.com/office/drawing/2010/main">
                    <a14:imgLayer r:embed="rId11">
                      <a14:imgEffect>
                        <a14:brightnessContrast bright="-40000" contrast="-40000"/>
                      </a14:imgEffect>
                    </a14:imgLayer>
                  </a14:imgProps>
                </a:ext>
              </a:extLst>
            </a:blip>
            <a:stretch>
              <a:fillRect/>
            </a:stretch>
          </a:blipFill>
        </p:spPr>
        <p:txBody>
          <a:bodyPr/>
          <a:lstStyle/>
          <a:p>
            <a:endParaRPr lang="es-CL" noProof="0" dirty="0"/>
          </a:p>
        </p:txBody>
      </p:sp>
      <p:sp>
        <p:nvSpPr>
          <p:cNvPr id="22" name="Freeform 10">
            <a:extLst>
              <a:ext uri="{FF2B5EF4-FFF2-40B4-BE49-F238E27FC236}">
                <a16:creationId xmlns:a16="http://schemas.microsoft.com/office/drawing/2014/main" id="{4CBC2542-B81F-1A8A-00EF-DBE3D5CCC6A0}"/>
              </a:ext>
            </a:extLst>
          </p:cNvPr>
          <p:cNvSpPr/>
          <p:nvPr/>
        </p:nvSpPr>
        <p:spPr>
          <a:xfrm>
            <a:off x="7502899" y="5058376"/>
            <a:ext cx="969896" cy="846199"/>
          </a:xfrm>
          <a:custGeom>
            <a:avLst/>
            <a:gdLst/>
            <a:ahLst/>
            <a:cxnLst/>
            <a:rect l="l" t="t" r="r" b="b"/>
            <a:pathLst>
              <a:path w="969896" h="846199">
                <a:moveTo>
                  <a:pt x="0" y="0"/>
                </a:moveTo>
                <a:lnTo>
                  <a:pt x="969896" y="0"/>
                </a:lnTo>
                <a:lnTo>
                  <a:pt x="969896" y="846199"/>
                </a:lnTo>
                <a:lnTo>
                  <a:pt x="0" y="846199"/>
                </a:lnTo>
                <a:lnTo>
                  <a:pt x="0" y="0"/>
                </a:lnTo>
                <a:close/>
              </a:path>
            </a:pathLst>
          </a:custGeom>
          <a:blipFill>
            <a:blip r:embed="rId12"/>
            <a:stretch>
              <a:fillRect/>
            </a:stretch>
          </a:blipFill>
        </p:spPr>
        <p:txBody>
          <a:bodyPr/>
          <a:lstStyle/>
          <a:p>
            <a:endParaRPr lang="es-CL" noProof="0" dirty="0"/>
          </a:p>
        </p:txBody>
      </p:sp>
      <p:sp>
        <p:nvSpPr>
          <p:cNvPr id="42" name="TextBox 13">
            <a:extLst>
              <a:ext uri="{FF2B5EF4-FFF2-40B4-BE49-F238E27FC236}">
                <a16:creationId xmlns:a16="http://schemas.microsoft.com/office/drawing/2014/main" id="{3C06A321-00FA-A5B1-CB58-0EE1EDAA7BE7}"/>
              </a:ext>
            </a:extLst>
          </p:cNvPr>
          <p:cNvSpPr txBox="1"/>
          <p:nvPr/>
        </p:nvSpPr>
        <p:spPr>
          <a:xfrm>
            <a:off x="8331909" y="1722258"/>
            <a:ext cx="3634188" cy="767277"/>
          </a:xfrm>
          <a:prstGeom prst="rect">
            <a:avLst/>
          </a:prstGeom>
        </p:spPr>
        <p:txBody>
          <a:bodyPr lIns="0" tIns="0" rIns="0" bIns="0" rtlCol="0" anchor="t">
            <a:spAutoFit/>
          </a:bodyPr>
          <a:lstStyle/>
          <a:p>
            <a:pPr marL="0" lvl="0" indent="0" algn="l">
              <a:lnSpc>
                <a:spcPts val="2040"/>
              </a:lnSpc>
            </a:pPr>
            <a:r>
              <a:rPr lang="es-CL" sz="1672" noProof="0" dirty="0">
                <a:solidFill>
                  <a:schemeClr val="tx1">
                    <a:lumMod val="85000"/>
                    <a:lumOff val="15000"/>
                  </a:schemeClr>
                </a:solidFill>
                <a:latin typeface="Montserrat Bold" panose="00000800000000000000" charset="0"/>
                <a:ea typeface="Montserrat"/>
                <a:cs typeface="Montserrat"/>
                <a:sym typeface="Montserrat"/>
              </a:rPr>
              <a:t>Huella de Fatiga: </a:t>
            </a:r>
            <a:r>
              <a:rPr lang="es-CL" sz="1672" noProof="0" dirty="0">
                <a:solidFill>
                  <a:schemeClr val="tx1">
                    <a:lumMod val="85000"/>
                    <a:lumOff val="15000"/>
                  </a:schemeClr>
                </a:solidFill>
                <a:latin typeface="Montserrat"/>
                <a:ea typeface="Montserrat"/>
                <a:cs typeface="Montserrat"/>
                <a:sym typeface="Montserrat"/>
              </a:rPr>
              <a:t>detección de asimetrías biomecánicas para alertas tempranas de lesión.</a:t>
            </a:r>
          </a:p>
        </p:txBody>
      </p:sp>
      <p:sp>
        <p:nvSpPr>
          <p:cNvPr id="44" name="TextBox 14">
            <a:extLst>
              <a:ext uri="{FF2B5EF4-FFF2-40B4-BE49-F238E27FC236}">
                <a16:creationId xmlns:a16="http://schemas.microsoft.com/office/drawing/2014/main" id="{4856DE8B-50D7-BA43-8703-73155692D893}"/>
              </a:ext>
            </a:extLst>
          </p:cNvPr>
          <p:cNvSpPr txBox="1"/>
          <p:nvPr/>
        </p:nvSpPr>
        <p:spPr>
          <a:xfrm>
            <a:off x="8557812" y="5058376"/>
            <a:ext cx="3634188" cy="1024452"/>
          </a:xfrm>
          <a:prstGeom prst="rect">
            <a:avLst/>
          </a:prstGeom>
        </p:spPr>
        <p:txBody>
          <a:bodyPr lIns="0" tIns="0" rIns="0" bIns="0" rtlCol="0" anchor="t">
            <a:spAutoFit/>
          </a:bodyPr>
          <a:lstStyle/>
          <a:p>
            <a:pPr marL="0" lvl="0" indent="0" algn="l">
              <a:lnSpc>
                <a:spcPts val="2040"/>
              </a:lnSpc>
              <a:spcBef>
                <a:spcPct val="0"/>
              </a:spcBef>
            </a:pPr>
            <a:r>
              <a:rPr lang="es-CL" sz="1672" noProof="0" dirty="0">
                <a:solidFill>
                  <a:schemeClr val="tx1">
                    <a:lumMod val="85000"/>
                    <a:lumOff val="15000"/>
                  </a:schemeClr>
                </a:solidFill>
                <a:latin typeface="Montserrat Bold" panose="00000800000000000000" charset="0"/>
                <a:ea typeface="Montserrat"/>
                <a:cs typeface="Montserrat"/>
                <a:sym typeface="Montserrat"/>
              </a:rPr>
              <a:t>ROI comprobable: </a:t>
            </a:r>
            <a:r>
              <a:rPr lang="es-CL" sz="1672" noProof="0" dirty="0">
                <a:solidFill>
                  <a:schemeClr val="tx1">
                    <a:lumMod val="85000"/>
                    <a:lumOff val="15000"/>
                  </a:schemeClr>
                </a:solidFill>
                <a:latin typeface="Montserrat"/>
                <a:ea typeface="Montserrat"/>
                <a:cs typeface="Montserrat"/>
                <a:sym typeface="Montserrat"/>
              </a:rPr>
              <a:t>la prevención de lesiones ahorra USD 50,000+ por jugador lesionado por temporada.</a:t>
            </a:r>
          </a:p>
        </p:txBody>
      </p:sp>
      <p:sp>
        <p:nvSpPr>
          <p:cNvPr id="46" name="TextBox 15">
            <a:extLst>
              <a:ext uri="{FF2B5EF4-FFF2-40B4-BE49-F238E27FC236}">
                <a16:creationId xmlns:a16="http://schemas.microsoft.com/office/drawing/2014/main" id="{3B1168A2-12C0-EDD7-E392-75EE40349C74}"/>
              </a:ext>
            </a:extLst>
          </p:cNvPr>
          <p:cNvSpPr txBox="1"/>
          <p:nvPr/>
        </p:nvSpPr>
        <p:spPr>
          <a:xfrm>
            <a:off x="1649179" y="5055611"/>
            <a:ext cx="3705784" cy="1024452"/>
          </a:xfrm>
          <a:prstGeom prst="rect">
            <a:avLst/>
          </a:prstGeom>
        </p:spPr>
        <p:txBody>
          <a:bodyPr lIns="0" tIns="0" rIns="0" bIns="0" rtlCol="0" anchor="t">
            <a:spAutoFit/>
          </a:bodyPr>
          <a:lstStyle/>
          <a:p>
            <a:pPr marL="0" lvl="0" indent="0" algn="l">
              <a:lnSpc>
                <a:spcPts val="2040"/>
              </a:lnSpc>
            </a:pPr>
            <a:r>
              <a:rPr lang="es-CL" sz="1672" noProof="0" dirty="0">
                <a:solidFill>
                  <a:schemeClr val="tx1">
                    <a:lumMod val="85000"/>
                    <a:lumOff val="15000"/>
                  </a:schemeClr>
                </a:solidFill>
                <a:latin typeface="Montserrat Bold" panose="00000800000000000000" charset="0"/>
                <a:ea typeface="Montserrat"/>
                <a:cs typeface="Montserrat"/>
                <a:sym typeface="Montserrat"/>
              </a:rPr>
              <a:t>100% agnóstico al hardware: </a:t>
            </a:r>
            <a:r>
              <a:rPr lang="es-CL" sz="1672" noProof="0" dirty="0">
                <a:solidFill>
                  <a:schemeClr val="tx1">
                    <a:lumMod val="85000"/>
                    <a:lumOff val="15000"/>
                  </a:schemeClr>
                </a:solidFill>
                <a:latin typeface="Montserrat"/>
                <a:ea typeface="Montserrat"/>
                <a:cs typeface="Montserrat"/>
                <a:sym typeface="Montserrat"/>
              </a:rPr>
              <a:t>análisis cualitativo profundo con video MP4 estándar, sin cámaras especiales.</a:t>
            </a:r>
          </a:p>
        </p:txBody>
      </p:sp>
      <p:sp>
        <p:nvSpPr>
          <p:cNvPr id="48" name="TextBox 16">
            <a:extLst>
              <a:ext uri="{FF2B5EF4-FFF2-40B4-BE49-F238E27FC236}">
                <a16:creationId xmlns:a16="http://schemas.microsoft.com/office/drawing/2014/main" id="{4BDE91C3-5917-626E-69EB-4665DAC94DA9}"/>
              </a:ext>
            </a:extLst>
          </p:cNvPr>
          <p:cNvSpPr txBox="1"/>
          <p:nvPr/>
        </p:nvSpPr>
        <p:spPr>
          <a:xfrm>
            <a:off x="1706299" y="1712078"/>
            <a:ext cx="3839134" cy="1024452"/>
          </a:xfrm>
          <a:prstGeom prst="rect">
            <a:avLst/>
          </a:prstGeom>
        </p:spPr>
        <p:txBody>
          <a:bodyPr lIns="0" tIns="0" rIns="0" bIns="0" rtlCol="0" anchor="t">
            <a:spAutoFit/>
          </a:bodyPr>
          <a:lstStyle/>
          <a:p>
            <a:pPr marL="0" lvl="0" indent="0" algn="l">
              <a:lnSpc>
                <a:spcPts val="2040"/>
              </a:lnSpc>
              <a:spcBef>
                <a:spcPct val="0"/>
              </a:spcBef>
            </a:pPr>
            <a:r>
              <a:rPr lang="es-CL" sz="1672" noProof="0" dirty="0">
                <a:solidFill>
                  <a:schemeClr val="tx1">
                    <a:lumMod val="85000"/>
                    <a:lumOff val="15000"/>
                  </a:schemeClr>
                </a:solidFill>
                <a:latin typeface="Montserrat Bold" panose="00000800000000000000" charset="0"/>
                <a:ea typeface="Montserrat"/>
                <a:cs typeface="Montserrat"/>
                <a:sym typeface="Montserrat"/>
              </a:rPr>
              <a:t>Fantasma Táctico</a:t>
            </a:r>
            <a:r>
              <a:rPr lang="es-CL" sz="1672" noProof="0" dirty="0">
                <a:solidFill>
                  <a:schemeClr val="tx1">
                    <a:lumMod val="85000"/>
                    <a:lumOff val="15000"/>
                  </a:schemeClr>
                </a:solidFill>
                <a:latin typeface="Montserrat"/>
                <a:ea typeface="Montserrat"/>
                <a:cs typeface="Montserrat"/>
                <a:sym typeface="Montserrat"/>
              </a:rPr>
              <a:t>: auditoría geométrica del posicionamiento real vs. instrucciones del cuerpo técnico.</a:t>
            </a:r>
          </a:p>
        </p:txBody>
      </p:sp>
      <mc:AlternateContent xmlns:mc="http://schemas.openxmlformats.org/markup-compatibility/2006">
        <mc:Choice xmlns:am3d="http://schemas.microsoft.com/office/drawing/2017/model3d" Requires="am3d">
          <p:graphicFrame>
            <p:nvGraphicFramePr>
              <p:cNvPr id="50" name="Modelo 3D 49">
                <a:extLst>
                  <a:ext uri="{FF2B5EF4-FFF2-40B4-BE49-F238E27FC236}">
                    <a16:creationId xmlns:a16="http://schemas.microsoft.com/office/drawing/2014/main" id="{9FC5D2AE-19AF-5B9D-D900-D0ADEB082AC3}"/>
                  </a:ext>
                </a:extLst>
              </p:cNvPr>
              <p:cNvGraphicFramePr>
                <a:graphicFrameLocks noChangeAspect="1"/>
              </p:cNvGraphicFramePr>
              <p:nvPr>
                <p:extLst>
                  <p:ext uri="{D42A27DB-BD31-4B8C-83A1-F6EECF244321}">
                    <p14:modId xmlns:p14="http://schemas.microsoft.com/office/powerpoint/2010/main" val="609594676"/>
                  </p:ext>
                </p:extLst>
              </p:nvPr>
            </p:nvGraphicFramePr>
            <p:xfrm>
              <a:off x="5150448" y="2684463"/>
              <a:ext cx="2264078" cy="2264078"/>
            </p:xfrm>
            <a:graphic>
              <a:graphicData uri="http://schemas.microsoft.com/office/drawing/2017/model3d">
                <am3d:model3d r:embed="rId13">
                  <am3d:spPr>
                    <a:xfrm>
                      <a:off x="0" y="0"/>
                      <a:ext cx="2264078" cy="2264078"/>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5446883" ay="122802" az="-6657354"/>
                    <am3d:postTrans dx="0" dy="0" dz="0"/>
                  </am3d:trans>
                  <am3d:raster rName="Office3DRenderer" rVer="16.0.8326">
                    <am3d:blip r:embed="rId14"/>
                  </am3d:raster>
                  <am3d:objViewport viewportSz="601217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0" name="Modelo 3D 49">
                <a:extLst>
                  <a:ext uri="{FF2B5EF4-FFF2-40B4-BE49-F238E27FC236}">
                    <a16:creationId xmlns:a16="http://schemas.microsoft.com/office/drawing/2014/main" id="{9FC5D2AE-19AF-5B9D-D900-D0ADEB082AC3}"/>
                  </a:ext>
                </a:extLst>
              </p:cNvPr>
              <p:cNvPicPr>
                <a:picLocks noGrp="1" noRot="1" noChangeAspect="1" noMove="1" noResize="1" noEditPoints="1" noAdjustHandles="1" noChangeArrowheads="1" noChangeShapeType="1" noCrop="1"/>
              </p:cNvPicPr>
              <p:nvPr/>
            </p:nvPicPr>
            <p:blipFill>
              <a:blip r:embed="rId14"/>
              <a:stretch>
                <a:fillRect/>
              </a:stretch>
            </p:blipFill>
            <p:spPr>
              <a:xfrm>
                <a:off x="5150448" y="2684463"/>
                <a:ext cx="2264078" cy="2264078"/>
              </a:xfrm>
              <a:prstGeom prst="rect">
                <a:avLst/>
              </a:prstGeom>
            </p:spPr>
          </p:pic>
        </mc:Fallback>
      </mc:AlternateContent>
      <p:sp>
        <p:nvSpPr>
          <p:cNvPr id="52" name="CuadroTexto 51">
            <a:extLst>
              <a:ext uri="{FF2B5EF4-FFF2-40B4-BE49-F238E27FC236}">
                <a16:creationId xmlns:a16="http://schemas.microsoft.com/office/drawing/2014/main" id="{80E90C02-D87D-AE3D-EF3A-8E718D852295}"/>
              </a:ext>
            </a:extLst>
          </p:cNvPr>
          <p:cNvSpPr txBox="1"/>
          <p:nvPr/>
        </p:nvSpPr>
        <p:spPr>
          <a:xfrm>
            <a:off x="570847" y="-5758616"/>
            <a:ext cx="6843679" cy="2092881"/>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bg1">
                    <a:lumMod val="85000"/>
                  </a:schemeClr>
                </a:solidFill>
                <a:latin typeface="Montserrat Bold"/>
                <a:ea typeface="Montserrat Bold"/>
                <a:cs typeface="Montserrat Bold"/>
                <a:sym typeface="Montserrat Bold"/>
              </a:rPr>
              <a:t>Metodología</a:t>
            </a:r>
          </a:p>
          <a:p>
            <a:pPr marL="0" lvl="0" indent="0" algn="l">
              <a:lnSpc>
                <a:spcPts val="7791"/>
              </a:lnSpc>
              <a:spcBef>
                <a:spcPct val="0"/>
              </a:spcBef>
            </a:pPr>
            <a:r>
              <a:rPr lang="es-CL" sz="6600" b="1" spc="-557" noProof="0" dirty="0">
                <a:solidFill>
                  <a:schemeClr val="bg1">
                    <a:lumMod val="85000"/>
                  </a:schemeClr>
                </a:solidFill>
                <a:latin typeface="Montserrat Bold"/>
                <a:ea typeface="Montserrat Bold"/>
                <a:cs typeface="Montserrat Bold"/>
                <a:sym typeface="Montserrat Bold"/>
              </a:rPr>
              <a:t> y Equipo</a:t>
            </a:r>
            <a:endParaRPr lang="es-CL" sz="6600" b="1" spc="-557" noProof="0" dirty="0">
              <a:solidFill>
                <a:srgbClr val="4AEFD8"/>
              </a:solidFill>
              <a:latin typeface="Montserrat Bold"/>
              <a:ea typeface="Montserrat Bold"/>
              <a:cs typeface="Montserrat Bold"/>
              <a:sym typeface="Montserrat Bold"/>
            </a:endParaRPr>
          </a:p>
        </p:txBody>
      </p:sp>
      <p:sp>
        <p:nvSpPr>
          <p:cNvPr id="54" name="TextBox 37">
            <a:extLst>
              <a:ext uri="{FF2B5EF4-FFF2-40B4-BE49-F238E27FC236}">
                <a16:creationId xmlns:a16="http://schemas.microsoft.com/office/drawing/2014/main" id="{57BCF9B7-2C2F-B48D-020E-65A64D121D3E}"/>
              </a:ext>
            </a:extLst>
          </p:cNvPr>
          <p:cNvSpPr txBox="1"/>
          <p:nvPr/>
        </p:nvSpPr>
        <p:spPr>
          <a:xfrm>
            <a:off x="0" y="7928600"/>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1: Arquitectura Cloud, datasets y diseño UX/UI</a:t>
            </a:r>
          </a:p>
        </p:txBody>
      </p:sp>
      <p:sp>
        <p:nvSpPr>
          <p:cNvPr id="56" name="TextBox 38">
            <a:extLst>
              <a:ext uri="{FF2B5EF4-FFF2-40B4-BE49-F238E27FC236}">
                <a16:creationId xmlns:a16="http://schemas.microsoft.com/office/drawing/2014/main" id="{638CF66A-758B-D836-9DAF-7E591F24CF0D}"/>
              </a:ext>
            </a:extLst>
          </p:cNvPr>
          <p:cNvSpPr txBox="1"/>
          <p:nvPr/>
        </p:nvSpPr>
        <p:spPr>
          <a:xfrm>
            <a:off x="0" y="8727126"/>
            <a:ext cx="6280390" cy="569195"/>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2: Modelos IA (YOLO, ByteTrack, RTMPose) y API </a:t>
            </a:r>
            <a:r>
              <a:rPr lang="es-CL" sz="1674" noProof="0" dirty="0" err="1">
                <a:solidFill>
                  <a:srgbClr val="0E0C0B"/>
                </a:solidFill>
                <a:latin typeface="Montserrat"/>
                <a:ea typeface="Montserrat"/>
                <a:cs typeface="Montserrat"/>
                <a:sym typeface="Montserrat"/>
              </a:rPr>
              <a:t>backend</a:t>
            </a:r>
            <a:endParaRPr lang="es-CL" sz="1674" noProof="0" dirty="0">
              <a:solidFill>
                <a:srgbClr val="0E0C0B"/>
              </a:solidFill>
              <a:latin typeface="Montserrat"/>
              <a:ea typeface="Montserrat"/>
              <a:cs typeface="Montserrat"/>
              <a:sym typeface="Montserrat"/>
            </a:endParaRPr>
          </a:p>
        </p:txBody>
      </p:sp>
      <p:sp>
        <p:nvSpPr>
          <p:cNvPr id="58" name="TextBox 39">
            <a:extLst>
              <a:ext uri="{FF2B5EF4-FFF2-40B4-BE49-F238E27FC236}">
                <a16:creationId xmlns:a16="http://schemas.microsoft.com/office/drawing/2014/main" id="{FE41BB0D-92C7-18B7-F07C-8496E2B5436B}"/>
              </a:ext>
            </a:extLst>
          </p:cNvPr>
          <p:cNvSpPr txBox="1"/>
          <p:nvPr/>
        </p:nvSpPr>
        <p:spPr>
          <a:xfrm>
            <a:off x="0" y="9723249"/>
            <a:ext cx="6280390" cy="569195"/>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3: Dashboard interactivo, pruebas piloto y entregables</a:t>
            </a:r>
          </a:p>
        </p:txBody>
      </p:sp>
      <p:sp>
        <p:nvSpPr>
          <p:cNvPr id="60" name="TextBox 40">
            <a:extLst>
              <a:ext uri="{FF2B5EF4-FFF2-40B4-BE49-F238E27FC236}">
                <a16:creationId xmlns:a16="http://schemas.microsoft.com/office/drawing/2014/main" id="{057C82F5-77F1-AEA0-FFF8-E5923A42FD9A}"/>
              </a:ext>
            </a:extLst>
          </p:cNvPr>
          <p:cNvSpPr txBox="1"/>
          <p:nvPr/>
        </p:nvSpPr>
        <p:spPr>
          <a:xfrm>
            <a:off x="-51439" y="10796688"/>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Director, Especialista IA, Backend Cloud y Frontend UX</a:t>
            </a:r>
          </a:p>
        </p:txBody>
      </p:sp>
      <p:sp>
        <p:nvSpPr>
          <p:cNvPr id="62" name="TextBox 41">
            <a:extLst>
              <a:ext uri="{FF2B5EF4-FFF2-40B4-BE49-F238E27FC236}">
                <a16:creationId xmlns:a16="http://schemas.microsoft.com/office/drawing/2014/main" id="{7F1E8793-5662-D6CA-D66C-E81E2E823A48}"/>
              </a:ext>
            </a:extLst>
          </p:cNvPr>
          <p:cNvSpPr txBox="1"/>
          <p:nvPr/>
        </p:nvSpPr>
        <p:spPr>
          <a:xfrm>
            <a:off x="0" y="11693796"/>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MVP funcional + piloto con club partner en 18 semanas</a:t>
            </a:r>
          </a:p>
        </p:txBody>
      </p:sp>
      <p:sp>
        <p:nvSpPr>
          <p:cNvPr id="64" name="Freeform 6">
            <a:extLst>
              <a:ext uri="{FF2B5EF4-FFF2-40B4-BE49-F238E27FC236}">
                <a16:creationId xmlns:a16="http://schemas.microsoft.com/office/drawing/2014/main" id="{13E49851-5498-3199-9DF3-3DADEAA7F1EA}"/>
              </a:ext>
            </a:extLst>
          </p:cNvPr>
          <p:cNvSpPr/>
          <p:nvPr/>
        </p:nvSpPr>
        <p:spPr>
          <a:xfrm>
            <a:off x="-248549" y="7679994"/>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66" name="Freeform 6">
            <a:extLst>
              <a:ext uri="{FF2B5EF4-FFF2-40B4-BE49-F238E27FC236}">
                <a16:creationId xmlns:a16="http://schemas.microsoft.com/office/drawing/2014/main" id="{1E2F43AE-81AF-DE7A-EE11-528BFEF48275}"/>
              </a:ext>
            </a:extLst>
          </p:cNvPr>
          <p:cNvSpPr/>
          <p:nvPr/>
        </p:nvSpPr>
        <p:spPr>
          <a:xfrm>
            <a:off x="-248549" y="8622913"/>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68" name="Freeform 6">
            <a:extLst>
              <a:ext uri="{FF2B5EF4-FFF2-40B4-BE49-F238E27FC236}">
                <a16:creationId xmlns:a16="http://schemas.microsoft.com/office/drawing/2014/main" id="{C05545AD-545C-C565-7313-A0E47E0EC746}"/>
              </a:ext>
            </a:extLst>
          </p:cNvPr>
          <p:cNvSpPr/>
          <p:nvPr/>
        </p:nvSpPr>
        <p:spPr>
          <a:xfrm>
            <a:off x="-248549" y="9609688"/>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0" name="Freeform 6">
            <a:extLst>
              <a:ext uri="{FF2B5EF4-FFF2-40B4-BE49-F238E27FC236}">
                <a16:creationId xmlns:a16="http://schemas.microsoft.com/office/drawing/2014/main" id="{C9BAD418-9E4A-7A4D-BC22-49ADB247DE5B}"/>
              </a:ext>
            </a:extLst>
          </p:cNvPr>
          <p:cNvSpPr/>
          <p:nvPr/>
        </p:nvSpPr>
        <p:spPr>
          <a:xfrm>
            <a:off x="-248549" y="10542234"/>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2" name="Freeform 6">
            <a:extLst>
              <a:ext uri="{FF2B5EF4-FFF2-40B4-BE49-F238E27FC236}">
                <a16:creationId xmlns:a16="http://schemas.microsoft.com/office/drawing/2014/main" id="{D5F5AB49-F44D-2279-B5D7-11455D1ED2B6}"/>
              </a:ext>
            </a:extLst>
          </p:cNvPr>
          <p:cNvSpPr/>
          <p:nvPr/>
        </p:nvSpPr>
        <p:spPr>
          <a:xfrm>
            <a:off x="-248550" y="11488252"/>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8" name="CuadroTexto 77">
            <a:extLst>
              <a:ext uri="{FF2B5EF4-FFF2-40B4-BE49-F238E27FC236}">
                <a16:creationId xmlns:a16="http://schemas.microsoft.com/office/drawing/2014/main" id="{3B4D4420-946E-BE32-7C78-9ADF8008D2F9}"/>
              </a:ext>
            </a:extLst>
          </p:cNvPr>
          <p:cNvSpPr txBox="1"/>
          <p:nvPr/>
        </p:nvSpPr>
        <p:spPr>
          <a:xfrm>
            <a:off x="13723712" y="-649"/>
            <a:ext cx="5096456" cy="2092881"/>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Metodología</a:t>
            </a:r>
          </a:p>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 y Equipo</a:t>
            </a:r>
          </a:p>
        </p:txBody>
      </p:sp>
      <p:sp>
        <p:nvSpPr>
          <p:cNvPr id="80" name="Freeform 4">
            <a:extLst>
              <a:ext uri="{FF2B5EF4-FFF2-40B4-BE49-F238E27FC236}">
                <a16:creationId xmlns:a16="http://schemas.microsoft.com/office/drawing/2014/main" id="{CAE68997-803F-C022-85C2-BFC4A4FB8E42}"/>
              </a:ext>
            </a:extLst>
          </p:cNvPr>
          <p:cNvSpPr/>
          <p:nvPr/>
        </p:nvSpPr>
        <p:spPr>
          <a:xfrm>
            <a:off x="13973169" y="2443959"/>
            <a:ext cx="4907355" cy="4998961"/>
          </a:xfrm>
          <a:custGeom>
            <a:avLst/>
            <a:gdLst/>
            <a:ahLst/>
            <a:cxnLst/>
            <a:rect l="l" t="t" r="r" b="b"/>
            <a:pathLst>
              <a:path w="6195549" h="9334160">
                <a:moveTo>
                  <a:pt x="0" y="0"/>
                </a:moveTo>
                <a:lnTo>
                  <a:pt x="6195548" y="0"/>
                </a:lnTo>
                <a:lnTo>
                  <a:pt x="6195548" y="9334160"/>
                </a:lnTo>
                <a:lnTo>
                  <a:pt x="0" y="9334160"/>
                </a:lnTo>
                <a:lnTo>
                  <a:pt x="0" y="0"/>
                </a:lnTo>
                <a:close/>
              </a:path>
            </a:pathLst>
          </a:custGeom>
          <a:blipFill>
            <a:blip r:embed="rId15"/>
            <a:stretch>
              <a:fillRect/>
            </a:stretch>
          </a:blipFill>
        </p:spPr>
        <p:txBody>
          <a:bodyPr/>
          <a:lstStyle/>
          <a:p>
            <a:endParaRPr lang="es-CL" noProof="0" dirty="0"/>
          </a:p>
        </p:txBody>
      </p:sp>
    </p:spTree>
    <p:extLst>
      <p:ext uri="{BB962C8B-B14F-4D97-AF65-F5344CB8AC3E}">
        <p14:creationId xmlns:p14="http://schemas.microsoft.com/office/powerpoint/2010/main" val="1508484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05439-D9B0-63A2-B78C-8B116E7E4B1A}"/>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7443F1F-5BA0-6420-3729-9D66020583DD}"/>
              </a:ext>
            </a:extLst>
          </p:cNvPr>
          <p:cNvPicPr preferRelativeResize="0">
            <a:picLocks noChangeAspect="1"/>
          </p:cNvPicPr>
          <p:nvPr/>
        </p:nvPicPr>
        <p:blipFill>
          <a:blip r:embed="rId3"/>
          <a:srcRect/>
          <a:stretch>
            <a:fillRect/>
          </a:stretch>
        </p:blipFill>
        <p:spPr>
          <a:xfrm rot="15893212">
            <a:off x="2568637" y="-6698325"/>
            <a:ext cx="4810883" cy="12321824"/>
          </a:xfrm>
          <a:prstGeom prst="rect">
            <a:avLst/>
          </a:prstGeom>
        </p:spPr>
      </p:pic>
      <p:pic>
        <p:nvPicPr>
          <p:cNvPr id="12" name="Imagen 11">
            <a:extLst>
              <a:ext uri="{FF2B5EF4-FFF2-40B4-BE49-F238E27FC236}">
                <a16:creationId xmlns:a16="http://schemas.microsoft.com/office/drawing/2014/main" id="{14A8F139-EA4D-52F9-AC66-6B4482ED01BC}"/>
              </a:ext>
            </a:extLst>
          </p:cNvPr>
          <p:cNvPicPr>
            <a:picLocks noChangeAspect="1"/>
          </p:cNvPicPr>
          <p:nvPr/>
        </p:nvPicPr>
        <p:blipFill>
          <a:blip r:embed="rId4"/>
          <a:srcRect/>
          <a:stretch>
            <a:fillRect/>
          </a:stretch>
        </p:blipFill>
        <p:spPr>
          <a:xfrm rot="11064132" flipV="1">
            <a:off x="-5227271" y="-8190040"/>
            <a:ext cx="10454542" cy="4146380"/>
          </a:xfrm>
          <a:prstGeom prst="rect">
            <a:avLst/>
          </a:prstGeom>
        </p:spPr>
      </p:pic>
      <p:sp>
        <p:nvSpPr>
          <p:cNvPr id="10" name="CuadroTexto 9">
            <a:extLst>
              <a:ext uri="{FF2B5EF4-FFF2-40B4-BE49-F238E27FC236}">
                <a16:creationId xmlns:a16="http://schemas.microsoft.com/office/drawing/2014/main" id="{7680ADBB-BFB2-7243-E24E-E9671F9AEE33}"/>
              </a:ext>
            </a:extLst>
          </p:cNvPr>
          <p:cNvSpPr txBox="1"/>
          <p:nvPr/>
        </p:nvSpPr>
        <p:spPr>
          <a:xfrm>
            <a:off x="822960" y="272674"/>
            <a:ext cx="7680960" cy="1121397"/>
          </a:xfrm>
          <a:prstGeom prst="rect">
            <a:avLst/>
          </a:prstGeom>
          <a:noFill/>
        </p:spPr>
        <p:txBody>
          <a:bodyPr wrap="square">
            <a:spAutoFit/>
          </a:bodyPr>
          <a:lstStyle/>
          <a:p>
            <a:pPr marL="0" lvl="0" indent="0" algn="l">
              <a:lnSpc>
                <a:spcPts val="7791"/>
              </a:lnSpc>
              <a:spcBef>
                <a:spcPct val="0"/>
              </a:spcBef>
            </a:pPr>
            <a:r>
              <a:rPr lang="es-CL" sz="6600" b="1" spc="-557" noProof="0" dirty="0">
                <a:solidFill>
                  <a:srgbClr val="171717"/>
                </a:solidFill>
                <a:latin typeface="Montserrat Bold"/>
                <a:ea typeface="Montserrat Bold"/>
                <a:cs typeface="Montserrat Bold"/>
                <a:sym typeface="Montserrat Bold"/>
              </a:rPr>
              <a:t>Cómo funciona</a:t>
            </a:r>
          </a:p>
        </p:txBody>
      </p:sp>
      <p:sp>
        <p:nvSpPr>
          <p:cNvPr id="4" name="Rectángulo 3">
            <a:extLst>
              <a:ext uri="{FF2B5EF4-FFF2-40B4-BE49-F238E27FC236}">
                <a16:creationId xmlns:a16="http://schemas.microsoft.com/office/drawing/2014/main" id="{5F907240-28D7-C29D-C5FE-A590ABDA1588}"/>
              </a:ext>
            </a:extLst>
          </p:cNvPr>
          <p:cNvSpPr/>
          <p:nvPr/>
        </p:nvSpPr>
        <p:spPr>
          <a:xfrm>
            <a:off x="9022533" y="0"/>
            <a:ext cx="3169467" cy="69088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mc:AlternateContent xmlns:mc="http://schemas.openxmlformats.org/markup-compatibility/2006">
        <mc:Choice xmlns:am3d="http://schemas.microsoft.com/office/drawing/2017/model3d" Requires="am3d">
          <p:graphicFrame>
            <p:nvGraphicFramePr>
              <p:cNvPr id="2" name="Modelo 3D 1">
                <a:extLst>
                  <a:ext uri="{FF2B5EF4-FFF2-40B4-BE49-F238E27FC236}">
                    <a16:creationId xmlns:a16="http://schemas.microsoft.com/office/drawing/2014/main" id="{F3DE0F71-837C-3533-B67B-961ACDD38009}"/>
                  </a:ext>
                </a:extLst>
              </p:cNvPr>
              <p:cNvGraphicFramePr>
                <a:graphicFrameLocks noChangeAspect="1"/>
              </p:cNvGraphicFramePr>
              <p:nvPr>
                <p:extLst>
                  <p:ext uri="{D42A27DB-BD31-4B8C-83A1-F6EECF244321}">
                    <p14:modId xmlns:p14="http://schemas.microsoft.com/office/powerpoint/2010/main" val="765033927"/>
                  </p:ext>
                </p:extLst>
              </p:nvPr>
            </p:nvGraphicFramePr>
            <p:xfrm>
              <a:off x="9538256" y="2848211"/>
              <a:ext cx="2264075" cy="2264075"/>
            </p:xfrm>
            <a:graphic>
              <a:graphicData uri="http://schemas.microsoft.com/office/drawing/2017/model3d">
                <am3d:model3d r:embed="rId5">
                  <am3d:spPr>
                    <a:xfrm>
                      <a:off x="0" y="0"/>
                      <a:ext cx="2264075" cy="2264075"/>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910241" ay="-1927918" az="492378"/>
                    <am3d:postTrans dx="0" dy="0" dz="0"/>
                  </am3d:trans>
                  <am3d:raster rName="Office3DRenderer" rVer="16.0.8326">
                    <am3d:blip r:embed="rId6"/>
                  </am3d:raster>
                  <am3d:objViewport viewportSz="601216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o 3D 1">
                <a:extLst>
                  <a:ext uri="{FF2B5EF4-FFF2-40B4-BE49-F238E27FC236}">
                    <a16:creationId xmlns:a16="http://schemas.microsoft.com/office/drawing/2014/main" id="{F3DE0F71-837C-3533-B67B-961ACDD38009}"/>
                  </a:ext>
                </a:extLst>
              </p:cNvPr>
              <p:cNvPicPr>
                <a:picLocks noGrp="1" noRot="1" noChangeAspect="1" noMove="1" noResize="1" noEditPoints="1" noAdjustHandles="1" noChangeArrowheads="1" noChangeShapeType="1" noCrop="1"/>
              </p:cNvPicPr>
              <p:nvPr/>
            </p:nvPicPr>
            <p:blipFill>
              <a:blip r:embed="rId6"/>
              <a:stretch>
                <a:fillRect/>
              </a:stretch>
            </p:blipFill>
            <p:spPr>
              <a:xfrm>
                <a:off x="9538256" y="2848211"/>
                <a:ext cx="2264075" cy="2264075"/>
              </a:xfrm>
              <a:prstGeom prst="rect">
                <a:avLst/>
              </a:prstGeom>
            </p:spPr>
          </p:pic>
        </mc:Fallback>
      </mc:AlternateContent>
      <p:sp>
        <p:nvSpPr>
          <p:cNvPr id="7" name="CuadroTexto 6">
            <a:extLst>
              <a:ext uri="{FF2B5EF4-FFF2-40B4-BE49-F238E27FC236}">
                <a16:creationId xmlns:a16="http://schemas.microsoft.com/office/drawing/2014/main" id="{4B1A3A18-147C-6B09-2AAD-40FD0E8459C2}"/>
              </a:ext>
            </a:extLst>
          </p:cNvPr>
          <p:cNvSpPr txBox="1"/>
          <p:nvPr/>
        </p:nvSpPr>
        <p:spPr>
          <a:xfrm>
            <a:off x="9174995" y="0"/>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rgbClr val="FFFFFF"/>
                </a:solidFill>
                <a:latin typeface="Montserrat Bold"/>
                <a:ea typeface="Montserrat Bold"/>
                <a:cs typeface="Montserrat Bold"/>
                <a:sym typeface="Montserrat Bold"/>
              </a:rPr>
              <a:t>Fut.Ai</a:t>
            </a:r>
          </a:p>
        </p:txBody>
      </p:sp>
      <p:pic>
        <p:nvPicPr>
          <p:cNvPr id="6" name="Imagen 5">
            <a:extLst>
              <a:ext uri="{FF2B5EF4-FFF2-40B4-BE49-F238E27FC236}">
                <a16:creationId xmlns:a16="http://schemas.microsoft.com/office/drawing/2014/main" id="{346969DA-44EC-5468-2AB2-12C0B442CA43}"/>
              </a:ext>
            </a:extLst>
          </p:cNvPr>
          <p:cNvPicPr>
            <a:picLocks noChangeAspect="1"/>
          </p:cNvPicPr>
          <p:nvPr/>
        </p:nvPicPr>
        <p:blipFill>
          <a:blip r:embed="rId7"/>
          <a:srcRect/>
          <a:stretch>
            <a:fillRect/>
          </a:stretch>
        </p:blipFill>
        <p:spPr>
          <a:xfrm>
            <a:off x="11199579" y="188161"/>
            <a:ext cx="996664" cy="863537"/>
          </a:xfrm>
          <a:prstGeom prst="rect">
            <a:avLst/>
          </a:prstGeom>
        </p:spPr>
      </p:pic>
      <p:sp>
        <p:nvSpPr>
          <p:cNvPr id="68" name="AutoShape 6">
            <a:extLst>
              <a:ext uri="{FF2B5EF4-FFF2-40B4-BE49-F238E27FC236}">
                <a16:creationId xmlns:a16="http://schemas.microsoft.com/office/drawing/2014/main" id="{E141231F-2E48-C1CE-7A47-73CCDB34EC78}"/>
              </a:ext>
            </a:extLst>
          </p:cNvPr>
          <p:cNvSpPr/>
          <p:nvPr/>
        </p:nvSpPr>
        <p:spPr>
          <a:xfrm>
            <a:off x="639894" y="2542738"/>
            <a:ext cx="1108" cy="3762619"/>
          </a:xfrm>
          <a:prstGeom prst="line">
            <a:avLst/>
          </a:prstGeom>
          <a:ln w="19050" cap="rnd">
            <a:solidFill>
              <a:schemeClr val="tx1"/>
            </a:solidFill>
            <a:prstDash val="solid"/>
            <a:headEnd type="none" w="sm" len="sm"/>
            <a:tailEnd type="none" w="sm" len="sm"/>
          </a:ln>
        </p:spPr>
        <p:txBody>
          <a:bodyPr/>
          <a:lstStyle/>
          <a:p>
            <a:endParaRPr lang="es-CL" noProof="0" dirty="0"/>
          </a:p>
        </p:txBody>
      </p:sp>
      <p:grpSp>
        <p:nvGrpSpPr>
          <p:cNvPr id="69" name="Group 7">
            <a:extLst>
              <a:ext uri="{FF2B5EF4-FFF2-40B4-BE49-F238E27FC236}">
                <a16:creationId xmlns:a16="http://schemas.microsoft.com/office/drawing/2014/main" id="{1543282A-2746-A3DF-9E18-1CBD9CAE1D8C}"/>
              </a:ext>
            </a:extLst>
          </p:cNvPr>
          <p:cNvGrpSpPr/>
          <p:nvPr/>
        </p:nvGrpSpPr>
        <p:grpSpPr>
          <a:xfrm>
            <a:off x="205120" y="1781079"/>
            <a:ext cx="851357" cy="873116"/>
            <a:chOff x="-8684" y="-76200"/>
            <a:chExt cx="812800" cy="833574"/>
          </a:xfrm>
        </p:grpSpPr>
        <p:sp>
          <p:nvSpPr>
            <p:cNvPr id="70" name="Freeform 8">
              <a:extLst>
                <a:ext uri="{FF2B5EF4-FFF2-40B4-BE49-F238E27FC236}">
                  <a16:creationId xmlns:a16="http://schemas.microsoft.com/office/drawing/2014/main" id="{50FDEAE4-1DB6-BD6F-1D33-1D5669CBDBA4}"/>
                </a:ext>
              </a:extLst>
            </p:cNvPr>
            <p:cNvSpPr/>
            <p:nvPr/>
          </p:nvSpPr>
          <p:spPr>
            <a:xfrm>
              <a:off x="-8684" y="-5542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p:spPr>
          <p:txBody>
            <a:bodyPr/>
            <a:lstStyle/>
            <a:p>
              <a:endParaRPr lang="es-CL" noProof="0" dirty="0"/>
            </a:p>
          </p:txBody>
        </p:sp>
        <p:sp>
          <p:nvSpPr>
            <p:cNvPr id="71" name="TextBox 9">
              <a:extLst>
                <a:ext uri="{FF2B5EF4-FFF2-40B4-BE49-F238E27FC236}">
                  <a16:creationId xmlns:a16="http://schemas.microsoft.com/office/drawing/2014/main" id="{29FB5D6F-A5DF-1DC2-0CAF-0629DE938019}"/>
                </a:ext>
              </a:extLst>
            </p:cNvPr>
            <p:cNvSpPr txBox="1"/>
            <p:nvPr/>
          </p:nvSpPr>
          <p:spPr>
            <a:xfrm>
              <a:off x="76200" y="-76200"/>
              <a:ext cx="660400" cy="812800"/>
            </a:xfrm>
            <a:prstGeom prst="rect">
              <a:avLst/>
            </a:prstGeom>
          </p:spPr>
          <p:txBody>
            <a:bodyPr lIns="50800" tIns="50800" rIns="50800" bIns="50800" rtlCol="0" anchor="ctr"/>
            <a:lstStyle/>
            <a:p>
              <a:pPr marL="0" lvl="0" indent="0" algn="ctr">
                <a:lnSpc>
                  <a:spcPts val="4253"/>
                </a:lnSpc>
              </a:pPr>
              <a:r>
                <a:rPr lang="es-CL" sz="3038" b="1" noProof="0" dirty="0">
                  <a:solidFill>
                    <a:srgbClr val="FFFFFF"/>
                  </a:solidFill>
                  <a:latin typeface="Agrandir Wide Bold"/>
                  <a:ea typeface="Agrandir Wide Bold"/>
                  <a:cs typeface="Agrandir Wide Bold"/>
                  <a:sym typeface="Agrandir Wide Bold"/>
                </a:rPr>
                <a:t>1</a:t>
              </a:r>
            </a:p>
          </p:txBody>
        </p:sp>
      </p:grpSp>
      <p:grpSp>
        <p:nvGrpSpPr>
          <p:cNvPr id="72" name="Group 10">
            <a:extLst>
              <a:ext uri="{FF2B5EF4-FFF2-40B4-BE49-F238E27FC236}">
                <a16:creationId xmlns:a16="http://schemas.microsoft.com/office/drawing/2014/main" id="{86DC7CAA-42EF-56B3-7439-7B156E94E55A}"/>
              </a:ext>
            </a:extLst>
          </p:cNvPr>
          <p:cNvGrpSpPr/>
          <p:nvPr/>
        </p:nvGrpSpPr>
        <p:grpSpPr>
          <a:xfrm>
            <a:off x="205119" y="3654194"/>
            <a:ext cx="851357" cy="851357"/>
            <a:chOff x="0" y="0"/>
            <a:chExt cx="812800" cy="812800"/>
          </a:xfrm>
        </p:grpSpPr>
        <p:sp>
          <p:nvSpPr>
            <p:cNvPr id="73" name="Freeform 11">
              <a:extLst>
                <a:ext uri="{FF2B5EF4-FFF2-40B4-BE49-F238E27FC236}">
                  <a16:creationId xmlns:a16="http://schemas.microsoft.com/office/drawing/2014/main" id="{D49E1FA1-3B52-D41F-11D2-D837226E9F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a:ln cap="sq">
              <a:noFill/>
              <a:prstDash val="solid"/>
              <a:miter/>
            </a:ln>
          </p:spPr>
          <p:txBody>
            <a:bodyPr/>
            <a:lstStyle/>
            <a:p>
              <a:endParaRPr lang="es-CL" noProof="0" dirty="0"/>
            </a:p>
          </p:txBody>
        </p:sp>
        <p:sp>
          <p:nvSpPr>
            <p:cNvPr id="74" name="TextBox 12">
              <a:extLst>
                <a:ext uri="{FF2B5EF4-FFF2-40B4-BE49-F238E27FC236}">
                  <a16:creationId xmlns:a16="http://schemas.microsoft.com/office/drawing/2014/main" id="{3649AC29-39C9-0209-F875-03D96A8C474E}"/>
                </a:ext>
              </a:extLst>
            </p:cNvPr>
            <p:cNvSpPr txBox="1"/>
            <p:nvPr/>
          </p:nvSpPr>
          <p:spPr>
            <a:xfrm>
              <a:off x="76200" y="-76200"/>
              <a:ext cx="660400" cy="812800"/>
            </a:xfrm>
            <a:prstGeom prst="rect">
              <a:avLst/>
            </a:prstGeom>
          </p:spPr>
          <p:txBody>
            <a:bodyPr lIns="50800" tIns="50800" rIns="50800" bIns="50800" rtlCol="0" anchor="ctr"/>
            <a:lstStyle/>
            <a:p>
              <a:pPr marL="0" lvl="0" indent="0" algn="ctr">
                <a:lnSpc>
                  <a:spcPts val="4253"/>
                </a:lnSpc>
                <a:spcBef>
                  <a:spcPct val="0"/>
                </a:spcBef>
              </a:pPr>
              <a:r>
                <a:rPr lang="es-CL" sz="3038" b="1" noProof="0" dirty="0">
                  <a:solidFill>
                    <a:srgbClr val="FFFFFF"/>
                  </a:solidFill>
                  <a:latin typeface="Agrandir Wide Bold"/>
                  <a:ea typeface="Agrandir Wide Bold"/>
                  <a:cs typeface="Agrandir Wide Bold"/>
                  <a:sym typeface="Agrandir Wide Bold"/>
                </a:rPr>
                <a:t>2</a:t>
              </a:r>
            </a:p>
          </p:txBody>
        </p:sp>
      </p:grpSp>
      <p:grpSp>
        <p:nvGrpSpPr>
          <p:cNvPr id="75" name="Group 13">
            <a:extLst>
              <a:ext uri="{FF2B5EF4-FFF2-40B4-BE49-F238E27FC236}">
                <a16:creationId xmlns:a16="http://schemas.microsoft.com/office/drawing/2014/main" id="{4D6DB3CF-020D-AC1E-765D-5D667A28CED0}"/>
              </a:ext>
            </a:extLst>
          </p:cNvPr>
          <p:cNvGrpSpPr/>
          <p:nvPr/>
        </p:nvGrpSpPr>
        <p:grpSpPr>
          <a:xfrm>
            <a:off x="214217" y="5530950"/>
            <a:ext cx="851357" cy="851357"/>
            <a:chOff x="118247" y="-1676692"/>
            <a:chExt cx="812800" cy="812800"/>
          </a:xfrm>
        </p:grpSpPr>
        <p:sp>
          <p:nvSpPr>
            <p:cNvPr id="76" name="Freeform 14">
              <a:extLst>
                <a:ext uri="{FF2B5EF4-FFF2-40B4-BE49-F238E27FC236}">
                  <a16:creationId xmlns:a16="http://schemas.microsoft.com/office/drawing/2014/main" id="{AE33D1A9-831D-CABD-3E77-DB7FBC373E1F}"/>
                </a:ext>
              </a:extLst>
            </p:cNvPr>
            <p:cNvSpPr/>
            <p:nvPr/>
          </p:nvSpPr>
          <p:spPr>
            <a:xfrm>
              <a:off x="118247" y="-1676692"/>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6AA"/>
            </a:solidFill>
            <a:ln cap="sq">
              <a:noFill/>
              <a:prstDash val="solid"/>
              <a:miter/>
            </a:ln>
          </p:spPr>
          <p:txBody>
            <a:bodyPr/>
            <a:lstStyle/>
            <a:p>
              <a:endParaRPr lang="es-CL" noProof="0" dirty="0"/>
            </a:p>
          </p:txBody>
        </p:sp>
        <p:sp>
          <p:nvSpPr>
            <p:cNvPr id="77" name="TextBox 15">
              <a:extLst>
                <a:ext uri="{FF2B5EF4-FFF2-40B4-BE49-F238E27FC236}">
                  <a16:creationId xmlns:a16="http://schemas.microsoft.com/office/drawing/2014/main" id="{B520982C-2B38-78A9-1D7D-A4DF1AEF6CC9}"/>
                </a:ext>
              </a:extLst>
            </p:cNvPr>
            <p:cNvSpPr txBox="1"/>
            <p:nvPr/>
          </p:nvSpPr>
          <p:spPr>
            <a:xfrm>
              <a:off x="211233" y="-1676692"/>
              <a:ext cx="660400" cy="812800"/>
            </a:xfrm>
            <a:prstGeom prst="rect">
              <a:avLst/>
            </a:prstGeom>
          </p:spPr>
          <p:txBody>
            <a:bodyPr lIns="50800" tIns="50800" rIns="50800" bIns="50800" rtlCol="0" anchor="ctr"/>
            <a:lstStyle/>
            <a:p>
              <a:pPr marL="0" lvl="0" indent="0" algn="ctr">
                <a:lnSpc>
                  <a:spcPts val="4253"/>
                </a:lnSpc>
                <a:spcBef>
                  <a:spcPct val="0"/>
                </a:spcBef>
              </a:pPr>
              <a:r>
                <a:rPr lang="es-CL" sz="3038" b="1" u="none" strike="noStrike" noProof="0" dirty="0">
                  <a:solidFill>
                    <a:srgbClr val="FFFFFF"/>
                  </a:solidFill>
                  <a:latin typeface="Agrandir Wide Bold"/>
                  <a:ea typeface="Agrandir Wide Bold"/>
                  <a:cs typeface="Agrandir Wide Bold"/>
                  <a:sym typeface="Agrandir Wide Bold"/>
                </a:rPr>
                <a:t>3</a:t>
              </a:r>
            </a:p>
          </p:txBody>
        </p:sp>
      </p:grpSp>
      <p:grpSp>
        <p:nvGrpSpPr>
          <p:cNvPr id="78" name="Group 16">
            <a:extLst>
              <a:ext uri="{FF2B5EF4-FFF2-40B4-BE49-F238E27FC236}">
                <a16:creationId xmlns:a16="http://schemas.microsoft.com/office/drawing/2014/main" id="{E7CE6899-EDCC-E63E-1DB9-201E05ED4D17}"/>
              </a:ext>
            </a:extLst>
          </p:cNvPr>
          <p:cNvGrpSpPr/>
          <p:nvPr/>
        </p:nvGrpSpPr>
        <p:grpSpPr>
          <a:xfrm>
            <a:off x="1215920" y="1855479"/>
            <a:ext cx="7804675" cy="1073165"/>
            <a:chOff x="0" y="0"/>
            <a:chExt cx="10406234" cy="1430886"/>
          </a:xfrm>
        </p:grpSpPr>
        <p:sp>
          <p:nvSpPr>
            <p:cNvPr id="79" name="TextBox 17">
              <a:extLst>
                <a:ext uri="{FF2B5EF4-FFF2-40B4-BE49-F238E27FC236}">
                  <a16:creationId xmlns:a16="http://schemas.microsoft.com/office/drawing/2014/main" id="{0F7CC2D7-1CCE-5AD4-DD6B-8E9611639E04}"/>
                </a:ext>
              </a:extLst>
            </p:cNvPr>
            <p:cNvSpPr txBox="1"/>
            <p:nvPr/>
          </p:nvSpPr>
          <p:spPr>
            <a:xfrm>
              <a:off x="0" y="0"/>
              <a:ext cx="10406234" cy="533308"/>
            </a:xfrm>
            <a:prstGeom prst="rect">
              <a:avLst/>
            </a:prstGeom>
          </p:spPr>
          <p:txBody>
            <a:bodyPr wrap="square" lIns="0" tIns="0" rIns="0" bIns="0" rtlCol="0" anchor="t">
              <a:spAutoFit/>
            </a:bodyPr>
            <a:lstStyle/>
            <a:p>
              <a:pPr marL="0" lvl="0" indent="0" algn="l">
                <a:lnSpc>
                  <a:spcPts val="3468"/>
                </a:lnSpc>
                <a:spcBef>
                  <a:spcPct val="0"/>
                </a:spcBef>
              </a:pPr>
              <a:r>
                <a:rPr lang="es-CL" b="1" noProof="0" dirty="0">
                  <a:solidFill>
                    <a:srgbClr val="171717"/>
                  </a:solidFill>
                  <a:latin typeface="Montserrat Bold"/>
                  <a:ea typeface="Montserrat Bold"/>
                  <a:cs typeface="Montserrat Bold"/>
                  <a:sym typeface="Montserrat Bold"/>
                </a:rPr>
                <a:t>SUBE EL VIDEO</a:t>
              </a:r>
            </a:p>
          </p:txBody>
        </p:sp>
        <p:sp>
          <p:nvSpPr>
            <p:cNvPr id="80" name="TextBox 18">
              <a:extLst>
                <a:ext uri="{FF2B5EF4-FFF2-40B4-BE49-F238E27FC236}">
                  <a16:creationId xmlns:a16="http://schemas.microsoft.com/office/drawing/2014/main" id="{A1F769F7-C99D-A37B-F2F9-2019B0352E36}"/>
                </a:ext>
              </a:extLst>
            </p:cNvPr>
            <p:cNvSpPr txBox="1"/>
            <p:nvPr/>
          </p:nvSpPr>
          <p:spPr>
            <a:xfrm>
              <a:off x="0" y="653579"/>
              <a:ext cx="9541205" cy="777307"/>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Un MP4 de cualquier cámara: trípode, celular o transmisión. Sin sensores ni hardware especial.</a:t>
              </a:r>
            </a:p>
          </p:txBody>
        </p:sp>
      </p:grpSp>
      <p:grpSp>
        <p:nvGrpSpPr>
          <p:cNvPr id="81" name="Group 19">
            <a:extLst>
              <a:ext uri="{FF2B5EF4-FFF2-40B4-BE49-F238E27FC236}">
                <a16:creationId xmlns:a16="http://schemas.microsoft.com/office/drawing/2014/main" id="{3685934D-EE2C-0B6D-5964-E78D854D2DCE}"/>
              </a:ext>
            </a:extLst>
          </p:cNvPr>
          <p:cNvGrpSpPr/>
          <p:nvPr/>
        </p:nvGrpSpPr>
        <p:grpSpPr>
          <a:xfrm>
            <a:off x="1179868" y="3637221"/>
            <a:ext cx="7840727" cy="1043033"/>
            <a:chOff x="-48069" y="-756850"/>
            <a:chExt cx="10454302" cy="1390710"/>
          </a:xfrm>
        </p:grpSpPr>
        <p:sp>
          <p:nvSpPr>
            <p:cNvPr id="82" name="TextBox 20">
              <a:extLst>
                <a:ext uri="{FF2B5EF4-FFF2-40B4-BE49-F238E27FC236}">
                  <a16:creationId xmlns:a16="http://schemas.microsoft.com/office/drawing/2014/main" id="{F0C2B9B1-54ED-C655-3FDB-535600898C99}"/>
                </a:ext>
              </a:extLst>
            </p:cNvPr>
            <p:cNvSpPr txBox="1"/>
            <p:nvPr/>
          </p:nvSpPr>
          <p:spPr>
            <a:xfrm>
              <a:off x="0" y="-756850"/>
              <a:ext cx="10406233" cy="524930"/>
            </a:xfrm>
            <a:prstGeom prst="rect">
              <a:avLst/>
            </a:prstGeom>
          </p:spPr>
          <p:txBody>
            <a:bodyPr wrap="square" lIns="0" tIns="0" rIns="0" bIns="0" rtlCol="0" anchor="t">
              <a:spAutoFit/>
            </a:bodyPr>
            <a:lstStyle/>
            <a:p>
              <a:pPr marL="0" lvl="0" indent="0" algn="l">
                <a:lnSpc>
                  <a:spcPts val="3468"/>
                </a:lnSpc>
                <a:spcBef>
                  <a:spcPct val="0"/>
                </a:spcBef>
              </a:pPr>
              <a:r>
                <a:rPr lang="es-CL" b="1" noProof="0" dirty="0">
                  <a:latin typeface="Montserrat Bold"/>
                  <a:ea typeface="Montserrat Bold"/>
                  <a:cs typeface="Montserrat Bold"/>
                  <a:sym typeface="Montserrat Bold"/>
                </a:rPr>
                <a:t>LA IA LO ANALIZA EN GOOGLE CLOUD</a:t>
              </a:r>
            </a:p>
          </p:txBody>
        </p:sp>
        <p:sp>
          <p:nvSpPr>
            <p:cNvPr id="83" name="TextBox 21">
              <a:extLst>
                <a:ext uri="{FF2B5EF4-FFF2-40B4-BE49-F238E27FC236}">
                  <a16:creationId xmlns:a16="http://schemas.microsoft.com/office/drawing/2014/main" id="{B79F8653-5E7D-B452-17D6-6641B9746CE1}"/>
                </a:ext>
              </a:extLst>
            </p:cNvPr>
            <p:cNvSpPr txBox="1"/>
            <p:nvPr/>
          </p:nvSpPr>
          <p:spPr>
            <a:xfrm>
              <a:off x="-48069" y="-143448"/>
              <a:ext cx="9541204" cy="777308"/>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Calibra la cancha, detecta y sigue a cada jugador, estima su pose y encuentra el balón.</a:t>
              </a:r>
            </a:p>
          </p:txBody>
        </p:sp>
      </p:grpSp>
      <p:grpSp>
        <p:nvGrpSpPr>
          <p:cNvPr id="84" name="Group 22">
            <a:extLst>
              <a:ext uri="{FF2B5EF4-FFF2-40B4-BE49-F238E27FC236}">
                <a16:creationId xmlns:a16="http://schemas.microsoft.com/office/drawing/2014/main" id="{30155C43-7A84-1864-F33A-6B379E224C06}"/>
              </a:ext>
            </a:extLst>
          </p:cNvPr>
          <p:cNvGrpSpPr/>
          <p:nvPr/>
        </p:nvGrpSpPr>
        <p:grpSpPr>
          <a:xfrm>
            <a:off x="1100739" y="5432115"/>
            <a:ext cx="7804675" cy="1000459"/>
            <a:chOff x="-153575" y="-2562879"/>
            <a:chExt cx="10406234" cy="1333946"/>
          </a:xfrm>
        </p:grpSpPr>
        <p:sp>
          <p:nvSpPr>
            <p:cNvPr id="85" name="TextBox 23">
              <a:extLst>
                <a:ext uri="{FF2B5EF4-FFF2-40B4-BE49-F238E27FC236}">
                  <a16:creationId xmlns:a16="http://schemas.microsoft.com/office/drawing/2014/main" id="{E83E5160-0E54-410C-BA35-DAAF5106B333}"/>
                </a:ext>
              </a:extLst>
            </p:cNvPr>
            <p:cNvSpPr txBox="1"/>
            <p:nvPr/>
          </p:nvSpPr>
          <p:spPr>
            <a:xfrm>
              <a:off x="-153575" y="-2562879"/>
              <a:ext cx="10406234" cy="533308"/>
            </a:xfrm>
            <a:prstGeom prst="rect">
              <a:avLst/>
            </a:prstGeom>
          </p:spPr>
          <p:txBody>
            <a:bodyPr wrap="square" lIns="0" tIns="0" rIns="0" bIns="0" rtlCol="0" anchor="t">
              <a:spAutoFit/>
            </a:bodyPr>
            <a:lstStyle/>
            <a:p>
              <a:pPr marL="0" lvl="0" indent="0" algn="l">
                <a:lnSpc>
                  <a:spcPts val="3468"/>
                </a:lnSpc>
                <a:spcBef>
                  <a:spcPct val="0"/>
                </a:spcBef>
              </a:pPr>
              <a:r>
                <a:rPr lang="es-CL" b="1" noProof="0" dirty="0">
                  <a:solidFill>
                    <a:schemeClr val="tx1">
                      <a:lumMod val="95000"/>
                      <a:lumOff val="5000"/>
                    </a:schemeClr>
                  </a:solidFill>
                  <a:latin typeface="Montserrat Bold"/>
                  <a:ea typeface="Montserrat Bold"/>
                  <a:cs typeface="Montserrat Bold"/>
                  <a:sym typeface="Montserrat Bold"/>
                </a:rPr>
                <a:t>MÉTRICAS POR JUGADOR</a:t>
              </a:r>
            </a:p>
          </p:txBody>
        </p:sp>
        <p:sp>
          <p:nvSpPr>
            <p:cNvPr id="86" name="TextBox 24">
              <a:extLst>
                <a:ext uri="{FF2B5EF4-FFF2-40B4-BE49-F238E27FC236}">
                  <a16:creationId xmlns:a16="http://schemas.microsoft.com/office/drawing/2014/main" id="{0067220F-973F-93B0-9438-24FD3E38718F}"/>
                </a:ext>
              </a:extLst>
            </p:cNvPr>
            <p:cNvSpPr txBox="1"/>
            <p:nvPr/>
          </p:nvSpPr>
          <p:spPr>
            <a:xfrm>
              <a:off x="-153575" y="-2014618"/>
              <a:ext cx="9541205" cy="785685"/>
            </a:xfrm>
            <a:prstGeom prst="rect">
              <a:avLst/>
            </a:prstGeom>
          </p:spPr>
          <p:txBody>
            <a:bodyPr wrap="square" lIns="0" tIns="0" rIns="0" bIns="0" rtlCol="0" anchor="t">
              <a:spAutoFit/>
            </a:bodyPr>
            <a:lstStyle/>
            <a:p>
              <a:pPr marL="0" lvl="0" indent="0" algn="just">
                <a:lnSpc>
                  <a:spcPts val="2416"/>
                </a:lnSpc>
                <a:spcBef>
                  <a:spcPct val="0"/>
                </a:spcBef>
              </a:pPr>
              <a:r>
                <a:rPr lang="es-CL" sz="1200" noProof="0" dirty="0">
                  <a:solidFill>
                    <a:schemeClr val="tx1">
                      <a:lumMod val="85000"/>
                      <a:lumOff val="15000"/>
                    </a:schemeClr>
                  </a:solidFill>
                  <a:latin typeface="Montserrat"/>
                  <a:ea typeface="Montserrat"/>
                  <a:cs typeface="Montserrat"/>
                  <a:sym typeface="Montserrat"/>
                </a:rPr>
                <a:t>El cuerpo técnico etiqueta a sus jugadores con miniaturas y recibe el reporte con las cinco métricas.</a:t>
              </a:r>
            </a:p>
          </p:txBody>
        </p:sp>
      </p:grpSp>
      <p:sp>
        <p:nvSpPr>
          <p:cNvPr id="111" name="TextBox 5">
            <a:extLst>
              <a:ext uri="{FF2B5EF4-FFF2-40B4-BE49-F238E27FC236}">
                <a16:creationId xmlns:a16="http://schemas.microsoft.com/office/drawing/2014/main" id="{DDD57870-836F-FCC3-9DA6-51388D065CED}"/>
              </a:ext>
            </a:extLst>
          </p:cNvPr>
          <p:cNvSpPr txBox="1"/>
          <p:nvPr/>
        </p:nvSpPr>
        <p:spPr>
          <a:xfrm>
            <a:off x="13511104" y="1327532"/>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EVALUACIÓN SUBJETIVA</a:t>
            </a:r>
          </a:p>
        </p:txBody>
      </p:sp>
      <p:sp>
        <p:nvSpPr>
          <p:cNvPr id="112" name="TextBox 6">
            <a:extLst>
              <a:ext uri="{FF2B5EF4-FFF2-40B4-BE49-F238E27FC236}">
                <a16:creationId xmlns:a16="http://schemas.microsoft.com/office/drawing/2014/main" id="{8CCF013C-4A1C-FCED-1F12-2EB296994D35}"/>
              </a:ext>
            </a:extLst>
          </p:cNvPr>
          <p:cNvSpPr txBox="1"/>
          <p:nvPr/>
        </p:nvSpPr>
        <p:spPr>
          <a:xfrm>
            <a:off x="13511103" y="2833893"/>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LESIONES PREVENIBLES</a:t>
            </a:r>
          </a:p>
        </p:txBody>
      </p:sp>
      <p:sp>
        <p:nvSpPr>
          <p:cNvPr id="113" name="TextBox 7">
            <a:extLst>
              <a:ext uri="{FF2B5EF4-FFF2-40B4-BE49-F238E27FC236}">
                <a16:creationId xmlns:a16="http://schemas.microsoft.com/office/drawing/2014/main" id="{EFCD4EAD-EC45-A572-B315-4388E10DF97C}"/>
              </a:ext>
            </a:extLst>
          </p:cNvPr>
          <p:cNvSpPr txBox="1"/>
          <p:nvPr/>
        </p:nvSpPr>
        <p:spPr>
          <a:xfrm>
            <a:off x="13511102" y="4124808"/>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HARDWARE COSTOSO</a:t>
            </a:r>
          </a:p>
        </p:txBody>
      </p:sp>
      <p:sp>
        <p:nvSpPr>
          <p:cNvPr id="114" name="TextBox 8">
            <a:extLst>
              <a:ext uri="{FF2B5EF4-FFF2-40B4-BE49-F238E27FC236}">
                <a16:creationId xmlns:a16="http://schemas.microsoft.com/office/drawing/2014/main" id="{8F7A8C97-3160-4181-45A0-E39698DD9B1D}"/>
              </a:ext>
            </a:extLst>
          </p:cNvPr>
          <p:cNvSpPr txBox="1"/>
          <p:nvPr/>
        </p:nvSpPr>
        <p:spPr>
          <a:xfrm>
            <a:off x="13511101" y="5399281"/>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PÉRDIDA DE COMPETITIVIDAD</a:t>
            </a:r>
          </a:p>
        </p:txBody>
      </p:sp>
      <p:sp>
        <p:nvSpPr>
          <p:cNvPr id="115" name="TextBox 9">
            <a:extLst>
              <a:ext uri="{FF2B5EF4-FFF2-40B4-BE49-F238E27FC236}">
                <a16:creationId xmlns:a16="http://schemas.microsoft.com/office/drawing/2014/main" id="{321973CA-E86E-0671-C098-B7D181806507}"/>
              </a:ext>
            </a:extLst>
          </p:cNvPr>
          <p:cNvSpPr txBox="1"/>
          <p:nvPr/>
        </p:nvSpPr>
        <p:spPr>
          <a:xfrm>
            <a:off x="13511104" y="1862339"/>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u="none" strike="noStrike" noProof="0" dirty="0">
                <a:solidFill>
                  <a:srgbClr val="FFFFFF"/>
                </a:solidFill>
                <a:latin typeface="Montserrat"/>
                <a:ea typeface="Montserrat"/>
                <a:cs typeface="Montserrat"/>
                <a:sym typeface="Montserrat"/>
              </a:rPr>
              <a:t>Los cuerpos técnicos toman decisiones tácticas y de rendimiento sin datos objetivos, basándose únicamente en percepción subjetiva y observación visual limitada.</a:t>
            </a:r>
          </a:p>
        </p:txBody>
      </p:sp>
      <p:sp>
        <p:nvSpPr>
          <p:cNvPr id="116" name="TextBox 10">
            <a:extLst>
              <a:ext uri="{FF2B5EF4-FFF2-40B4-BE49-F238E27FC236}">
                <a16:creationId xmlns:a16="http://schemas.microsoft.com/office/drawing/2014/main" id="{4BBF6EA9-0BC7-2EE1-5338-F3486487F86A}"/>
              </a:ext>
            </a:extLst>
          </p:cNvPr>
          <p:cNvSpPr txBox="1"/>
          <p:nvPr/>
        </p:nvSpPr>
        <p:spPr>
          <a:xfrm>
            <a:off x="13511104" y="3262728"/>
            <a:ext cx="6545626" cy="550985"/>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La ausencia de monitoreo biomecánico continuo impide detectar asimetrías y sobrecargas a tiempo, dejando lesiones musculares completamente prevenibles sin atención.</a:t>
            </a:r>
          </a:p>
        </p:txBody>
      </p:sp>
      <p:sp>
        <p:nvSpPr>
          <p:cNvPr id="117" name="TextBox 11">
            <a:extLst>
              <a:ext uri="{FF2B5EF4-FFF2-40B4-BE49-F238E27FC236}">
                <a16:creationId xmlns:a16="http://schemas.microsoft.com/office/drawing/2014/main" id="{1EE9D1BC-7027-0DE9-836E-D47EC2020D1A}"/>
              </a:ext>
            </a:extLst>
          </p:cNvPr>
          <p:cNvSpPr txBox="1"/>
          <p:nvPr/>
        </p:nvSpPr>
        <p:spPr>
          <a:xfrm>
            <a:off x="13511104" y="4537201"/>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Sistemas de tracking propietarios requieren cámaras y GPS especializados con costos superiores a USD 10,000, inaccesibles para clubes de segunda división y academias.</a:t>
            </a:r>
          </a:p>
        </p:txBody>
      </p:sp>
      <p:sp>
        <p:nvSpPr>
          <p:cNvPr id="118" name="TextBox 12">
            <a:extLst>
              <a:ext uri="{FF2B5EF4-FFF2-40B4-BE49-F238E27FC236}">
                <a16:creationId xmlns:a16="http://schemas.microsoft.com/office/drawing/2014/main" id="{1FABDA18-6A98-7579-BFC0-2735D8D26FC5}"/>
              </a:ext>
            </a:extLst>
          </p:cNvPr>
          <p:cNvSpPr txBox="1"/>
          <p:nvPr/>
        </p:nvSpPr>
        <p:spPr>
          <a:xfrm>
            <a:off x="13511104" y="5828116"/>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Los clubes formativos y sub-élite operan "a ciegas", perdiendo talento y competitividad frente a élites con acceso a inteligencia deportiva avanzada.</a:t>
            </a:r>
          </a:p>
        </p:txBody>
      </p:sp>
      <p:grpSp>
        <p:nvGrpSpPr>
          <p:cNvPr id="119" name="Group 13">
            <a:extLst>
              <a:ext uri="{FF2B5EF4-FFF2-40B4-BE49-F238E27FC236}">
                <a16:creationId xmlns:a16="http://schemas.microsoft.com/office/drawing/2014/main" id="{3E8C97D7-92F2-2F5D-AE4F-4F7894AD92E0}"/>
              </a:ext>
            </a:extLst>
          </p:cNvPr>
          <p:cNvGrpSpPr/>
          <p:nvPr/>
        </p:nvGrpSpPr>
        <p:grpSpPr>
          <a:xfrm>
            <a:off x="12824803" y="1535629"/>
            <a:ext cx="516267" cy="220738"/>
            <a:chOff x="0" y="0"/>
            <a:chExt cx="349533" cy="158342"/>
          </a:xfrm>
        </p:grpSpPr>
        <p:sp>
          <p:nvSpPr>
            <p:cNvPr id="120" name="Freeform 14">
              <a:extLst>
                <a:ext uri="{FF2B5EF4-FFF2-40B4-BE49-F238E27FC236}">
                  <a16:creationId xmlns:a16="http://schemas.microsoft.com/office/drawing/2014/main" id="{26B710DE-5B64-91DF-D166-097593CC95DD}"/>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121" name="TextBox 15">
              <a:extLst>
                <a:ext uri="{FF2B5EF4-FFF2-40B4-BE49-F238E27FC236}">
                  <a16:creationId xmlns:a16="http://schemas.microsoft.com/office/drawing/2014/main" id="{A447D5EA-DFEA-0F0D-5743-473CB75152EA}"/>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122" name="Freeform 25">
            <a:extLst>
              <a:ext uri="{FF2B5EF4-FFF2-40B4-BE49-F238E27FC236}">
                <a16:creationId xmlns:a16="http://schemas.microsoft.com/office/drawing/2014/main" id="{632B16FE-C7A2-5CF5-9D1F-7A60BAAF7741}"/>
              </a:ext>
            </a:extLst>
          </p:cNvPr>
          <p:cNvSpPr/>
          <p:nvPr/>
        </p:nvSpPr>
        <p:spPr>
          <a:xfrm>
            <a:off x="12957891" y="1564369"/>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123" name="Group 13">
            <a:extLst>
              <a:ext uri="{FF2B5EF4-FFF2-40B4-BE49-F238E27FC236}">
                <a16:creationId xmlns:a16="http://schemas.microsoft.com/office/drawing/2014/main" id="{21240FA0-AA90-D410-EB6D-EF7BBEBE36CB}"/>
              </a:ext>
            </a:extLst>
          </p:cNvPr>
          <p:cNvGrpSpPr/>
          <p:nvPr/>
        </p:nvGrpSpPr>
        <p:grpSpPr>
          <a:xfrm>
            <a:off x="12824803" y="3041990"/>
            <a:ext cx="516267" cy="220738"/>
            <a:chOff x="0" y="0"/>
            <a:chExt cx="349533" cy="158342"/>
          </a:xfrm>
        </p:grpSpPr>
        <p:sp>
          <p:nvSpPr>
            <p:cNvPr id="124" name="Freeform 14">
              <a:extLst>
                <a:ext uri="{FF2B5EF4-FFF2-40B4-BE49-F238E27FC236}">
                  <a16:creationId xmlns:a16="http://schemas.microsoft.com/office/drawing/2014/main" id="{5F717C97-0158-875A-54FD-CBB86FA13B0C}"/>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125" name="TextBox 15">
              <a:extLst>
                <a:ext uri="{FF2B5EF4-FFF2-40B4-BE49-F238E27FC236}">
                  <a16:creationId xmlns:a16="http://schemas.microsoft.com/office/drawing/2014/main" id="{F6863F10-399F-7AB3-7B05-BE581879FBCD}"/>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126" name="Freeform 25">
            <a:extLst>
              <a:ext uri="{FF2B5EF4-FFF2-40B4-BE49-F238E27FC236}">
                <a16:creationId xmlns:a16="http://schemas.microsoft.com/office/drawing/2014/main" id="{E2BA1037-2CBE-4C54-B10D-44FC355BADC9}"/>
              </a:ext>
            </a:extLst>
          </p:cNvPr>
          <p:cNvSpPr/>
          <p:nvPr/>
        </p:nvSpPr>
        <p:spPr>
          <a:xfrm>
            <a:off x="12957891" y="3070730"/>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127" name="Group 13">
            <a:extLst>
              <a:ext uri="{FF2B5EF4-FFF2-40B4-BE49-F238E27FC236}">
                <a16:creationId xmlns:a16="http://schemas.microsoft.com/office/drawing/2014/main" id="{1457718A-00FA-B0DC-D0F3-FE50B003BF31}"/>
              </a:ext>
            </a:extLst>
          </p:cNvPr>
          <p:cNvGrpSpPr/>
          <p:nvPr/>
        </p:nvGrpSpPr>
        <p:grpSpPr>
          <a:xfrm>
            <a:off x="12824803" y="4332905"/>
            <a:ext cx="516267" cy="220738"/>
            <a:chOff x="0" y="0"/>
            <a:chExt cx="349533" cy="158342"/>
          </a:xfrm>
        </p:grpSpPr>
        <p:sp>
          <p:nvSpPr>
            <p:cNvPr id="128" name="Freeform 14">
              <a:extLst>
                <a:ext uri="{FF2B5EF4-FFF2-40B4-BE49-F238E27FC236}">
                  <a16:creationId xmlns:a16="http://schemas.microsoft.com/office/drawing/2014/main" id="{CA9D4F5D-071C-31B7-BA50-E0255F31AF94}"/>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129" name="TextBox 15">
              <a:extLst>
                <a:ext uri="{FF2B5EF4-FFF2-40B4-BE49-F238E27FC236}">
                  <a16:creationId xmlns:a16="http://schemas.microsoft.com/office/drawing/2014/main" id="{DB37BB48-484C-D64D-CA4F-2E51F4539FC3}"/>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130" name="Freeform 25">
            <a:extLst>
              <a:ext uri="{FF2B5EF4-FFF2-40B4-BE49-F238E27FC236}">
                <a16:creationId xmlns:a16="http://schemas.microsoft.com/office/drawing/2014/main" id="{4E4B475F-3FAA-5310-11C0-6038C5A94121}"/>
              </a:ext>
            </a:extLst>
          </p:cNvPr>
          <p:cNvSpPr/>
          <p:nvPr/>
        </p:nvSpPr>
        <p:spPr>
          <a:xfrm>
            <a:off x="12957891" y="4361645"/>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131" name="Group 13">
            <a:extLst>
              <a:ext uri="{FF2B5EF4-FFF2-40B4-BE49-F238E27FC236}">
                <a16:creationId xmlns:a16="http://schemas.microsoft.com/office/drawing/2014/main" id="{F6FE93BE-E04C-6B44-1D49-657FC30ACA4A}"/>
              </a:ext>
            </a:extLst>
          </p:cNvPr>
          <p:cNvGrpSpPr/>
          <p:nvPr/>
        </p:nvGrpSpPr>
        <p:grpSpPr>
          <a:xfrm>
            <a:off x="12824803" y="5607378"/>
            <a:ext cx="516267" cy="220738"/>
            <a:chOff x="0" y="0"/>
            <a:chExt cx="349533" cy="158342"/>
          </a:xfrm>
        </p:grpSpPr>
        <p:sp>
          <p:nvSpPr>
            <p:cNvPr id="132" name="Freeform 14">
              <a:extLst>
                <a:ext uri="{FF2B5EF4-FFF2-40B4-BE49-F238E27FC236}">
                  <a16:creationId xmlns:a16="http://schemas.microsoft.com/office/drawing/2014/main" id="{35DD8810-EF74-27EA-26C9-73958666296D}"/>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133" name="TextBox 15">
              <a:extLst>
                <a:ext uri="{FF2B5EF4-FFF2-40B4-BE49-F238E27FC236}">
                  <a16:creationId xmlns:a16="http://schemas.microsoft.com/office/drawing/2014/main" id="{54E48DD1-A183-DEA5-A45F-ADF9D1343DF1}"/>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134" name="Freeform 25">
            <a:extLst>
              <a:ext uri="{FF2B5EF4-FFF2-40B4-BE49-F238E27FC236}">
                <a16:creationId xmlns:a16="http://schemas.microsoft.com/office/drawing/2014/main" id="{1D1EDA7F-EA7A-FD6D-33ED-BB8A392EE5B6}"/>
              </a:ext>
            </a:extLst>
          </p:cNvPr>
          <p:cNvSpPr/>
          <p:nvPr/>
        </p:nvSpPr>
        <p:spPr>
          <a:xfrm>
            <a:off x="12957891" y="5636118"/>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sp>
        <p:nvSpPr>
          <p:cNvPr id="136" name="TextBox 7">
            <a:extLst>
              <a:ext uri="{FF2B5EF4-FFF2-40B4-BE49-F238E27FC236}">
                <a16:creationId xmlns:a16="http://schemas.microsoft.com/office/drawing/2014/main" id="{8A40DF3F-0CC6-86A4-1F3C-5248C2B7970F}"/>
              </a:ext>
            </a:extLst>
          </p:cNvPr>
          <p:cNvSpPr txBox="1"/>
          <p:nvPr/>
        </p:nvSpPr>
        <p:spPr>
          <a:xfrm>
            <a:off x="13363046" y="1619441"/>
            <a:ext cx="5931471" cy="4293291"/>
          </a:xfrm>
          <a:prstGeom prst="rect">
            <a:avLst/>
          </a:prstGeom>
        </p:spPr>
        <p:txBody>
          <a:bodyPr lIns="0" tIns="0" rIns="0" bIns="0" rtlCol="0" anchor="t">
            <a:spAutoFit/>
          </a:bodyPr>
          <a:lstStyle/>
          <a:p>
            <a:pPr marL="0" lvl="0" indent="0" algn="just">
              <a:lnSpc>
                <a:spcPts val="2362"/>
              </a:lnSpc>
            </a:pPr>
            <a:r>
              <a:rPr lang="es-CL" sz="1936" noProof="0" dirty="0">
                <a:latin typeface="Montserrat"/>
                <a:ea typeface="Montserrat"/>
                <a:cs typeface="Montserrat"/>
                <a:sym typeface="Montserrat"/>
              </a:rPr>
              <a:t>FUT.AI es una plataforma B2B SaaS 100% automatizada que combina Inteligencia Artificial y Visión por Computadora para transformar el análisis táctico y biomecánico en el fútbol.</a:t>
            </a:r>
          </a:p>
          <a:p>
            <a:pPr marL="0" lvl="0" indent="0" algn="just">
              <a:lnSpc>
                <a:spcPts val="2362"/>
              </a:lnSpc>
            </a:pPr>
            <a:r>
              <a:rPr lang="es-CL" sz="1936" noProof="0" dirty="0">
                <a:latin typeface="Montserrat"/>
                <a:ea typeface="Montserrat"/>
                <a:cs typeface="Montserrat"/>
                <a:sym typeface="Montserrat"/>
              </a:rPr>
              <a:t>Diseñada para equipos profesionales y formativos, opera de forma agnóstica al hardware: solo requiere video MP4 estándar, eliminando la necesidad de costosas cámaras propietarias o dispositivos GPS.</a:t>
            </a:r>
          </a:p>
          <a:p>
            <a:pPr marL="0" lvl="0" indent="0" algn="just">
              <a:lnSpc>
                <a:spcPts val="2362"/>
              </a:lnSpc>
            </a:pPr>
            <a:r>
              <a:rPr lang="es-CL" sz="1936" noProof="0" dirty="0">
                <a:latin typeface="Montserrat"/>
                <a:ea typeface="Montserrat"/>
                <a:cs typeface="Montserrat"/>
                <a:sym typeface="Montserrat"/>
              </a:rPr>
              <a:t>Nuestra misión es democratizar la inteligencia deportiva avanzada, poniendo herramientas de élite al alcance de los 15,000 clubes sub-élite que hoy operan sin datos objetivos.</a:t>
            </a:r>
          </a:p>
        </p:txBody>
      </p:sp>
    </p:spTree>
    <p:extLst>
      <p:ext uri="{BB962C8B-B14F-4D97-AF65-F5344CB8AC3E}">
        <p14:creationId xmlns:p14="http://schemas.microsoft.com/office/powerpoint/2010/main" val="3109465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98B24-7C5B-F6B4-EB66-FD5AFCDE0FE7}"/>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3AF50BB3-8DB0-4760-AE71-49F6BC545384}"/>
              </a:ext>
            </a:extLst>
          </p:cNvPr>
          <p:cNvPicPr preferRelativeResize="0">
            <a:picLocks noChangeAspect="1"/>
          </p:cNvPicPr>
          <p:nvPr/>
        </p:nvPicPr>
        <p:blipFill>
          <a:blip r:embed="rId3"/>
          <a:srcRect/>
          <a:stretch>
            <a:fillRect/>
          </a:stretch>
        </p:blipFill>
        <p:spPr>
          <a:xfrm rot="15893212">
            <a:off x="12317157" y="-8014277"/>
            <a:ext cx="4810883" cy="12321824"/>
          </a:xfrm>
          <a:prstGeom prst="rect">
            <a:avLst/>
          </a:prstGeom>
        </p:spPr>
      </p:pic>
      <p:pic>
        <p:nvPicPr>
          <p:cNvPr id="12" name="Imagen 11">
            <a:extLst>
              <a:ext uri="{FF2B5EF4-FFF2-40B4-BE49-F238E27FC236}">
                <a16:creationId xmlns:a16="http://schemas.microsoft.com/office/drawing/2014/main" id="{ED3C076C-A2F0-16BB-2256-29520F76D167}"/>
              </a:ext>
            </a:extLst>
          </p:cNvPr>
          <p:cNvPicPr>
            <a:picLocks noChangeAspect="1"/>
          </p:cNvPicPr>
          <p:nvPr/>
        </p:nvPicPr>
        <p:blipFill>
          <a:blip r:embed="rId4"/>
          <a:srcRect/>
          <a:stretch>
            <a:fillRect/>
          </a:stretch>
        </p:blipFill>
        <p:spPr>
          <a:xfrm rot="15974694" flipV="1">
            <a:off x="-2493704" y="-3736394"/>
            <a:ext cx="8942846" cy="6448570"/>
          </a:xfrm>
          <a:prstGeom prst="rect">
            <a:avLst/>
          </a:prstGeom>
        </p:spPr>
      </p:pic>
      <p:sp>
        <p:nvSpPr>
          <p:cNvPr id="4" name="Rectángulo 3">
            <a:extLst>
              <a:ext uri="{FF2B5EF4-FFF2-40B4-BE49-F238E27FC236}">
                <a16:creationId xmlns:a16="http://schemas.microsoft.com/office/drawing/2014/main" id="{56060326-E112-988B-0B35-16DBFF8E1047}"/>
              </a:ext>
            </a:extLst>
          </p:cNvPr>
          <p:cNvSpPr/>
          <p:nvPr/>
        </p:nvSpPr>
        <p:spPr>
          <a:xfrm>
            <a:off x="3710487" y="-25400"/>
            <a:ext cx="8481513" cy="69088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mc:AlternateContent xmlns:mc="http://schemas.openxmlformats.org/markup-compatibility/2006">
        <mc:Choice xmlns:am3d="http://schemas.microsoft.com/office/drawing/2017/model3d" Requires="am3d">
          <p:graphicFrame>
            <p:nvGraphicFramePr>
              <p:cNvPr id="2" name="Modelo 3D 1">
                <a:extLst>
                  <a:ext uri="{FF2B5EF4-FFF2-40B4-BE49-F238E27FC236}">
                    <a16:creationId xmlns:a16="http://schemas.microsoft.com/office/drawing/2014/main" id="{3C7320DD-1338-925C-2739-63F67F0AF1E8}"/>
                  </a:ext>
                </a:extLst>
              </p:cNvPr>
              <p:cNvGraphicFramePr>
                <a:graphicFrameLocks noChangeAspect="1"/>
              </p:cNvGraphicFramePr>
              <p:nvPr>
                <p:extLst>
                  <p:ext uri="{D42A27DB-BD31-4B8C-83A1-F6EECF244321}">
                    <p14:modId xmlns:p14="http://schemas.microsoft.com/office/powerpoint/2010/main" val="3255287427"/>
                  </p:ext>
                </p:extLst>
              </p:nvPr>
            </p:nvGraphicFramePr>
            <p:xfrm>
              <a:off x="845680" y="4151364"/>
              <a:ext cx="2264075" cy="2283101"/>
            </p:xfrm>
            <a:graphic>
              <a:graphicData uri="http://schemas.microsoft.com/office/drawing/2017/model3d">
                <am3d:model3d r:embed="rId5">
                  <am3d:spPr>
                    <a:xfrm>
                      <a:off x="0" y="0"/>
                      <a:ext cx="2264075" cy="2283101"/>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1546058" ay="-855076" az="10393534"/>
                    <am3d:postTrans dx="0" dy="0" dz="0"/>
                  </am3d:trans>
                  <am3d:raster rName="Office3DRenderer" rVer="16.0.8326">
                    <am3d:blip r:embed="rId6"/>
                  </am3d:raster>
                  <am3d:objViewport viewportSz="601216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o 3D 1">
                <a:extLst>
                  <a:ext uri="{FF2B5EF4-FFF2-40B4-BE49-F238E27FC236}">
                    <a16:creationId xmlns:a16="http://schemas.microsoft.com/office/drawing/2014/main" id="{3C7320DD-1338-925C-2739-63F67F0AF1E8}"/>
                  </a:ext>
                </a:extLst>
              </p:cNvPr>
              <p:cNvPicPr>
                <a:picLocks noGrp="1" noRot="1" noChangeAspect="1" noMove="1" noResize="1" noEditPoints="1" noAdjustHandles="1" noChangeArrowheads="1" noChangeShapeType="1" noCrop="1"/>
              </p:cNvPicPr>
              <p:nvPr/>
            </p:nvPicPr>
            <p:blipFill>
              <a:blip r:embed="rId6"/>
              <a:stretch>
                <a:fillRect/>
              </a:stretch>
            </p:blipFill>
            <p:spPr>
              <a:xfrm>
                <a:off x="845680" y="4151364"/>
                <a:ext cx="2264075" cy="2283101"/>
              </a:xfrm>
              <a:prstGeom prst="rect">
                <a:avLst/>
              </a:prstGeom>
            </p:spPr>
          </p:pic>
        </mc:Fallback>
      </mc:AlternateContent>
      <p:sp>
        <p:nvSpPr>
          <p:cNvPr id="7" name="CuadroTexto 6">
            <a:extLst>
              <a:ext uri="{FF2B5EF4-FFF2-40B4-BE49-F238E27FC236}">
                <a16:creationId xmlns:a16="http://schemas.microsoft.com/office/drawing/2014/main" id="{4401DCE9-EC1F-39FB-F3D2-33996680689D}"/>
              </a:ext>
            </a:extLst>
          </p:cNvPr>
          <p:cNvSpPr txBox="1"/>
          <p:nvPr/>
        </p:nvSpPr>
        <p:spPr>
          <a:xfrm>
            <a:off x="606950" y="433046"/>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rgbClr val="FFFFFF"/>
                </a:solidFill>
                <a:latin typeface="Montserrat Bold"/>
                <a:ea typeface="Montserrat Bold"/>
                <a:cs typeface="Montserrat Bold"/>
                <a:sym typeface="Montserrat Bold"/>
              </a:rPr>
              <a:t>Fut.Ai</a:t>
            </a:r>
          </a:p>
        </p:txBody>
      </p:sp>
      <p:pic>
        <p:nvPicPr>
          <p:cNvPr id="6" name="Imagen 5">
            <a:extLst>
              <a:ext uri="{FF2B5EF4-FFF2-40B4-BE49-F238E27FC236}">
                <a16:creationId xmlns:a16="http://schemas.microsoft.com/office/drawing/2014/main" id="{0136A1EE-E5DE-CDB1-D7EB-CF2C97ADD91A}"/>
              </a:ext>
            </a:extLst>
          </p:cNvPr>
          <p:cNvPicPr>
            <a:picLocks noChangeAspect="1"/>
          </p:cNvPicPr>
          <p:nvPr/>
        </p:nvPicPr>
        <p:blipFill>
          <a:blip r:embed="rId7"/>
          <a:srcRect/>
          <a:stretch>
            <a:fillRect/>
          </a:stretch>
        </p:blipFill>
        <p:spPr>
          <a:xfrm>
            <a:off x="2468310" y="633293"/>
            <a:ext cx="996664" cy="863537"/>
          </a:xfrm>
          <a:prstGeom prst="rect">
            <a:avLst/>
          </a:prstGeom>
        </p:spPr>
      </p:pic>
      <p:sp>
        <p:nvSpPr>
          <p:cNvPr id="10" name="CuadroTexto 9">
            <a:extLst>
              <a:ext uri="{FF2B5EF4-FFF2-40B4-BE49-F238E27FC236}">
                <a16:creationId xmlns:a16="http://schemas.microsoft.com/office/drawing/2014/main" id="{58020ED2-20B3-F307-0D29-E2ECEA1CE19E}"/>
              </a:ext>
            </a:extLst>
          </p:cNvPr>
          <p:cNvSpPr txBox="1"/>
          <p:nvPr/>
        </p:nvSpPr>
        <p:spPr>
          <a:xfrm>
            <a:off x="5156300" y="376043"/>
            <a:ext cx="6949440" cy="1096006"/>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bg1">
                    <a:lumMod val="85000"/>
                  </a:schemeClr>
                </a:solidFill>
                <a:latin typeface="Montserrat Bold"/>
                <a:ea typeface="Montserrat Bold"/>
                <a:cs typeface="Montserrat Bold"/>
                <a:sym typeface="Montserrat Bold"/>
              </a:rPr>
              <a:t>Las 5 Métricas</a:t>
            </a:r>
          </a:p>
        </p:txBody>
      </p:sp>
      <p:sp>
        <p:nvSpPr>
          <p:cNvPr id="8" name="TextBox 5">
            <a:extLst>
              <a:ext uri="{FF2B5EF4-FFF2-40B4-BE49-F238E27FC236}">
                <a16:creationId xmlns:a16="http://schemas.microsoft.com/office/drawing/2014/main" id="{370EDCB1-BC61-08B9-3A51-8EBE55CEAF7B}"/>
              </a:ext>
            </a:extLst>
          </p:cNvPr>
          <p:cNvSpPr txBox="1"/>
          <p:nvPr/>
        </p:nvSpPr>
        <p:spPr>
          <a:xfrm>
            <a:off x="5326334" y="1325880"/>
            <a:ext cx="6766560"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TIEMPO DE REACCIÓN</a:t>
            </a:r>
          </a:p>
        </p:txBody>
      </p:sp>
      <p:sp>
        <p:nvSpPr>
          <p:cNvPr id="13" name="TextBox 6">
            <a:extLst>
              <a:ext uri="{FF2B5EF4-FFF2-40B4-BE49-F238E27FC236}">
                <a16:creationId xmlns:a16="http://schemas.microsoft.com/office/drawing/2014/main" id="{D4714206-314A-657A-1792-FD05CA0C55DD}"/>
              </a:ext>
            </a:extLst>
          </p:cNvPr>
          <p:cNvSpPr txBox="1"/>
          <p:nvPr/>
        </p:nvSpPr>
        <p:spPr>
          <a:xfrm>
            <a:off x="5326333" y="2359152"/>
            <a:ext cx="6766560"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VELOCIDAD</a:t>
            </a:r>
          </a:p>
        </p:txBody>
      </p:sp>
      <p:sp>
        <p:nvSpPr>
          <p:cNvPr id="15" name="TextBox 7">
            <a:extLst>
              <a:ext uri="{FF2B5EF4-FFF2-40B4-BE49-F238E27FC236}">
                <a16:creationId xmlns:a16="http://schemas.microsoft.com/office/drawing/2014/main" id="{9723B745-6372-F688-36FB-749F1748210F}"/>
              </a:ext>
            </a:extLst>
          </p:cNvPr>
          <p:cNvSpPr txBox="1"/>
          <p:nvPr/>
        </p:nvSpPr>
        <p:spPr>
          <a:xfrm>
            <a:off x="5326332" y="3392424"/>
            <a:ext cx="6766560"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PASES</a:t>
            </a:r>
          </a:p>
        </p:txBody>
      </p:sp>
      <p:sp>
        <p:nvSpPr>
          <p:cNvPr id="17" name="TextBox 8">
            <a:extLst>
              <a:ext uri="{FF2B5EF4-FFF2-40B4-BE49-F238E27FC236}">
                <a16:creationId xmlns:a16="http://schemas.microsoft.com/office/drawing/2014/main" id="{08A6CDC6-AECA-FF6D-0F1F-D94BEFDC4010}"/>
              </a:ext>
            </a:extLst>
          </p:cNvPr>
          <p:cNvSpPr txBox="1"/>
          <p:nvPr/>
        </p:nvSpPr>
        <p:spPr>
          <a:xfrm>
            <a:off x="5326331" y="4425696"/>
            <a:ext cx="6766560"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TIEMPO DE DECISIÓN</a:t>
            </a:r>
          </a:p>
        </p:txBody>
      </p:sp>
      <p:sp>
        <p:nvSpPr>
          <p:cNvPr id="42" name="TextBox 8">
            <a:extLst>
              <a:ext uri="{FF2B5EF4-FFF2-40B4-BE49-F238E27FC236}">
                <a16:creationId xmlns:a16="http://schemas.microsoft.com/office/drawing/2014/main" id="{08A6CDC6-AECA-FF6D-0F1F-D94BEFDC4010}"/>
              </a:ext>
            </a:extLst>
          </p:cNvPr>
          <p:cNvSpPr txBox="1"/>
          <p:nvPr/>
        </p:nvSpPr>
        <p:spPr>
          <a:xfrm>
            <a:off x="5326331" y="5458968"/>
            <a:ext cx="6766560"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MAPA DE SOMBRA · FANTASMA TÁCTICO</a:t>
            </a:r>
          </a:p>
        </p:txBody>
      </p:sp>
      <p:sp>
        <p:nvSpPr>
          <p:cNvPr id="19" name="TextBox 9">
            <a:extLst>
              <a:ext uri="{FF2B5EF4-FFF2-40B4-BE49-F238E27FC236}">
                <a16:creationId xmlns:a16="http://schemas.microsoft.com/office/drawing/2014/main" id="{93137855-30B3-F0D7-2EDA-BE386D76CCE9}"/>
              </a:ext>
            </a:extLst>
          </p:cNvPr>
          <p:cNvSpPr txBox="1"/>
          <p:nvPr/>
        </p:nvSpPr>
        <p:spPr>
          <a:xfrm>
            <a:off x="5326334" y="1783080"/>
            <a:ext cx="6545626" cy="554191"/>
          </a:xfrm>
          <a:prstGeom prst="rect">
            <a:avLst/>
          </a:prstGeom>
        </p:spPr>
        <p:txBody>
          <a:bodyPr wrap="square" lIns="0" tIns="0" rIns="0" bIns="0" rtlCol="0" anchor="t">
            <a:spAutoFit/>
          </a:bodyPr>
          <a:lstStyle/>
          <a:p>
            <a:pPr marL="0" lvl="0" indent="0" algn="just">
              <a:lnSpc>
                <a:spcPts val="1900"/>
              </a:lnSpc>
              <a:spcBef>
                <a:spcPct val="0"/>
              </a:spcBef>
            </a:pPr>
            <a:r>
              <a:rPr lang="es-CL" sz="1100" u="none" strike="noStrike" noProof="0" dirty="0">
                <a:solidFill>
                  <a:srgbClr val="FFFFFF"/>
                </a:solidFill>
                <a:latin typeface="Montserrat"/>
                <a:ea typeface="Montserrat"/>
                <a:cs typeface="Montserrat"/>
                <a:sym typeface="Montserrat"/>
              </a:rPr>
              <a:t>Desde que sale un pase hasta que el jugador acelera al menos 2 m/s² (jugadores a menos de 20 m).</a:t>
            </a:r>
          </a:p>
        </p:txBody>
      </p:sp>
      <p:sp>
        <p:nvSpPr>
          <p:cNvPr id="21" name="TextBox 10">
            <a:extLst>
              <a:ext uri="{FF2B5EF4-FFF2-40B4-BE49-F238E27FC236}">
                <a16:creationId xmlns:a16="http://schemas.microsoft.com/office/drawing/2014/main" id="{358B01C5-6F4F-226A-A526-7DB4994979E7}"/>
              </a:ext>
            </a:extLst>
          </p:cNvPr>
          <p:cNvSpPr txBox="1"/>
          <p:nvPr/>
        </p:nvSpPr>
        <p:spPr>
          <a:xfrm>
            <a:off x="5326334" y="2816352"/>
            <a:ext cx="6545626" cy="550985"/>
          </a:xfrm>
          <a:prstGeom prst="rect">
            <a:avLst/>
          </a:prstGeom>
        </p:spPr>
        <p:txBody>
          <a:bodyPr wrap="square" lIns="0" tIns="0" rIns="0" bIns="0" rtlCol="0" anchor="t">
            <a:spAutoFit/>
          </a:bodyPr>
          <a:lstStyle/>
          <a:p>
            <a:pPr marL="0" lvl="0" indent="0" algn="just">
              <a:lnSpc>
                <a:spcPts val="1900"/>
              </a:lnSpc>
              <a:spcBef>
                <a:spcPct val="0"/>
              </a:spcBef>
            </a:pPr>
            <a:r>
              <a:rPr lang="es-CL" sz="1100" noProof="0" dirty="0">
                <a:solidFill>
                  <a:srgbClr val="FFFFFF"/>
                </a:solidFill>
                <a:latin typeface="Montserrat"/>
                <a:ea typeface="Montserrat"/>
                <a:cs typeface="Montserrat"/>
                <a:sym typeface="Montserrat"/>
              </a:rPr>
              <a:t>Máxima sostenida durante 1 s, velocidad media y distancia recorrida por cada jugador.</a:t>
            </a:r>
          </a:p>
        </p:txBody>
      </p:sp>
      <p:sp>
        <p:nvSpPr>
          <p:cNvPr id="23" name="TextBox 11">
            <a:extLst>
              <a:ext uri="{FF2B5EF4-FFF2-40B4-BE49-F238E27FC236}">
                <a16:creationId xmlns:a16="http://schemas.microsoft.com/office/drawing/2014/main" id="{6D85E8B4-A027-27AA-5B41-707C34631F65}"/>
              </a:ext>
            </a:extLst>
          </p:cNvPr>
          <p:cNvSpPr txBox="1"/>
          <p:nvPr/>
        </p:nvSpPr>
        <p:spPr>
          <a:xfrm>
            <a:off x="5326334" y="3849624"/>
            <a:ext cx="6545626" cy="554191"/>
          </a:xfrm>
          <a:prstGeom prst="rect">
            <a:avLst/>
          </a:prstGeom>
        </p:spPr>
        <p:txBody>
          <a:bodyPr wrap="square" lIns="0" tIns="0" rIns="0" bIns="0" rtlCol="0" anchor="t">
            <a:spAutoFit/>
          </a:bodyPr>
          <a:lstStyle/>
          <a:p>
            <a:pPr marL="0" lvl="0" indent="0" algn="just">
              <a:lnSpc>
                <a:spcPts val="1900"/>
              </a:lnSpc>
              <a:spcBef>
                <a:spcPct val="0"/>
              </a:spcBef>
            </a:pPr>
            <a:r>
              <a:rPr lang="es-CL" sz="1100" noProof="0" dirty="0">
                <a:solidFill>
                  <a:srgbClr val="FFFFFF"/>
                </a:solidFill>
                <a:latin typeface="Montserrat"/>
                <a:ea typeface="Montserrat"/>
                <a:cs typeface="Montserrat"/>
                <a:sym typeface="Montserrat"/>
              </a:rPr>
              <a:t>El balón deja a un jugador y llega a otro en menos de 3 s. Es completo si llega a un compañero.</a:t>
            </a:r>
          </a:p>
        </p:txBody>
      </p:sp>
      <p:sp>
        <p:nvSpPr>
          <p:cNvPr id="25" name="TextBox 12">
            <a:extLst>
              <a:ext uri="{FF2B5EF4-FFF2-40B4-BE49-F238E27FC236}">
                <a16:creationId xmlns:a16="http://schemas.microsoft.com/office/drawing/2014/main" id="{209408EA-28B3-944E-7FB1-91E4890373BF}"/>
              </a:ext>
            </a:extLst>
          </p:cNvPr>
          <p:cNvSpPr txBox="1"/>
          <p:nvPr/>
        </p:nvSpPr>
        <p:spPr>
          <a:xfrm>
            <a:off x="5326334" y="4882896"/>
            <a:ext cx="6545626" cy="554191"/>
          </a:xfrm>
          <a:prstGeom prst="rect">
            <a:avLst/>
          </a:prstGeom>
        </p:spPr>
        <p:txBody>
          <a:bodyPr wrap="square" lIns="0" tIns="0" rIns="0" bIns="0" rtlCol="0" anchor="t">
            <a:spAutoFit/>
          </a:bodyPr>
          <a:lstStyle/>
          <a:p>
            <a:pPr marL="0" lvl="0" indent="0" algn="just">
              <a:lnSpc>
                <a:spcPts val="1900"/>
              </a:lnSpc>
              <a:spcBef>
                <a:spcPct val="0"/>
              </a:spcBef>
            </a:pPr>
            <a:r>
              <a:rPr lang="es-CL" sz="1100" noProof="0" dirty="0">
                <a:solidFill>
                  <a:srgbClr val="FFFFFF"/>
                </a:solidFill>
                <a:latin typeface="Montserrat"/>
                <a:ea typeface="Montserrat"/>
                <a:cs typeface="Montserrat"/>
                <a:sym typeface="Montserrat"/>
              </a:rPr>
              <a:t>Tiempo que el jugador tiene el balón antes de soltarlo en un pase.</a:t>
            </a:r>
          </a:p>
        </p:txBody>
      </p:sp>
      <p:sp>
        <p:nvSpPr>
          <p:cNvPr id="43" name="TextBox 12">
            <a:extLst>
              <a:ext uri="{FF2B5EF4-FFF2-40B4-BE49-F238E27FC236}">
                <a16:creationId xmlns:a16="http://schemas.microsoft.com/office/drawing/2014/main" id="{209408EA-28B3-944E-7FB1-91E4890373BF}"/>
              </a:ext>
            </a:extLst>
          </p:cNvPr>
          <p:cNvSpPr txBox="1"/>
          <p:nvPr/>
        </p:nvSpPr>
        <p:spPr>
          <a:xfrm>
            <a:off x="5326334" y="5916168"/>
            <a:ext cx="6545626" cy="554191"/>
          </a:xfrm>
          <a:prstGeom prst="rect">
            <a:avLst/>
          </a:prstGeom>
        </p:spPr>
        <p:txBody>
          <a:bodyPr wrap="square" lIns="0" tIns="0" rIns="0" bIns="0" rtlCol="0" anchor="t">
            <a:spAutoFit/>
          </a:bodyPr>
          <a:lstStyle/>
          <a:p>
            <a:pPr marL="0" lvl="0" indent="0" algn="just">
              <a:lnSpc>
                <a:spcPts val="1900"/>
              </a:lnSpc>
              <a:spcBef>
                <a:spcPct val="0"/>
              </a:spcBef>
            </a:pPr>
            <a:r>
              <a:rPr lang="es-CL" sz="1100" noProof="0" dirty="0">
                <a:solidFill>
                  <a:srgbClr val="FFFFFF"/>
                </a:solidFill>
                <a:latin typeface="Montserrat"/>
                <a:ea typeface="Montserrat"/>
                <a:cs typeface="Montserrat"/>
                <a:sym typeface="Montserrat"/>
              </a:rPr>
              <a:t>Desvío en metros entre la posición real y la del esquema del DT, por jugador y por línea.</a:t>
            </a:r>
          </a:p>
        </p:txBody>
      </p:sp>
      <p:grpSp>
        <p:nvGrpSpPr>
          <p:cNvPr id="26" name="Group 13">
            <a:extLst>
              <a:ext uri="{FF2B5EF4-FFF2-40B4-BE49-F238E27FC236}">
                <a16:creationId xmlns:a16="http://schemas.microsoft.com/office/drawing/2014/main" id="{AB4CC37E-2B09-D125-2107-A9F5F525E70C}"/>
              </a:ext>
            </a:extLst>
          </p:cNvPr>
          <p:cNvGrpSpPr/>
          <p:nvPr/>
        </p:nvGrpSpPr>
        <p:grpSpPr>
          <a:xfrm>
            <a:off x="4640033" y="1533977"/>
            <a:ext cx="516267" cy="220738"/>
            <a:chOff x="0" y="0"/>
            <a:chExt cx="349533" cy="158342"/>
          </a:xfrm>
        </p:grpSpPr>
        <p:sp>
          <p:nvSpPr>
            <p:cNvPr id="27" name="Freeform 14">
              <a:extLst>
                <a:ext uri="{FF2B5EF4-FFF2-40B4-BE49-F238E27FC236}">
                  <a16:creationId xmlns:a16="http://schemas.microsoft.com/office/drawing/2014/main" id="{74432577-2826-A705-B8BB-C9661780FB2B}"/>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28" name="TextBox 15">
              <a:extLst>
                <a:ext uri="{FF2B5EF4-FFF2-40B4-BE49-F238E27FC236}">
                  <a16:creationId xmlns:a16="http://schemas.microsoft.com/office/drawing/2014/main" id="{6E8CFF56-005A-9AB4-505D-BAB74813DFB7}"/>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29" name="Freeform 25">
            <a:extLst>
              <a:ext uri="{FF2B5EF4-FFF2-40B4-BE49-F238E27FC236}">
                <a16:creationId xmlns:a16="http://schemas.microsoft.com/office/drawing/2014/main" id="{52A17377-2F88-354A-EE7E-ABE8BFA65964}"/>
              </a:ext>
            </a:extLst>
          </p:cNvPr>
          <p:cNvSpPr/>
          <p:nvPr/>
        </p:nvSpPr>
        <p:spPr>
          <a:xfrm>
            <a:off x="4773121" y="1562717"/>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30" name="Group 13">
            <a:extLst>
              <a:ext uri="{FF2B5EF4-FFF2-40B4-BE49-F238E27FC236}">
                <a16:creationId xmlns:a16="http://schemas.microsoft.com/office/drawing/2014/main" id="{53533C08-09CB-C405-82B5-1BBA3F7AF9F7}"/>
              </a:ext>
            </a:extLst>
          </p:cNvPr>
          <p:cNvGrpSpPr/>
          <p:nvPr/>
        </p:nvGrpSpPr>
        <p:grpSpPr>
          <a:xfrm>
            <a:off x="4640033" y="2567249"/>
            <a:ext cx="516267" cy="220738"/>
            <a:chOff x="0" y="0"/>
            <a:chExt cx="349533" cy="158342"/>
          </a:xfrm>
        </p:grpSpPr>
        <p:sp>
          <p:nvSpPr>
            <p:cNvPr id="31" name="Freeform 14">
              <a:extLst>
                <a:ext uri="{FF2B5EF4-FFF2-40B4-BE49-F238E27FC236}">
                  <a16:creationId xmlns:a16="http://schemas.microsoft.com/office/drawing/2014/main" id="{3E7F208B-DD99-914A-EEE1-9371B6B152AE}"/>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32" name="TextBox 15">
              <a:extLst>
                <a:ext uri="{FF2B5EF4-FFF2-40B4-BE49-F238E27FC236}">
                  <a16:creationId xmlns:a16="http://schemas.microsoft.com/office/drawing/2014/main" id="{0D9F63BE-AB73-23B4-6E67-A97BA2A5E13C}"/>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33" name="Freeform 25">
            <a:extLst>
              <a:ext uri="{FF2B5EF4-FFF2-40B4-BE49-F238E27FC236}">
                <a16:creationId xmlns:a16="http://schemas.microsoft.com/office/drawing/2014/main" id="{521DC1D3-C6CF-0930-79B3-D42F931A361D}"/>
              </a:ext>
            </a:extLst>
          </p:cNvPr>
          <p:cNvSpPr/>
          <p:nvPr/>
        </p:nvSpPr>
        <p:spPr>
          <a:xfrm>
            <a:off x="4773121" y="2595989"/>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34" name="Group 13">
            <a:extLst>
              <a:ext uri="{FF2B5EF4-FFF2-40B4-BE49-F238E27FC236}">
                <a16:creationId xmlns:a16="http://schemas.microsoft.com/office/drawing/2014/main" id="{952431FC-231C-DBAA-D440-A86C8B438A6F}"/>
              </a:ext>
            </a:extLst>
          </p:cNvPr>
          <p:cNvGrpSpPr/>
          <p:nvPr/>
        </p:nvGrpSpPr>
        <p:grpSpPr>
          <a:xfrm>
            <a:off x="4640033" y="3600521"/>
            <a:ext cx="516267" cy="220738"/>
            <a:chOff x="0" y="0"/>
            <a:chExt cx="349533" cy="158342"/>
          </a:xfrm>
        </p:grpSpPr>
        <p:sp>
          <p:nvSpPr>
            <p:cNvPr id="35" name="Freeform 14">
              <a:extLst>
                <a:ext uri="{FF2B5EF4-FFF2-40B4-BE49-F238E27FC236}">
                  <a16:creationId xmlns:a16="http://schemas.microsoft.com/office/drawing/2014/main" id="{5F3DAA74-C219-8A10-FE3B-BC8AF1ADE3A6}"/>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36" name="TextBox 15">
              <a:extLst>
                <a:ext uri="{FF2B5EF4-FFF2-40B4-BE49-F238E27FC236}">
                  <a16:creationId xmlns:a16="http://schemas.microsoft.com/office/drawing/2014/main" id="{261E34A3-B682-51F6-A4AB-BC8C405F7113}"/>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37" name="Freeform 25">
            <a:extLst>
              <a:ext uri="{FF2B5EF4-FFF2-40B4-BE49-F238E27FC236}">
                <a16:creationId xmlns:a16="http://schemas.microsoft.com/office/drawing/2014/main" id="{F68C4F88-AB94-A7FC-8E6A-9994300BD39B}"/>
              </a:ext>
            </a:extLst>
          </p:cNvPr>
          <p:cNvSpPr/>
          <p:nvPr/>
        </p:nvSpPr>
        <p:spPr>
          <a:xfrm>
            <a:off x="4773121" y="3629261"/>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grpSp>
        <p:nvGrpSpPr>
          <p:cNvPr id="38" name="Group 13">
            <a:extLst>
              <a:ext uri="{FF2B5EF4-FFF2-40B4-BE49-F238E27FC236}">
                <a16:creationId xmlns:a16="http://schemas.microsoft.com/office/drawing/2014/main" id="{658AB324-A434-6D74-9A29-4EC6CB7A4126}"/>
              </a:ext>
            </a:extLst>
          </p:cNvPr>
          <p:cNvGrpSpPr/>
          <p:nvPr/>
        </p:nvGrpSpPr>
        <p:grpSpPr>
          <a:xfrm>
            <a:off x="4640033" y="4633793"/>
            <a:ext cx="516267" cy="220738"/>
            <a:chOff x="0" y="0"/>
            <a:chExt cx="349533" cy="158342"/>
          </a:xfrm>
        </p:grpSpPr>
        <p:sp>
          <p:nvSpPr>
            <p:cNvPr id="39" name="Freeform 14">
              <a:extLst>
                <a:ext uri="{FF2B5EF4-FFF2-40B4-BE49-F238E27FC236}">
                  <a16:creationId xmlns:a16="http://schemas.microsoft.com/office/drawing/2014/main" id="{282B2B02-24A9-0194-406A-A481C455CB6B}"/>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40" name="TextBox 15">
              <a:extLst>
                <a:ext uri="{FF2B5EF4-FFF2-40B4-BE49-F238E27FC236}">
                  <a16:creationId xmlns:a16="http://schemas.microsoft.com/office/drawing/2014/main" id="{BE72CC4C-63A2-6F9E-58C3-AE3722E022FA}"/>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grpSp>
        <p:nvGrpSpPr>
          <p:cNvPr id="44" name="Group 13">
            <a:extLst>
              <a:ext uri="{FF2B5EF4-FFF2-40B4-BE49-F238E27FC236}">
                <a16:creationId xmlns:a16="http://schemas.microsoft.com/office/drawing/2014/main" id="{658AB324-A434-6D74-9A29-4EC6CB7A4126}"/>
              </a:ext>
            </a:extLst>
          </p:cNvPr>
          <p:cNvGrpSpPr/>
          <p:nvPr/>
        </p:nvGrpSpPr>
        <p:grpSpPr>
          <a:xfrm>
            <a:off x="4640033" y="5667065"/>
            <a:ext cx="516267" cy="220738"/>
            <a:chOff x="0" y="0"/>
            <a:chExt cx="349533" cy="158342"/>
          </a:xfrm>
        </p:grpSpPr>
        <p:sp>
          <p:nvSpPr>
            <p:cNvPr id="45" name="Freeform 14">
              <a:extLst>
                <a:ext uri="{FF2B5EF4-FFF2-40B4-BE49-F238E27FC236}">
                  <a16:creationId xmlns:a16="http://schemas.microsoft.com/office/drawing/2014/main" id="{282B2B02-24A9-0194-406A-A481C455CB6B}"/>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46" name="TextBox 15">
              <a:extLst>
                <a:ext uri="{FF2B5EF4-FFF2-40B4-BE49-F238E27FC236}">
                  <a16:creationId xmlns:a16="http://schemas.microsoft.com/office/drawing/2014/main" id="{BE72CC4C-63A2-6F9E-58C3-AE3722E022FA}"/>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41" name="Freeform 25">
            <a:extLst>
              <a:ext uri="{FF2B5EF4-FFF2-40B4-BE49-F238E27FC236}">
                <a16:creationId xmlns:a16="http://schemas.microsoft.com/office/drawing/2014/main" id="{4B68172B-B3F4-9D9A-9568-3C65A1F435AC}"/>
              </a:ext>
            </a:extLst>
          </p:cNvPr>
          <p:cNvSpPr/>
          <p:nvPr/>
        </p:nvSpPr>
        <p:spPr>
          <a:xfrm>
            <a:off x="4773121" y="4662533"/>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sp>
        <p:nvSpPr>
          <p:cNvPr id="47" name="Freeform 25">
            <a:extLst>
              <a:ext uri="{FF2B5EF4-FFF2-40B4-BE49-F238E27FC236}">
                <a16:creationId xmlns:a16="http://schemas.microsoft.com/office/drawing/2014/main" id="{4B68172B-B3F4-9D9A-9568-3C65A1F435AC}"/>
              </a:ext>
            </a:extLst>
          </p:cNvPr>
          <p:cNvSpPr/>
          <p:nvPr/>
        </p:nvSpPr>
        <p:spPr>
          <a:xfrm>
            <a:off x="4773121" y="5695805"/>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8"/>
            <a:stretch>
              <a:fillRect/>
            </a:stretch>
          </a:blipFill>
        </p:spPr>
        <p:txBody>
          <a:bodyPr/>
          <a:lstStyle/>
          <a:p>
            <a:endParaRPr lang="es-CL" noProof="0" dirty="0"/>
          </a:p>
        </p:txBody>
      </p:sp>
    </p:spTree>
    <p:extLst>
      <p:ext uri="{BB962C8B-B14F-4D97-AF65-F5344CB8AC3E}">
        <p14:creationId xmlns:p14="http://schemas.microsoft.com/office/powerpoint/2010/main" val="2303133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7AB5-BBA0-A7C2-9B7A-583B1B78352A}"/>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070F238-59AE-A7CC-6983-9BF89B557937}"/>
              </a:ext>
            </a:extLst>
          </p:cNvPr>
          <p:cNvPicPr preferRelativeResize="0">
            <a:picLocks noChangeAspect="1"/>
          </p:cNvPicPr>
          <p:nvPr/>
        </p:nvPicPr>
        <p:blipFill>
          <a:blip r:embed="rId3"/>
          <a:srcRect/>
          <a:stretch>
            <a:fillRect/>
          </a:stretch>
        </p:blipFill>
        <p:spPr>
          <a:xfrm rot="10962675">
            <a:off x="6668869" y="-5511787"/>
            <a:ext cx="8435385" cy="21605042"/>
          </a:xfrm>
          <a:prstGeom prst="rect">
            <a:avLst/>
          </a:prstGeom>
        </p:spPr>
      </p:pic>
      <p:pic>
        <p:nvPicPr>
          <p:cNvPr id="12" name="Imagen 11">
            <a:extLst>
              <a:ext uri="{FF2B5EF4-FFF2-40B4-BE49-F238E27FC236}">
                <a16:creationId xmlns:a16="http://schemas.microsoft.com/office/drawing/2014/main" id="{1D4AB98C-AE40-D9CD-9BC7-B7E2BCDC5261}"/>
              </a:ext>
            </a:extLst>
          </p:cNvPr>
          <p:cNvPicPr>
            <a:picLocks noChangeAspect="1"/>
          </p:cNvPicPr>
          <p:nvPr/>
        </p:nvPicPr>
        <p:blipFill>
          <a:blip r:embed="rId4"/>
          <a:srcRect/>
          <a:stretch>
            <a:fillRect/>
          </a:stretch>
        </p:blipFill>
        <p:spPr>
          <a:xfrm rot="15974694" flipV="1">
            <a:off x="-2572043" y="11991223"/>
            <a:ext cx="14049299" cy="11472289"/>
          </a:xfrm>
          <a:prstGeom prst="rect">
            <a:avLst/>
          </a:prstGeom>
        </p:spPr>
      </p:pic>
      <p:sp>
        <p:nvSpPr>
          <p:cNvPr id="10" name="CuadroTexto 9">
            <a:extLst>
              <a:ext uri="{FF2B5EF4-FFF2-40B4-BE49-F238E27FC236}">
                <a16:creationId xmlns:a16="http://schemas.microsoft.com/office/drawing/2014/main" id="{3C4D329A-C2BE-A704-DC8A-F3D7C0CE02CE}"/>
              </a:ext>
            </a:extLst>
          </p:cNvPr>
          <p:cNvSpPr txBox="1"/>
          <p:nvPr/>
        </p:nvSpPr>
        <p:spPr>
          <a:xfrm>
            <a:off x="7232299" y="133043"/>
            <a:ext cx="5096456" cy="2092881"/>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Metodología</a:t>
            </a:r>
          </a:p>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 y Equipo</a:t>
            </a:r>
          </a:p>
        </p:txBody>
      </p:sp>
      <p:sp>
        <p:nvSpPr>
          <p:cNvPr id="5" name="Freeform 4">
            <a:extLst>
              <a:ext uri="{FF2B5EF4-FFF2-40B4-BE49-F238E27FC236}">
                <a16:creationId xmlns:a16="http://schemas.microsoft.com/office/drawing/2014/main" id="{9BF217AB-7958-8B4A-DA85-BE486CE076AE}"/>
              </a:ext>
            </a:extLst>
          </p:cNvPr>
          <p:cNvSpPr/>
          <p:nvPr/>
        </p:nvSpPr>
        <p:spPr>
          <a:xfrm>
            <a:off x="-1339994" y="12081749"/>
            <a:ext cx="1251086" cy="1152563"/>
          </a:xfrm>
          <a:custGeom>
            <a:avLst/>
            <a:gdLst/>
            <a:ahLst/>
            <a:cxnLst/>
            <a:rect l="l" t="t" r="r" b="b"/>
            <a:pathLst>
              <a:path w="1251086" h="1152563">
                <a:moveTo>
                  <a:pt x="0" y="0"/>
                </a:moveTo>
                <a:lnTo>
                  <a:pt x="1251085" y="0"/>
                </a:lnTo>
                <a:lnTo>
                  <a:pt x="1251085" y="1152562"/>
                </a:lnTo>
                <a:lnTo>
                  <a:pt x="0" y="1152562"/>
                </a:lnTo>
                <a:lnTo>
                  <a:pt x="0" y="0"/>
                </a:lnTo>
                <a:close/>
              </a:path>
            </a:pathLst>
          </a:custGeom>
          <a:blipFill>
            <a:blip r:embed="rId5">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a:blipFill>
        </p:spPr>
        <p:txBody>
          <a:bodyPr/>
          <a:lstStyle/>
          <a:p>
            <a:endParaRPr lang="es-CL" noProof="0" dirty="0"/>
          </a:p>
        </p:txBody>
      </p:sp>
      <p:sp>
        <p:nvSpPr>
          <p:cNvPr id="14" name="Freeform 5">
            <a:extLst>
              <a:ext uri="{FF2B5EF4-FFF2-40B4-BE49-F238E27FC236}">
                <a16:creationId xmlns:a16="http://schemas.microsoft.com/office/drawing/2014/main" id="{BFF6BCB3-6744-7A15-866A-F33E6E9FAF04}"/>
              </a:ext>
            </a:extLst>
          </p:cNvPr>
          <p:cNvSpPr/>
          <p:nvPr/>
        </p:nvSpPr>
        <p:spPr>
          <a:xfrm>
            <a:off x="5947393" y="12149482"/>
            <a:ext cx="762466" cy="957932"/>
          </a:xfrm>
          <a:custGeom>
            <a:avLst/>
            <a:gdLst/>
            <a:ahLst/>
            <a:cxnLst/>
            <a:rect l="l" t="t" r="r" b="b"/>
            <a:pathLst>
              <a:path w="1258364" h="2436269">
                <a:moveTo>
                  <a:pt x="0" y="0"/>
                </a:moveTo>
                <a:lnTo>
                  <a:pt x="1258363" y="0"/>
                </a:lnTo>
                <a:lnTo>
                  <a:pt x="1258363" y="2436269"/>
                </a:lnTo>
                <a:lnTo>
                  <a:pt x="0" y="2436269"/>
                </a:lnTo>
                <a:lnTo>
                  <a:pt x="0" y="0"/>
                </a:lnTo>
                <a:close/>
              </a:path>
            </a:pathLst>
          </a:custGeom>
          <a:blipFill>
            <a:blip r:embed="rId7"/>
            <a:stretch>
              <a:fillRect/>
            </a:stretch>
          </a:blipFill>
        </p:spPr>
        <p:txBody>
          <a:bodyPr/>
          <a:lstStyle/>
          <a:p>
            <a:endParaRPr lang="es-CL" noProof="0" dirty="0"/>
          </a:p>
        </p:txBody>
      </p:sp>
      <p:sp>
        <p:nvSpPr>
          <p:cNvPr id="18" name="Freeform 6">
            <a:extLst>
              <a:ext uri="{FF2B5EF4-FFF2-40B4-BE49-F238E27FC236}">
                <a16:creationId xmlns:a16="http://schemas.microsoft.com/office/drawing/2014/main" id="{A4809E33-50BB-B096-40BF-277934004AC5}"/>
              </a:ext>
            </a:extLst>
          </p:cNvPr>
          <p:cNvSpPr/>
          <p:nvPr/>
        </p:nvSpPr>
        <p:spPr>
          <a:xfrm>
            <a:off x="-1343855" y="15549941"/>
            <a:ext cx="1176437" cy="1019002"/>
          </a:xfrm>
          <a:custGeom>
            <a:avLst/>
            <a:gdLst/>
            <a:ahLst/>
            <a:cxnLst/>
            <a:rect l="l" t="t" r="r" b="b"/>
            <a:pathLst>
              <a:path w="1176437" h="1019002">
                <a:moveTo>
                  <a:pt x="0" y="0"/>
                </a:moveTo>
                <a:lnTo>
                  <a:pt x="1176437" y="0"/>
                </a:lnTo>
                <a:lnTo>
                  <a:pt x="1176437" y="1019002"/>
                </a:lnTo>
                <a:lnTo>
                  <a:pt x="0" y="1019002"/>
                </a:lnTo>
                <a:lnTo>
                  <a:pt x="0" y="0"/>
                </a:lnTo>
                <a:close/>
              </a:path>
            </a:pathLst>
          </a:custGeom>
          <a:blipFill>
            <a:blip r:embed="rId8">
              <a:extLst>
                <a:ext uri="{BEBA8EAE-BF5A-486C-A8C5-ECC9F3942E4B}">
                  <a14:imgProps xmlns:a14="http://schemas.microsoft.com/office/drawing/2010/main">
                    <a14:imgLayer r:embed="rId9">
                      <a14:imgEffect>
                        <a14:brightnessContrast bright="-40000" contrast="-40000"/>
                      </a14:imgEffect>
                    </a14:imgLayer>
                  </a14:imgProps>
                </a:ext>
              </a:extLst>
            </a:blip>
            <a:stretch>
              <a:fillRect/>
            </a:stretch>
          </a:blipFill>
        </p:spPr>
        <p:txBody>
          <a:bodyPr/>
          <a:lstStyle/>
          <a:p>
            <a:endParaRPr lang="es-CL" noProof="0" dirty="0"/>
          </a:p>
        </p:txBody>
      </p:sp>
      <p:sp>
        <p:nvSpPr>
          <p:cNvPr id="22" name="Freeform 10">
            <a:extLst>
              <a:ext uri="{FF2B5EF4-FFF2-40B4-BE49-F238E27FC236}">
                <a16:creationId xmlns:a16="http://schemas.microsoft.com/office/drawing/2014/main" id="{88419630-1890-0379-2C60-CFACE86D5B24}"/>
              </a:ext>
            </a:extLst>
          </p:cNvPr>
          <p:cNvSpPr/>
          <p:nvPr/>
        </p:nvSpPr>
        <p:spPr>
          <a:xfrm>
            <a:off x="5947393" y="15549941"/>
            <a:ext cx="969896" cy="846199"/>
          </a:xfrm>
          <a:custGeom>
            <a:avLst/>
            <a:gdLst/>
            <a:ahLst/>
            <a:cxnLst/>
            <a:rect l="l" t="t" r="r" b="b"/>
            <a:pathLst>
              <a:path w="969896" h="846199">
                <a:moveTo>
                  <a:pt x="0" y="0"/>
                </a:moveTo>
                <a:lnTo>
                  <a:pt x="969896" y="0"/>
                </a:lnTo>
                <a:lnTo>
                  <a:pt x="969896" y="846199"/>
                </a:lnTo>
                <a:lnTo>
                  <a:pt x="0" y="846199"/>
                </a:lnTo>
                <a:lnTo>
                  <a:pt x="0" y="0"/>
                </a:lnTo>
                <a:close/>
              </a:path>
            </a:pathLst>
          </a:custGeom>
          <a:blipFill>
            <a:blip r:embed="rId10"/>
            <a:stretch>
              <a:fillRect/>
            </a:stretch>
          </a:blipFill>
        </p:spPr>
        <p:txBody>
          <a:bodyPr/>
          <a:lstStyle/>
          <a:p>
            <a:endParaRPr lang="es-CL" noProof="0" dirty="0"/>
          </a:p>
        </p:txBody>
      </p:sp>
      <p:sp>
        <p:nvSpPr>
          <p:cNvPr id="42" name="TextBox 13">
            <a:extLst>
              <a:ext uri="{FF2B5EF4-FFF2-40B4-BE49-F238E27FC236}">
                <a16:creationId xmlns:a16="http://schemas.microsoft.com/office/drawing/2014/main" id="{FBCCF299-A7F8-0EE6-89A1-2AD8AD24CF60}"/>
              </a:ext>
            </a:extLst>
          </p:cNvPr>
          <p:cNvSpPr txBox="1"/>
          <p:nvPr/>
        </p:nvSpPr>
        <p:spPr>
          <a:xfrm>
            <a:off x="6776403" y="12265118"/>
            <a:ext cx="3634188" cy="767277"/>
          </a:xfrm>
          <a:prstGeom prst="rect">
            <a:avLst/>
          </a:prstGeom>
        </p:spPr>
        <p:txBody>
          <a:bodyPr lIns="0" tIns="0" rIns="0" bIns="0" rtlCol="0" anchor="t">
            <a:spAutoFit/>
          </a:bodyPr>
          <a:lstStyle/>
          <a:p>
            <a:pPr marL="0" lvl="0" indent="0" algn="l">
              <a:lnSpc>
                <a:spcPts val="2040"/>
              </a:lnSpc>
            </a:pPr>
            <a:r>
              <a:rPr lang="es-CL" sz="1672" noProof="0" dirty="0">
                <a:solidFill>
                  <a:schemeClr val="tx1">
                    <a:lumMod val="85000"/>
                    <a:lumOff val="15000"/>
                  </a:schemeClr>
                </a:solidFill>
                <a:latin typeface="Montserrat Bold" panose="00000800000000000000" charset="0"/>
                <a:ea typeface="Montserrat"/>
                <a:cs typeface="Montserrat"/>
                <a:sym typeface="Montserrat"/>
              </a:rPr>
              <a:t>Huella de Fatiga: </a:t>
            </a:r>
            <a:r>
              <a:rPr lang="es-CL" sz="1672" noProof="0" dirty="0">
                <a:solidFill>
                  <a:schemeClr val="tx1">
                    <a:lumMod val="85000"/>
                    <a:lumOff val="15000"/>
                  </a:schemeClr>
                </a:solidFill>
                <a:latin typeface="Montserrat"/>
                <a:ea typeface="Montserrat"/>
                <a:cs typeface="Montserrat"/>
                <a:sym typeface="Montserrat"/>
              </a:rPr>
              <a:t>detección de asimetrías biomecánicas para alertas tempranas de lesión.</a:t>
            </a:r>
          </a:p>
        </p:txBody>
      </p:sp>
      <p:sp>
        <p:nvSpPr>
          <p:cNvPr id="44" name="TextBox 14">
            <a:extLst>
              <a:ext uri="{FF2B5EF4-FFF2-40B4-BE49-F238E27FC236}">
                <a16:creationId xmlns:a16="http://schemas.microsoft.com/office/drawing/2014/main" id="{26EC3ED4-2AC7-4237-59F3-E0768D2EA449}"/>
              </a:ext>
            </a:extLst>
          </p:cNvPr>
          <p:cNvSpPr txBox="1"/>
          <p:nvPr/>
        </p:nvSpPr>
        <p:spPr>
          <a:xfrm>
            <a:off x="7002306" y="15549941"/>
            <a:ext cx="3634188" cy="1024452"/>
          </a:xfrm>
          <a:prstGeom prst="rect">
            <a:avLst/>
          </a:prstGeom>
        </p:spPr>
        <p:txBody>
          <a:bodyPr lIns="0" tIns="0" rIns="0" bIns="0" rtlCol="0" anchor="t">
            <a:spAutoFit/>
          </a:bodyPr>
          <a:lstStyle/>
          <a:p>
            <a:pPr marL="0" lvl="0" indent="0" algn="l">
              <a:lnSpc>
                <a:spcPts val="2040"/>
              </a:lnSpc>
              <a:spcBef>
                <a:spcPct val="0"/>
              </a:spcBef>
            </a:pPr>
            <a:r>
              <a:rPr lang="es-CL" sz="1672" noProof="0" dirty="0">
                <a:solidFill>
                  <a:schemeClr val="tx1">
                    <a:lumMod val="85000"/>
                    <a:lumOff val="15000"/>
                  </a:schemeClr>
                </a:solidFill>
                <a:latin typeface="Montserrat Bold" panose="00000800000000000000" charset="0"/>
                <a:ea typeface="Montserrat"/>
                <a:cs typeface="Montserrat"/>
                <a:sym typeface="Montserrat"/>
              </a:rPr>
              <a:t>ROI comprobable: </a:t>
            </a:r>
            <a:r>
              <a:rPr lang="es-CL" sz="1672" noProof="0" dirty="0">
                <a:solidFill>
                  <a:schemeClr val="tx1">
                    <a:lumMod val="85000"/>
                    <a:lumOff val="15000"/>
                  </a:schemeClr>
                </a:solidFill>
                <a:latin typeface="Montserrat"/>
                <a:ea typeface="Montserrat"/>
                <a:cs typeface="Montserrat"/>
                <a:sym typeface="Montserrat"/>
              </a:rPr>
              <a:t>la prevención de lesiones ahorra USD 50,000+ por jugador lesionado por temporada.</a:t>
            </a:r>
          </a:p>
        </p:txBody>
      </p:sp>
      <p:sp>
        <p:nvSpPr>
          <p:cNvPr id="46" name="TextBox 15">
            <a:extLst>
              <a:ext uri="{FF2B5EF4-FFF2-40B4-BE49-F238E27FC236}">
                <a16:creationId xmlns:a16="http://schemas.microsoft.com/office/drawing/2014/main" id="{49CF4C4A-9DA7-1B61-608C-3B3AFD174094}"/>
              </a:ext>
            </a:extLst>
          </p:cNvPr>
          <p:cNvSpPr txBox="1"/>
          <p:nvPr/>
        </p:nvSpPr>
        <p:spPr>
          <a:xfrm>
            <a:off x="93673" y="15598471"/>
            <a:ext cx="3705784" cy="1024452"/>
          </a:xfrm>
          <a:prstGeom prst="rect">
            <a:avLst/>
          </a:prstGeom>
        </p:spPr>
        <p:txBody>
          <a:bodyPr lIns="0" tIns="0" rIns="0" bIns="0" rtlCol="0" anchor="t">
            <a:spAutoFit/>
          </a:bodyPr>
          <a:lstStyle/>
          <a:p>
            <a:pPr marL="0" lvl="0" indent="0" algn="l">
              <a:lnSpc>
                <a:spcPts val="2040"/>
              </a:lnSpc>
            </a:pPr>
            <a:r>
              <a:rPr lang="es-CL" sz="1672" noProof="0" dirty="0">
                <a:solidFill>
                  <a:schemeClr val="tx1">
                    <a:lumMod val="85000"/>
                    <a:lumOff val="15000"/>
                  </a:schemeClr>
                </a:solidFill>
                <a:latin typeface="Montserrat Bold" panose="00000800000000000000" charset="0"/>
                <a:ea typeface="Montserrat"/>
                <a:cs typeface="Montserrat"/>
                <a:sym typeface="Montserrat"/>
              </a:rPr>
              <a:t>100% agnóstico al hardware: </a:t>
            </a:r>
            <a:r>
              <a:rPr lang="es-CL" sz="1672" noProof="0" dirty="0">
                <a:solidFill>
                  <a:schemeClr val="tx1">
                    <a:lumMod val="85000"/>
                    <a:lumOff val="15000"/>
                  </a:schemeClr>
                </a:solidFill>
                <a:latin typeface="Montserrat"/>
                <a:ea typeface="Montserrat"/>
                <a:cs typeface="Montserrat"/>
                <a:sym typeface="Montserrat"/>
              </a:rPr>
              <a:t>análisis cualitativo profundo con video MP4 estándar, sin cámaras especiales.</a:t>
            </a:r>
          </a:p>
        </p:txBody>
      </p:sp>
      <p:sp>
        <p:nvSpPr>
          <p:cNvPr id="48" name="TextBox 16">
            <a:extLst>
              <a:ext uri="{FF2B5EF4-FFF2-40B4-BE49-F238E27FC236}">
                <a16:creationId xmlns:a16="http://schemas.microsoft.com/office/drawing/2014/main" id="{BF4320E5-1BAB-3B55-0ADB-3149B4895603}"/>
              </a:ext>
            </a:extLst>
          </p:cNvPr>
          <p:cNvSpPr txBox="1"/>
          <p:nvPr/>
        </p:nvSpPr>
        <p:spPr>
          <a:xfrm>
            <a:off x="150793" y="12254938"/>
            <a:ext cx="3839134" cy="1024452"/>
          </a:xfrm>
          <a:prstGeom prst="rect">
            <a:avLst/>
          </a:prstGeom>
        </p:spPr>
        <p:txBody>
          <a:bodyPr lIns="0" tIns="0" rIns="0" bIns="0" rtlCol="0" anchor="t">
            <a:spAutoFit/>
          </a:bodyPr>
          <a:lstStyle/>
          <a:p>
            <a:pPr marL="0" lvl="0" indent="0" algn="l">
              <a:lnSpc>
                <a:spcPts val="2040"/>
              </a:lnSpc>
              <a:spcBef>
                <a:spcPct val="0"/>
              </a:spcBef>
            </a:pPr>
            <a:r>
              <a:rPr lang="es-CL" sz="1672" noProof="0" dirty="0">
                <a:solidFill>
                  <a:schemeClr val="tx1">
                    <a:lumMod val="85000"/>
                    <a:lumOff val="15000"/>
                  </a:schemeClr>
                </a:solidFill>
                <a:latin typeface="Montserrat Bold" panose="00000800000000000000" charset="0"/>
                <a:ea typeface="Montserrat"/>
                <a:cs typeface="Montserrat"/>
                <a:sym typeface="Montserrat"/>
              </a:rPr>
              <a:t>Fantasma Táctico</a:t>
            </a:r>
            <a:r>
              <a:rPr lang="es-CL" sz="1672" noProof="0" dirty="0">
                <a:solidFill>
                  <a:schemeClr val="tx1">
                    <a:lumMod val="85000"/>
                    <a:lumOff val="15000"/>
                  </a:schemeClr>
                </a:solidFill>
                <a:latin typeface="Montserrat"/>
                <a:ea typeface="Montserrat"/>
                <a:cs typeface="Montserrat"/>
                <a:sym typeface="Montserrat"/>
              </a:rPr>
              <a:t>: auditoría geométrica del posicionamiento real vs. instrucciones del cuerpo técnico.</a:t>
            </a:r>
          </a:p>
        </p:txBody>
      </p:sp>
      <mc:AlternateContent xmlns:mc="http://schemas.openxmlformats.org/markup-compatibility/2006">
        <mc:Choice xmlns:am3d="http://schemas.microsoft.com/office/drawing/2017/model3d" Requires="am3d">
          <p:graphicFrame>
            <p:nvGraphicFramePr>
              <p:cNvPr id="50" name="Modelo 3D 49">
                <a:extLst>
                  <a:ext uri="{FF2B5EF4-FFF2-40B4-BE49-F238E27FC236}">
                    <a16:creationId xmlns:a16="http://schemas.microsoft.com/office/drawing/2014/main" id="{D9CB02F7-9935-FC64-FE17-CF8027D20734}"/>
                  </a:ext>
                </a:extLst>
              </p:cNvPr>
              <p:cNvGraphicFramePr>
                <a:graphicFrameLocks noChangeAspect="1"/>
              </p:cNvGraphicFramePr>
              <p:nvPr>
                <p:extLst>
                  <p:ext uri="{D42A27DB-BD31-4B8C-83A1-F6EECF244321}">
                    <p14:modId xmlns:p14="http://schemas.microsoft.com/office/powerpoint/2010/main" val="1395370160"/>
                  </p:ext>
                </p:extLst>
              </p:nvPr>
            </p:nvGraphicFramePr>
            <p:xfrm>
              <a:off x="3507939" y="11088652"/>
              <a:ext cx="2245054" cy="2264078"/>
            </p:xfrm>
            <a:graphic>
              <a:graphicData uri="http://schemas.microsoft.com/office/drawing/2017/model3d">
                <am3d:model3d r:embed="rId11">
                  <am3d:spPr>
                    <a:xfrm>
                      <a:off x="0" y="0"/>
                      <a:ext cx="2245054" cy="2264078"/>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m3d:postTrans dx="0" dy="0" dz="0"/>
                  </am3d:trans>
                  <am3d:raster rName="Office3DRenderer" rVer="16.0.8326">
                    <am3d:blip r:embed="rId12"/>
                  </am3d:raster>
                  <am3d:objViewport viewportSz="601217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0" name="Modelo 3D 49">
                <a:extLst>
                  <a:ext uri="{FF2B5EF4-FFF2-40B4-BE49-F238E27FC236}">
                    <a16:creationId xmlns:a16="http://schemas.microsoft.com/office/drawing/2014/main" id="{D9CB02F7-9935-FC64-FE17-CF8027D20734}"/>
                  </a:ext>
                </a:extLst>
              </p:cNvPr>
              <p:cNvPicPr>
                <a:picLocks noGrp="1" noRot="1" noChangeAspect="1" noMove="1" noResize="1" noEditPoints="1" noAdjustHandles="1" noChangeArrowheads="1" noChangeShapeType="1" noCrop="1"/>
              </p:cNvPicPr>
              <p:nvPr/>
            </p:nvPicPr>
            <p:blipFill>
              <a:blip r:embed="rId12"/>
              <a:stretch>
                <a:fillRect/>
              </a:stretch>
            </p:blipFill>
            <p:spPr>
              <a:xfrm>
                <a:off x="3507939" y="11088652"/>
                <a:ext cx="2245054" cy="2264078"/>
              </a:xfrm>
              <a:prstGeom prst="rect">
                <a:avLst/>
              </a:prstGeom>
            </p:spPr>
          </p:pic>
        </mc:Fallback>
      </mc:AlternateContent>
      <p:sp>
        <p:nvSpPr>
          <p:cNvPr id="11" name="TextBox 19">
            <a:extLst>
              <a:ext uri="{FF2B5EF4-FFF2-40B4-BE49-F238E27FC236}">
                <a16:creationId xmlns:a16="http://schemas.microsoft.com/office/drawing/2014/main" id="{D0B55DD4-F594-ED5D-E81F-35E340917920}"/>
              </a:ext>
            </a:extLst>
          </p:cNvPr>
          <p:cNvSpPr txBox="1"/>
          <p:nvPr/>
        </p:nvSpPr>
        <p:spPr>
          <a:xfrm>
            <a:off x="7232299" y="2696728"/>
            <a:ext cx="8569419" cy="1128032"/>
          </a:xfrm>
          <a:prstGeom prst="rect">
            <a:avLst/>
          </a:prstGeom>
        </p:spPr>
        <p:txBody>
          <a:bodyPr lIns="50800" tIns="50800" rIns="50800" bIns="50800" rtlCol="0" anchor="ctr"/>
          <a:lstStyle/>
          <a:p>
            <a:pPr marL="0" lvl="0" indent="0" algn="ctr">
              <a:lnSpc>
                <a:spcPts val="2659"/>
              </a:lnSpc>
            </a:pPr>
            <a:endParaRPr lang="es-CL" noProof="0" dirty="0"/>
          </a:p>
        </p:txBody>
      </p:sp>
      <p:sp>
        <p:nvSpPr>
          <p:cNvPr id="59" name="TextBox 37">
            <a:extLst>
              <a:ext uri="{FF2B5EF4-FFF2-40B4-BE49-F238E27FC236}">
                <a16:creationId xmlns:a16="http://schemas.microsoft.com/office/drawing/2014/main" id="{BB36A15A-BF8C-3837-7F33-6E52AFE1F267}"/>
              </a:ext>
            </a:extLst>
          </p:cNvPr>
          <p:cNvSpPr txBox="1"/>
          <p:nvPr/>
        </p:nvSpPr>
        <p:spPr>
          <a:xfrm>
            <a:off x="404760" y="2141318"/>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1: prototipo local, landing page y diseño UX/UI</a:t>
            </a:r>
          </a:p>
        </p:txBody>
      </p:sp>
      <p:sp>
        <p:nvSpPr>
          <p:cNvPr id="60" name="TextBox 38">
            <a:extLst>
              <a:ext uri="{FF2B5EF4-FFF2-40B4-BE49-F238E27FC236}">
                <a16:creationId xmlns:a16="http://schemas.microsoft.com/office/drawing/2014/main" id="{60CCA924-28DC-412D-87D4-02E15B37C990}"/>
              </a:ext>
            </a:extLst>
          </p:cNvPr>
          <p:cNvSpPr txBox="1"/>
          <p:nvPr/>
        </p:nvSpPr>
        <p:spPr>
          <a:xfrm>
            <a:off x="404760" y="2939844"/>
            <a:ext cx="6280390" cy="569195"/>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2 (en curso): pipeline en Google Cloud, modelos de IA y 5 métricas</a:t>
            </a:r>
          </a:p>
        </p:txBody>
      </p:sp>
      <p:sp>
        <p:nvSpPr>
          <p:cNvPr id="61" name="TextBox 39">
            <a:extLst>
              <a:ext uri="{FF2B5EF4-FFF2-40B4-BE49-F238E27FC236}">
                <a16:creationId xmlns:a16="http://schemas.microsoft.com/office/drawing/2014/main" id="{3256A695-218E-3A78-879C-7B66720418E7}"/>
              </a:ext>
            </a:extLst>
          </p:cNvPr>
          <p:cNvSpPr txBox="1"/>
          <p:nvPr/>
        </p:nvSpPr>
        <p:spPr>
          <a:xfrm>
            <a:off x="404760" y="3935967"/>
            <a:ext cx="6280390" cy="569195"/>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3: GPU L4, API de subida, dashboard y piloto con club partner</a:t>
            </a:r>
          </a:p>
        </p:txBody>
      </p:sp>
      <p:sp>
        <p:nvSpPr>
          <p:cNvPr id="62" name="TextBox 40">
            <a:extLst>
              <a:ext uri="{FF2B5EF4-FFF2-40B4-BE49-F238E27FC236}">
                <a16:creationId xmlns:a16="http://schemas.microsoft.com/office/drawing/2014/main" id="{2B080A25-417A-0D1C-BFC5-E111B2AA0681}"/>
              </a:ext>
            </a:extLst>
          </p:cNvPr>
          <p:cNvSpPr txBox="1"/>
          <p:nvPr/>
        </p:nvSpPr>
        <p:spPr>
          <a:xfrm>
            <a:off x="353321" y="5009406"/>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Director, Especialista IA, Backend Cloud y Frontend UX</a:t>
            </a:r>
          </a:p>
        </p:txBody>
      </p:sp>
      <p:sp>
        <p:nvSpPr>
          <p:cNvPr id="63" name="TextBox 41">
            <a:extLst>
              <a:ext uri="{FF2B5EF4-FFF2-40B4-BE49-F238E27FC236}">
                <a16:creationId xmlns:a16="http://schemas.microsoft.com/office/drawing/2014/main" id="{9FD1039B-B860-0CCF-FB1C-A8D00E9DD24D}"/>
              </a:ext>
            </a:extLst>
          </p:cNvPr>
          <p:cNvSpPr txBox="1"/>
          <p:nvPr/>
        </p:nvSpPr>
        <p:spPr>
          <a:xfrm>
            <a:off x="404760" y="5906514"/>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MVP funcional + piloto con club partner en 18 semanas</a:t>
            </a:r>
          </a:p>
        </p:txBody>
      </p:sp>
      <p:sp>
        <p:nvSpPr>
          <p:cNvPr id="65" name="Freeform 6">
            <a:extLst>
              <a:ext uri="{FF2B5EF4-FFF2-40B4-BE49-F238E27FC236}">
                <a16:creationId xmlns:a16="http://schemas.microsoft.com/office/drawing/2014/main" id="{7F2C4425-9694-F912-B057-617CEE15BD3B}"/>
              </a:ext>
            </a:extLst>
          </p:cNvPr>
          <p:cNvSpPr/>
          <p:nvPr/>
        </p:nvSpPr>
        <p:spPr>
          <a:xfrm>
            <a:off x="156211" y="1892712"/>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67" name="Freeform 6">
            <a:extLst>
              <a:ext uri="{FF2B5EF4-FFF2-40B4-BE49-F238E27FC236}">
                <a16:creationId xmlns:a16="http://schemas.microsoft.com/office/drawing/2014/main" id="{D7482F0A-18E9-A5DD-0DD1-FE56303C9B89}"/>
              </a:ext>
            </a:extLst>
          </p:cNvPr>
          <p:cNvSpPr/>
          <p:nvPr/>
        </p:nvSpPr>
        <p:spPr>
          <a:xfrm>
            <a:off x="156211" y="2835631"/>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1" name="Freeform 6">
            <a:extLst>
              <a:ext uri="{FF2B5EF4-FFF2-40B4-BE49-F238E27FC236}">
                <a16:creationId xmlns:a16="http://schemas.microsoft.com/office/drawing/2014/main" id="{6F225E22-51A0-96A9-F1E2-7C8A80761B42}"/>
              </a:ext>
            </a:extLst>
          </p:cNvPr>
          <p:cNvSpPr/>
          <p:nvPr/>
        </p:nvSpPr>
        <p:spPr>
          <a:xfrm>
            <a:off x="156211" y="3822406"/>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3" name="Freeform 6">
            <a:extLst>
              <a:ext uri="{FF2B5EF4-FFF2-40B4-BE49-F238E27FC236}">
                <a16:creationId xmlns:a16="http://schemas.microsoft.com/office/drawing/2014/main" id="{EA305DE6-27E1-FAFD-1843-C3DE965B0780}"/>
              </a:ext>
            </a:extLst>
          </p:cNvPr>
          <p:cNvSpPr/>
          <p:nvPr/>
        </p:nvSpPr>
        <p:spPr>
          <a:xfrm>
            <a:off x="156211" y="4754952"/>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5" name="Freeform 6">
            <a:extLst>
              <a:ext uri="{FF2B5EF4-FFF2-40B4-BE49-F238E27FC236}">
                <a16:creationId xmlns:a16="http://schemas.microsoft.com/office/drawing/2014/main" id="{AA038F74-CB7F-4C0E-1543-7B4C67850E2D}"/>
              </a:ext>
            </a:extLst>
          </p:cNvPr>
          <p:cNvSpPr/>
          <p:nvPr/>
        </p:nvSpPr>
        <p:spPr>
          <a:xfrm>
            <a:off x="156210" y="5700970"/>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7" name="Freeform 4">
            <a:extLst>
              <a:ext uri="{FF2B5EF4-FFF2-40B4-BE49-F238E27FC236}">
                <a16:creationId xmlns:a16="http://schemas.microsoft.com/office/drawing/2014/main" id="{B628E349-A847-A4B0-15C0-307BC391EE45}"/>
              </a:ext>
            </a:extLst>
          </p:cNvPr>
          <p:cNvSpPr/>
          <p:nvPr/>
        </p:nvSpPr>
        <p:spPr>
          <a:xfrm>
            <a:off x="7481756" y="2577651"/>
            <a:ext cx="4907355" cy="4998961"/>
          </a:xfrm>
          <a:custGeom>
            <a:avLst/>
            <a:gdLst/>
            <a:ahLst/>
            <a:cxnLst/>
            <a:rect l="l" t="t" r="r" b="b"/>
            <a:pathLst>
              <a:path w="6195549" h="9334160">
                <a:moveTo>
                  <a:pt x="0" y="0"/>
                </a:moveTo>
                <a:lnTo>
                  <a:pt x="6195548" y="0"/>
                </a:lnTo>
                <a:lnTo>
                  <a:pt x="6195548" y="9334160"/>
                </a:lnTo>
                <a:lnTo>
                  <a:pt x="0" y="9334160"/>
                </a:lnTo>
                <a:lnTo>
                  <a:pt x="0" y="0"/>
                </a:lnTo>
                <a:close/>
              </a:path>
            </a:pathLst>
          </a:custGeom>
          <a:blipFill>
            <a:blip r:embed="rId13"/>
            <a:stretch>
              <a:fillRect/>
            </a:stretch>
          </a:blipFill>
        </p:spPr>
        <p:txBody>
          <a:bodyPr/>
          <a:lstStyle/>
          <a:p>
            <a:endParaRPr lang="es-CL" noProof="0" dirty="0"/>
          </a:p>
        </p:txBody>
      </p:sp>
      <mc:AlternateContent xmlns:mc="http://schemas.openxmlformats.org/markup-compatibility/2006">
        <mc:Choice xmlns:am3d="http://schemas.microsoft.com/office/drawing/2017/model3d" Requires="am3d">
          <p:graphicFrame>
            <p:nvGraphicFramePr>
              <p:cNvPr id="85" name="Modelo 3D 84">
                <a:extLst>
                  <a:ext uri="{FF2B5EF4-FFF2-40B4-BE49-F238E27FC236}">
                    <a16:creationId xmlns:a16="http://schemas.microsoft.com/office/drawing/2014/main" id="{44D1E5AD-9835-07B1-DC30-713E2C8DC042}"/>
                  </a:ext>
                </a:extLst>
              </p:cNvPr>
              <p:cNvGraphicFramePr>
                <a:graphicFrameLocks noChangeAspect="1"/>
              </p:cNvGraphicFramePr>
              <p:nvPr>
                <p:extLst>
                  <p:ext uri="{D42A27DB-BD31-4B8C-83A1-F6EECF244321}">
                    <p14:modId xmlns:p14="http://schemas.microsoft.com/office/powerpoint/2010/main" val="1821779723"/>
                  </p:ext>
                </p:extLst>
              </p:nvPr>
            </p:nvGraphicFramePr>
            <p:xfrm>
              <a:off x="14028371" y="4258305"/>
              <a:ext cx="2245054" cy="2264078"/>
            </p:xfrm>
            <a:graphic>
              <a:graphicData uri="http://schemas.microsoft.com/office/drawing/2017/model3d">
                <am3d:model3d r:embed="rId11">
                  <am3d:spPr>
                    <a:xfrm>
                      <a:off x="0" y="0"/>
                      <a:ext cx="2245054" cy="2264078"/>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2337959" ay="1578648" az="1183336"/>
                    <am3d:postTrans dx="0" dy="0" dz="0"/>
                  </am3d:trans>
                  <am3d:raster rName="Office3DRenderer" rVer="16.0.8326">
                    <am3d:blip r:embed="rId14"/>
                  </am3d:raster>
                  <am3d:objViewport viewportSz="601217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5" name="Modelo 3D 84">
                <a:extLst>
                  <a:ext uri="{FF2B5EF4-FFF2-40B4-BE49-F238E27FC236}">
                    <a16:creationId xmlns:a16="http://schemas.microsoft.com/office/drawing/2014/main" id="{44D1E5AD-9835-07B1-DC30-713E2C8DC042}"/>
                  </a:ext>
                </a:extLst>
              </p:cNvPr>
              <p:cNvPicPr>
                <a:picLocks noGrp="1" noRot="1" noChangeAspect="1" noMove="1" noResize="1" noEditPoints="1" noAdjustHandles="1" noChangeArrowheads="1" noChangeShapeType="1" noCrop="1"/>
              </p:cNvPicPr>
              <p:nvPr/>
            </p:nvPicPr>
            <p:blipFill>
              <a:blip r:embed="rId14"/>
              <a:stretch>
                <a:fillRect/>
              </a:stretch>
            </p:blipFill>
            <p:spPr>
              <a:xfrm>
                <a:off x="14028371" y="4258305"/>
                <a:ext cx="2245054" cy="2264078"/>
              </a:xfrm>
              <a:prstGeom prst="rect">
                <a:avLst/>
              </a:prstGeom>
            </p:spPr>
          </p:pic>
        </mc:Fallback>
      </mc:AlternateContent>
      <p:sp>
        <p:nvSpPr>
          <p:cNvPr id="87" name="Rectángulo 86">
            <a:extLst>
              <a:ext uri="{FF2B5EF4-FFF2-40B4-BE49-F238E27FC236}">
                <a16:creationId xmlns:a16="http://schemas.microsoft.com/office/drawing/2014/main" id="{B98D7083-6EC8-8D0C-91F0-2CEA30813B92}"/>
              </a:ext>
            </a:extLst>
          </p:cNvPr>
          <p:cNvSpPr/>
          <p:nvPr/>
        </p:nvSpPr>
        <p:spPr>
          <a:xfrm>
            <a:off x="0" y="-7269432"/>
            <a:ext cx="3169467" cy="68580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9" name="CuadroTexto 78">
            <a:extLst>
              <a:ext uri="{FF2B5EF4-FFF2-40B4-BE49-F238E27FC236}">
                <a16:creationId xmlns:a16="http://schemas.microsoft.com/office/drawing/2014/main" id="{90E49BE4-95E0-2ED6-87EF-17396411771D}"/>
              </a:ext>
            </a:extLst>
          </p:cNvPr>
          <p:cNvSpPr txBox="1"/>
          <p:nvPr/>
        </p:nvSpPr>
        <p:spPr>
          <a:xfrm>
            <a:off x="1646579" y="403877"/>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latin typeface="Montserrat Bold"/>
                <a:ea typeface="Montserrat Bold"/>
                <a:cs typeface="Montserrat Bold"/>
                <a:sym typeface="Montserrat Bold"/>
              </a:rPr>
              <a:t>Fut.Ai</a:t>
            </a:r>
          </a:p>
        </p:txBody>
      </p:sp>
      <p:pic>
        <p:nvPicPr>
          <p:cNvPr id="81" name="Imagen 80">
            <a:extLst>
              <a:ext uri="{FF2B5EF4-FFF2-40B4-BE49-F238E27FC236}">
                <a16:creationId xmlns:a16="http://schemas.microsoft.com/office/drawing/2014/main" id="{9C69B4C7-2003-62BC-B262-32D3FF41ED52}"/>
              </a:ext>
            </a:extLst>
          </p:cNvPr>
          <p:cNvPicPr>
            <a:picLocks noChangeAspect="1"/>
          </p:cNvPicPr>
          <p:nvPr/>
        </p:nvPicPr>
        <p:blipFill>
          <a:blip r:embed="rId15"/>
          <a:srcRect/>
          <a:stretch>
            <a:fillRect/>
          </a:stretch>
        </p:blipFill>
        <p:spPr>
          <a:xfrm>
            <a:off x="3507939" y="604124"/>
            <a:ext cx="996664" cy="863537"/>
          </a:xfrm>
          <a:prstGeom prst="rect">
            <a:avLst/>
          </a:prstGeom>
        </p:spPr>
      </p:pic>
      <p:sp>
        <p:nvSpPr>
          <p:cNvPr id="89" name="CuadroTexto 88">
            <a:extLst>
              <a:ext uri="{FF2B5EF4-FFF2-40B4-BE49-F238E27FC236}">
                <a16:creationId xmlns:a16="http://schemas.microsoft.com/office/drawing/2014/main" id="{832E369F-E48B-A1F9-2F53-7BA9ABDC20AC}"/>
              </a:ext>
            </a:extLst>
          </p:cNvPr>
          <p:cNvSpPr txBox="1"/>
          <p:nvPr/>
        </p:nvSpPr>
        <p:spPr>
          <a:xfrm>
            <a:off x="-7380214" y="408772"/>
            <a:ext cx="7542337" cy="1092607"/>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Arquitectura y IA</a:t>
            </a:r>
          </a:p>
        </p:txBody>
      </p:sp>
      <p:sp>
        <p:nvSpPr>
          <p:cNvPr id="107" name="TextBox 9">
            <a:extLst>
              <a:ext uri="{FF2B5EF4-FFF2-40B4-BE49-F238E27FC236}">
                <a16:creationId xmlns:a16="http://schemas.microsoft.com/office/drawing/2014/main" id="{743C9806-45DD-8170-926C-42F6A0C21A33}"/>
              </a:ext>
            </a:extLst>
          </p:cNvPr>
          <p:cNvSpPr txBox="1"/>
          <p:nvPr/>
        </p:nvSpPr>
        <p:spPr>
          <a:xfrm>
            <a:off x="-7680266" y="2104285"/>
            <a:ext cx="7155904" cy="634148"/>
          </a:xfrm>
          <a:prstGeom prst="rect">
            <a:avLst/>
          </a:prstGeom>
        </p:spPr>
        <p:txBody>
          <a:bodyPr lIns="0" tIns="0" rIns="0" bIns="0" rtlCol="0" anchor="t">
            <a:spAutoFit/>
          </a:bodyPr>
          <a:lstStyle/>
          <a:p>
            <a:pPr marL="0" lvl="0" indent="0" algn="just">
              <a:lnSpc>
                <a:spcPts val="2564"/>
              </a:lnSpc>
              <a:spcBef>
                <a:spcPct val="0"/>
              </a:spcBef>
            </a:pPr>
            <a:r>
              <a:rPr lang="es-CL" sz="1400" u="none" strike="noStrike" noProof="0" dirty="0">
                <a:latin typeface="Montserrat"/>
                <a:ea typeface="Montserrat"/>
                <a:cs typeface="Montserrat"/>
                <a:sym typeface="Montserrat"/>
              </a:rPr>
              <a:t>Infraestructura elástica GPU en AWS/GCP con almacenamiento S3 y </a:t>
            </a:r>
            <a:r>
              <a:rPr lang="es-CL" sz="1400" u="none" strike="noStrike" noProof="0" dirty="0" err="1">
                <a:latin typeface="Montserrat"/>
                <a:ea typeface="Montserrat"/>
                <a:cs typeface="Montserrat"/>
                <a:sym typeface="Montserrat"/>
              </a:rPr>
              <a:t>TimescaleDB</a:t>
            </a:r>
            <a:r>
              <a:rPr lang="es-CL" sz="1400" u="none" strike="noStrike" noProof="0" dirty="0">
                <a:latin typeface="Montserrat"/>
                <a:ea typeface="Montserrat"/>
                <a:cs typeface="Montserrat"/>
                <a:sym typeface="Montserrat"/>
              </a:rPr>
              <a:t> para series temporales de alto rendimiento.</a:t>
            </a:r>
          </a:p>
        </p:txBody>
      </p:sp>
      <p:sp>
        <p:nvSpPr>
          <p:cNvPr id="109" name="TextBox 10">
            <a:extLst>
              <a:ext uri="{FF2B5EF4-FFF2-40B4-BE49-F238E27FC236}">
                <a16:creationId xmlns:a16="http://schemas.microsoft.com/office/drawing/2014/main" id="{69B827B3-011A-C7CB-7B9F-21A47C9CCBF5}"/>
              </a:ext>
            </a:extLst>
          </p:cNvPr>
          <p:cNvSpPr txBox="1"/>
          <p:nvPr/>
        </p:nvSpPr>
        <p:spPr>
          <a:xfrm>
            <a:off x="-7650630" y="3232917"/>
            <a:ext cx="7155904" cy="646844"/>
          </a:xfrm>
          <a:prstGeom prst="rect">
            <a:avLst/>
          </a:prstGeom>
        </p:spPr>
        <p:txBody>
          <a:bodyPr lIns="0" tIns="0" rIns="0" bIns="0" rtlCol="0" anchor="t">
            <a:spAutoFit/>
          </a:bodyPr>
          <a:lstStyle/>
          <a:p>
            <a:pPr marL="0" lvl="0" indent="0" algn="just">
              <a:lnSpc>
                <a:spcPts val="2564"/>
              </a:lnSpc>
              <a:spcBef>
                <a:spcPct val="0"/>
              </a:spcBef>
            </a:pPr>
            <a:r>
              <a:rPr lang="es-CL" sz="1400" noProof="0" dirty="0">
                <a:latin typeface="Montserrat"/>
                <a:ea typeface="Montserrat"/>
                <a:cs typeface="Montserrat"/>
                <a:sym typeface="Montserrat"/>
              </a:rPr>
              <a:t>YOLOv8/11 (detección) → ByteTrack (tracking) → RTMPose (biomecánica) → </a:t>
            </a:r>
            <a:r>
              <a:rPr lang="es-CL" sz="1400" noProof="0" dirty="0" err="1">
                <a:latin typeface="Montserrat"/>
                <a:ea typeface="Montserrat"/>
                <a:cs typeface="Montserrat"/>
                <a:sym typeface="Montserrat"/>
              </a:rPr>
              <a:t>OpenCV</a:t>
            </a:r>
            <a:r>
              <a:rPr lang="es-CL" sz="1400" noProof="0" dirty="0">
                <a:latin typeface="Montserrat"/>
                <a:ea typeface="Montserrat"/>
                <a:cs typeface="Montserrat"/>
                <a:sym typeface="Montserrat"/>
              </a:rPr>
              <a:t> (homografía de campo).</a:t>
            </a:r>
          </a:p>
        </p:txBody>
      </p:sp>
      <p:sp>
        <p:nvSpPr>
          <p:cNvPr id="111" name="TextBox 11">
            <a:extLst>
              <a:ext uri="{FF2B5EF4-FFF2-40B4-BE49-F238E27FC236}">
                <a16:creationId xmlns:a16="http://schemas.microsoft.com/office/drawing/2014/main" id="{BFBB7AA7-CD8C-203E-8630-883010507D98}"/>
              </a:ext>
            </a:extLst>
          </p:cNvPr>
          <p:cNvSpPr txBox="1"/>
          <p:nvPr/>
        </p:nvSpPr>
        <p:spPr>
          <a:xfrm>
            <a:off x="-7680266" y="4208688"/>
            <a:ext cx="7155904" cy="650050"/>
          </a:xfrm>
          <a:prstGeom prst="rect">
            <a:avLst/>
          </a:prstGeom>
        </p:spPr>
        <p:txBody>
          <a:bodyPr lIns="0" tIns="0" rIns="0" bIns="0" rtlCol="0" anchor="t">
            <a:spAutoFit/>
          </a:bodyPr>
          <a:lstStyle/>
          <a:p>
            <a:pPr marL="0" lvl="0" indent="0" algn="just">
              <a:lnSpc>
                <a:spcPts val="2564"/>
              </a:lnSpc>
              <a:spcBef>
                <a:spcPct val="0"/>
              </a:spcBef>
            </a:pPr>
            <a:r>
              <a:rPr lang="es-CL" sz="1400" noProof="0" dirty="0">
                <a:latin typeface="Montserrat"/>
                <a:ea typeface="Montserrat"/>
                <a:cs typeface="Montserrat"/>
                <a:sym typeface="Montserrat"/>
              </a:rPr>
              <a:t>Smart </a:t>
            </a:r>
            <a:r>
              <a:rPr lang="es-CL" sz="1400" noProof="0" dirty="0" err="1">
                <a:latin typeface="Montserrat"/>
                <a:ea typeface="Montserrat"/>
                <a:cs typeface="Montserrat"/>
                <a:sym typeface="Montserrat"/>
              </a:rPr>
              <a:t>Sampling</a:t>
            </a:r>
            <a:r>
              <a:rPr lang="es-CL" sz="1400" noProof="0" dirty="0">
                <a:latin typeface="Montserrat"/>
                <a:ea typeface="Montserrat"/>
                <a:cs typeface="Montserrat"/>
                <a:sym typeface="Montserrat"/>
              </a:rPr>
              <a:t> a 5-10 FPS y pausado automático en balón muerto para reducir costos de cómputo GPU.</a:t>
            </a:r>
          </a:p>
        </p:txBody>
      </p:sp>
      <p:sp>
        <p:nvSpPr>
          <p:cNvPr id="113" name="TextBox 12">
            <a:extLst>
              <a:ext uri="{FF2B5EF4-FFF2-40B4-BE49-F238E27FC236}">
                <a16:creationId xmlns:a16="http://schemas.microsoft.com/office/drawing/2014/main" id="{FE2BAA24-181A-942B-D081-E3B42D2E78F1}"/>
              </a:ext>
            </a:extLst>
          </p:cNvPr>
          <p:cNvSpPr txBox="1"/>
          <p:nvPr/>
        </p:nvSpPr>
        <p:spPr>
          <a:xfrm>
            <a:off x="-7680266" y="5187665"/>
            <a:ext cx="7155904" cy="640560"/>
          </a:xfrm>
          <a:prstGeom prst="rect">
            <a:avLst/>
          </a:prstGeom>
        </p:spPr>
        <p:txBody>
          <a:bodyPr lIns="0" tIns="0" rIns="0" bIns="0" rtlCol="0" anchor="t">
            <a:spAutoFit/>
          </a:bodyPr>
          <a:lstStyle/>
          <a:p>
            <a:pPr marL="0" lvl="0" indent="0" algn="just">
              <a:lnSpc>
                <a:spcPts val="2564"/>
              </a:lnSpc>
              <a:spcBef>
                <a:spcPct val="0"/>
              </a:spcBef>
            </a:pPr>
            <a:r>
              <a:rPr lang="es-CL" sz="1400" noProof="0" dirty="0">
                <a:latin typeface="Montserrat"/>
                <a:ea typeface="Montserrat"/>
                <a:cs typeface="Montserrat"/>
                <a:sym typeface="Montserrat"/>
              </a:rPr>
              <a:t>Procesamiento paralelo escalable con arquitectura </a:t>
            </a:r>
            <a:r>
              <a:rPr lang="es-CL" sz="1400" noProof="0" dirty="0" err="1">
                <a:latin typeface="Montserrat"/>
                <a:ea typeface="Montserrat"/>
                <a:cs typeface="Montserrat"/>
                <a:sym typeface="Montserrat"/>
              </a:rPr>
              <a:t>serverless</a:t>
            </a:r>
            <a:r>
              <a:rPr lang="es-CL" sz="1400" noProof="0" dirty="0">
                <a:latin typeface="Montserrat"/>
                <a:ea typeface="Montserrat"/>
                <a:cs typeface="Montserrat"/>
                <a:sym typeface="Montserrat"/>
              </a:rPr>
              <a:t> para múltiples partidos simultáneos sin fricción.</a:t>
            </a:r>
          </a:p>
        </p:txBody>
      </p:sp>
      <p:pic>
        <p:nvPicPr>
          <p:cNvPr id="115" name="Imagen 114">
            <a:extLst>
              <a:ext uri="{FF2B5EF4-FFF2-40B4-BE49-F238E27FC236}">
                <a16:creationId xmlns:a16="http://schemas.microsoft.com/office/drawing/2014/main" id="{A625515F-D416-9D35-09F4-530A82D9E7CC}"/>
              </a:ext>
            </a:extLst>
          </p:cNvPr>
          <p:cNvPicPr>
            <a:picLocks noChangeAspect="1"/>
          </p:cNvPicPr>
          <p:nvPr/>
        </p:nvPicPr>
        <p:blipFill>
          <a:blip r:embed="rId16"/>
          <a:stretch>
            <a:fillRect/>
          </a:stretch>
        </p:blipFill>
        <p:spPr>
          <a:xfrm>
            <a:off x="-8338394" y="1755009"/>
            <a:ext cx="533400" cy="285750"/>
          </a:xfrm>
          <a:prstGeom prst="rect">
            <a:avLst/>
          </a:prstGeom>
        </p:spPr>
      </p:pic>
      <p:pic>
        <p:nvPicPr>
          <p:cNvPr id="117" name="Imagen 116">
            <a:extLst>
              <a:ext uri="{FF2B5EF4-FFF2-40B4-BE49-F238E27FC236}">
                <a16:creationId xmlns:a16="http://schemas.microsoft.com/office/drawing/2014/main" id="{D8BDE200-E5CF-9A87-F479-A075E42A1142}"/>
              </a:ext>
            </a:extLst>
          </p:cNvPr>
          <p:cNvPicPr>
            <a:picLocks noChangeAspect="1"/>
          </p:cNvPicPr>
          <p:nvPr/>
        </p:nvPicPr>
        <p:blipFill>
          <a:blip r:embed="rId16"/>
          <a:stretch>
            <a:fillRect/>
          </a:stretch>
        </p:blipFill>
        <p:spPr>
          <a:xfrm>
            <a:off x="-8318808" y="2910751"/>
            <a:ext cx="533400" cy="285750"/>
          </a:xfrm>
          <a:prstGeom prst="rect">
            <a:avLst/>
          </a:prstGeom>
        </p:spPr>
      </p:pic>
      <p:pic>
        <p:nvPicPr>
          <p:cNvPr id="119" name="Imagen 118">
            <a:extLst>
              <a:ext uri="{FF2B5EF4-FFF2-40B4-BE49-F238E27FC236}">
                <a16:creationId xmlns:a16="http://schemas.microsoft.com/office/drawing/2014/main" id="{C704A80A-66EE-9078-CDA8-C1D0F083497D}"/>
              </a:ext>
            </a:extLst>
          </p:cNvPr>
          <p:cNvPicPr>
            <a:picLocks noChangeAspect="1"/>
          </p:cNvPicPr>
          <p:nvPr/>
        </p:nvPicPr>
        <p:blipFill>
          <a:blip r:embed="rId16"/>
          <a:stretch>
            <a:fillRect/>
          </a:stretch>
        </p:blipFill>
        <p:spPr>
          <a:xfrm>
            <a:off x="-8318808" y="3955938"/>
            <a:ext cx="533400" cy="285750"/>
          </a:xfrm>
          <a:prstGeom prst="rect">
            <a:avLst/>
          </a:prstGeom>
        </p:spPr>
      </p:pic>
      <p:pic>
        <p:nvPicPr>
          <p:cNvPr id="121" name="Imagen 120">
            <a:extLst>
              <a:ext uri="{FF2B5EF4-FFF2-40B4-BE49-F238E27FC236}">
                <a16:creationId xmlns:a16="http://schemas.microsoft.com/office/drawing/2014/main" id="{675CCD6F-4D26-BA23-21A4-A078BE0C4A91}"/>
              </a:ext>
            </a:extLst>
          </p:cNvPr>
          <p:cNvPicPr>
            <a:picLocks noChangeAspect="1"/>
          </p:cNvPicPr>
          <p:nvPr/>
        </p:nvPicPr>
        <p:blipFill>
          <a:blip r:embed="rId16"/>
          <a:stretch>
            <a:fillRect/>
          </a:stretch>
        </p:blipFill>
        <p:spPr>
          <a:xfrm>
            <a:off x="-8312994" y="4879182"/>
            <a:ext cx="533400" cy="285750"/>
          </a:xfrm>
          <a:prstGeom prst="rect">
            <a:avLst/>
          </a:prstGeom>
        </p:spPr>
      </p:pic>
    </p:spTree>
    <p:extLst>
      <p:ext uri="{BB962C8B-B14F-4D97-AF65-F5344CB8AC3E}">
        <p14:creationId xmlns:p14="http://schemas.microsoft.com/office/powerpoint/2010/main" val="1226076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3E85-B116-3AB0-4354-DA7D26536966}"/>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043C726E-B45F-64BA-FF2C-C28861D26BF9}"/>
              </a:ext>
            </a:extLst>
          </p:cNvPr>
          <p:cNvPicPr preferRelativeResize="0">
            <a:picLocks noChangeAspect="1"/>
          </p:cNvPicPr>
          <p:nvPr/>
        </p:nvPicPr>
        <p:blipFill>
          <a:blip r:embed="rId3"/>
          <a:srcRect/>
          <a:stretch>
            <a:fillRect/>
          </a:stretch>
        </p:blipFill>
        <p:spPr>
          <a:xfrm rot="10962675">
            <a:off x="-8941651" y="-5395266"/>
            <a:ext cx="8435385" cy="21605042"/>
          </a:xfrm>
          <a:prstGeom prst="rect">
            <a:avLst/>
          </a:prstGeom>
        </p:spPr>
      </p:pic>
      <p:sp>
        <p:nvSpPr>
          <p:cNvPr id="10" name="CuadroTexto 9">
            <a:extLst>
              <a:ext uri="{FF2B5EF4-FFF2-40B4-BE49-F238E27FC236}">
                <a16:creationId xmlns:a16="http://schemas.microsoft.com/office/drawing/2014/main" id="{8302A4A6-78CB-3BF8-1B45-951179E8D1D6}"/>
              </a:ext>
            </a:extLst>
          </p:cNvPr>
          <p:cNvSpPr txBox="1"/>
          <p:nvPr/>
        </p:nvSpPr>
        <p:spPr>
          <a:xfrm>
            <a:off x="14631214" y="-1808519"/>
            <a:ext cx="5096456" cy="2092881"/>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Metodología</a:t>
            </a:r>
          </a:p>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 y Equipo</a:t>
            </a:r>
          </a:p>
        </p:txBody>
      </p:sp>
      <p:sp>
        <p:nvSpPr>
          <p:cNvPr id="11" name="TextBox 19">
            <a:extLst>
              <a:ext uri="{FF2B5EF4-FFF2-40B4-BE49-F238E27FC236}">
                <a16:creationId xmlns:a16="http://schemas.microsoft.com/office/drawing/2014/main" id="{DD0A25CA-3283-CB0B-EC24-23740759C3F0}"/>
              </a:ext>
            </a:extLst>
          </p:cNvPr>
          <p:cNvSpPr txBox="1"/>
          <p:nvPr/>
        </p:nvSpPr>
        <p:spPr>
          <a:xfrm>
            <a:off x="20129149" y="1408140"/>
            <a:ext cx="8569419" cy="1128032"/>
          </a:xfrm>
          <a:prstGeom prst="rect">
            <a:avLst/>
          </a:prstGeom>
        </p:spPr>
        <p:txBody>
          <a:bodyPr lIns="50800" tIns="50800" rIns="50800" bIns="50800" rtlCol="0" anchor="ctr"/>
          <a:lstStyle/>
          <a:p>
            <a:pPr marL="0" lvl="0" indent="0" algn="ctr">
              <a:lnSpc>
                <a:spcPts val="2659"/>
              </a:lnSpc>
            </a:pPr>
            <a:endParaRPr lang="es-CL" noProof="0" dirty="0"/>
          </a:p>
        </p:txBody>
      </p:sp>
      <p:sp>
        <p:nvSpPr>
          <p:cNvPr id="59" name="TextBox 37">
            <a:extLst>
              <a:ext uri="{FF2B5EF4-FFF2-40B4-BE49-F238E27FC236}">
                <a16:creationId xmlns:a16="http://schemas.microsoft.com/office/drawing/2014/main" id="{CF82CBE8-0A55-0E81-0C11-5A9CCEB6BBCB}"/>
              </a:ext>
            </a:extLst>
          </p:cNvPr>
          <p:cNvSpPr txBox="1"/>
          <p:nvPr/>
        </p:nvSpPr>
        <p:spPr>
          <a:xfrm>
            <a:off x="13301610" y="852730"/>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1: Arquitectura Cloud, datasets y diseño UX/UI</a:t>
            </a:r>
          </a:p>
        </p:txBody>
      </p:sp>
      <p:sp>
        <p:nvSpPr>
          <p:cNvPr id="60" name="TextBox 38">
            <a:extLst>
              <a:ext uri="{FF2B5EF4-FFF2-40B4-BE49-F238E27FC236}">
                <a16:creationId xmlns:a16="http://schemas.microsoft.com/office/drawing/2014/main" id="{1E97D73D-875B-6B96-473B-F278AB7CDD70}"/>
              </a:ext>
            </a:extLst>
          </p:cNvPr>
          <p:cNvSpPr txBox="1"/>
          <p:nvPr/>
        </p:nvSpPr>
        <p:spPr>
          <a:xfrm>
            <a:off x="13301610" y="1651256"/>
            <a:ext cx="6280390" cy="569195"/>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2: Modelos IA (YOLO, ByteTrack, RTMPose) y API Backend</a:t>
            </a:r>
          </a:p>
        </p:txBody>
      </p:sp>
      <p:sp>
        <p:nvSpPr>
          <p:cNvPr id="61" name="TextBox 39">
            <a:extLst>
              <a:ext uri="{FF2B5EF4-FFF2-40B4-BE49-F238E27FC236}">
                <a16:creationId xmlns:a16="http://schemas.microsoft.com/office/drawing/2014/main" id="{9AB8F808-00A0-7D60-37C7-2A3747B13988}"/>
              </a:ext>
            </a:extLst>
          </p:cNvPr>
          <p:cNvSpPr txBox="1"/>
          <p:nvPr/>
        </p:nvSpPr>
        <p:spPr>
          <a:xfrm>
            <a:off x="13301610" y="2647379"/>
            <a:ext cx="6280390" cy="569195"/>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3: Dashboard interactivo, pruebas piloto y entregables</a:t>
            </a:r>
          </a:p>
        </p:txBody>
      </p:sp>
      <p:sp>
        <p:nvSpPr>
          <p:cNvPr id="62" name="TextBox 40">
            <a:extLst>
              <a:ext uri="{FF2B5EF4-FFF2-40B4-BE49-F238E27FC236}">
                <a16:creationId xmlns:a16="http://schemas.microsoft.com/office/drawing/2014/main" id="{3F1F907C-0744-828A-9D0E-06DF7C9BD962}"/>
              </a:ext>
            </a:extLst>
          </p:cNvPr>
          <p:cNvSpPr txBox="1"/>
          <p:nvPr/>
        </p:nvSpPr>
        <p:spPr>
          <a:xfrm>
            <a:off x="13250171" y="3720818"/>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Director, Especialista IA, Backend Cloud y Frontend UX</a:t>
            </a:r>
          </a:p>
        </p:txBody>
      </p:sp>
      <p:sp>
        <p:nvSpPr>
          <p:cNvPr id="63" name="TextBox 41">
            <a:extLst>
              <a:ext uri="{FF2B5EF4-FFF2-40B4-BE49-F238E27FC236}">
                <a16:creationId xmlns:a16="http://schemas.microsoft.com/office/drawing/2014/main" id="{590E5119-C0FD-4C86-916E-ED5FB1E1FE13}"/>
              </a:ext>
            </a:extLst>
          </p:cNvPr>
          <p:cNvSpPr txBox="1"/>
          <p:nvPr/>
        </p:nvSpPr>
        <p:spPr>
          <a:xfrm>
            <a:off x="13301610" y="4617926"/>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MVP funcional + piloto con club partner en 18 semanas</a:t>
            </a:r>
          </a:p>
        </p:txBody>
      </p:sp>
      <p:sp>
        <p:nvSpPr>
          <p:cNvPr id="65" name="Freeform 6">
            <a:extLst>
              <a:ext uri="{FF2B5EF4-FFF2-40B4-BE49-F238E27FC236}">
                <a16:creationId xmlns:a16="http://schemas.microsoft.com/office/drawing/2014/main" id="{C2647C11-9C02-FE00-41D5-7AD049A6574E}"/>
              </a:ext>
            </a:extLst>
          </p:cNvPr>
          <p:cNvSpPr/>
          <p:nvPr/>
        </p:nvSpPr>
        <p:spPr>
          <a:xfrm>
            <a:off x="13053061" y="604124"/>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67" name="Freeform 6">
            <a:extLst>
              <a:ext uri="{FF2B5EF4-FFF2-40B4-BE49-F238E27FC236}">
                <a16:creationId xmlns:a16="http://schemas.microsoft.com/office/drawing/2014/main" id="{F20389DC-6050-133A-2F23-D6E7FBCF494A}"/>
              </a:ext>
            </a:extLst>
          </p:cNvPr>
          <p:cNvSpPr/>
          <p:nvPr/>
        </p:nvSpPr>
        <p:spPr>
          <a:xfrm>
            <a:off x="13053061" y="1547043"/>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1" name="Freeform 6">
            <a:extLst>
              <a:ext uri="{FF2B5EF4-FFF2-40B4-BE49-F238E27FC236}">
                <a16:creationId xmlns:a16="http://schemas.microsoft.com/office/drawing/2014/main" id="{4B48D189-A4FE-C269-F7CD-77E5C9FEBA4F}"/>
              </a:ext>
            </a:extLst>
          </p:cNvPr>
          <p:cNvSpPr/>
          <p:nvPr/>
        </p:nvSpPr>
        <p:spPr>
          <a:xfrm>
            <a:off x="13053061" y="2533818"/>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3" name="Freeform 6">
            <a:extLst>
              <a:ext uri="{FF2B5EF4-FFF2-40B4-BE49-F238E27FC236}">
                <a16:creationId xmlns:a16="http://schemas.microsoft.com/office/drawing/2014/main" id="{A93E2A75-954A-4916-8456-7DF4BCAB3BBF}"/>
              </a:ext>
            </a:extLst>
          </p:cNvPr>
          <p:cNvSpPr/>
          <p:nvPr/>
        </p:nvSpPr>
        <p:spPr>
          <a:xfrm>
            <a:off x="13053061" y="3466364"/>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5" name="Freeform 6">
            <a:extLst>
              <a:ext uri="{FF2B5EF4-FFF2-40B4-BE49-F238E27FC236}">
                <a16:creationId xmlns:a16="http://schemas.microsoft.com/office/drawing/2014/main" id="{B8575576-AF5D-BEE3-2DC4-F20C4637F576}"/>
              </a:ext>
            </a:extLst>
          </p:cNvPr>
          <p:cNvSpPr/>
          <p:nvPr/>
        </p:nvSpPr>
        <p:spPr>
          <a:xfrm>
            <a:off x="13053060" y="4412382"/>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7" name="Freeform 4">
            <a:extLst>
              <a:ext uri="{FF2B5EF4-FFF2-40B4-BE49-F238E27FC236}">
                <a16:creationId xmlns:a16="http://schemas.microsoft.com/office/drawing/2014/main" id="{34521116-E834-147E-8AF8-206AF5CA5A2B}"/>
              </a:ext>
            </a:extLst>
          </p:cNvPr>
          <p:cNvSpPr/>
          <p:nvPr/>
        </p:nvSpPr>
        <p:spPr>
          <a:xfrm>
            <a:off x="20378606" y="1289063"/>
            <a:ext cx="4907355" cy="4998961"/>
          </a:xfrm>
          <a:custGeom>
            <a:avLst/>
            <a:gdLst/>
            <a:ahLst/>
            <a:cxnLst/>
            <a:rect l="l" t="t" r="r" b="b"/>
            <a:pathLst>
              <a:path w="6195549" h="9334160">
                <a:moveTo>
                  <a:pt x="0" y="0"/>
                </a:moveTo>
                <a:lnTo>
                  <a:pt x="6195548" y="0"/>
                </a:lnTo>
                <a:lnTo>
                  <a:pt x="6195548" y="9334160"/>
                </a:lnTo>
                <a:lnTo>
                  <a:pt x="0" y="9334160"/>
                </a:lnTo>
                <a:lnTo>
                  <a:pt x="0" y="0"/>
                </a:lnTo>
                <a:close/>
              </a:path>
            </a:pathLst>
          </a:custGeom>
          <a:blipFill>
            <a:blip r:embed="rId4"/>
            <a:stretch>
              <a:fillRect/>
            </a:stretch>
          </a:blipFill>
        </p:spPr>
        <p:txBody>
          <a:bodyPr/>
          <a:lstStyle/>
          <a:p>
            <a:endParaRPr lang="es-CL" noProof="0" dirty="0"/>
          </a:p>
        </p:txBody>
      </p:sp>
      <p:sp>
        <p:nvSpPr>
          <p:cNvPr id="7" name="Rectángulo 6">
            <a:extLst>
              <a:ext uri="{FF2B5EF4-FFF2-40B4-BE49-F238E27FC236}">
                <a16:creationId xmlns:a16="http://schemas.microsoft.com/office/drawing/2014/main" id="{BCF0F7EB-7453-A991-6467-7753B3FE9576}"/>
              </a:ext>
            </a:extLst>
          </p:cNvPr>
          <p:cNvSpPr/>
          <p:nvPr/>
        </p:nvSpPr>
        <p:spPr>
          <a:xfrm>
            <a:off x="9022533" y="0"/>
            <a:ext cx="3169467" cy="68580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mc:AlternateContent xmlns:mc="http://schemas.openxmlformats.org/markup-compatibility/2006">
        <mc:Choice xmlns:am3d="http://schemas.microsoft.com/office/drawing/2017/model3d" Requires="am3d">
          <p:graphicFrame>
            <p:nvGraphicFramePr>
              <p:cNvPr id="19" name="Modelo 3D 18">
                <a:extLst>
                  <a:ext uri="{FF2B5EF4-FFF2-40B4-BE49-F238E27FC236}">
                    <a16:creationId xmlns:a16="http://schemas.microsoft.com/office/drawing/2014/main" id="{4E19F18F-F007-BCED-66A0-FC5AA60D8CB4}"/>
                  </a:ext>
                </a:extLst>
              </p:cNvPr>
              <p:cNvGraphicFramePr>
                <a:graphicFrameLocks noChangeAspect="1"/>
              </p:cNvGraphicFramePr>
              <p:nvPr>
                <p:extLst>
                  <p:ext uri="{D42A27DB-BD31-4B8C-83A1-F6EECF244321}">
                    <p14:modId xmlns:p14="http://schemas.microsoft.com/office/powerpoint/2010/main" val="1005084976"/>
                  </p:ext>
                </p:extLst>
              </p:nvPr>
            </p:nvGraphicFramePr>
            <p:xfrm>
              <a:off x="9600606" y="3720818"/>
              <a:ext cx="2264075" cy="2264075"/>
            </p:xfrm>
            <a:graphic>
              <a:graphicData uri="http://schemas.microsoft.com/office/drawing/2017/model3d">
                <am3d:model3d r:embed="rId5">
                  <am3d:spPr>
                    <a:xfrm>
                      <a:off x="0" y="0"/>
                      <a:ext cx="2264075" cy="2264075"/>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910241" ay="-1927918" az="492378"/>
                    <am3d:postTrans dx="0" dy="0" dz="0"/>
                  </am3d:trans>
                  <am3d:raster rName="Office3DRenderer" rVer="16.0.8326">
                    <am3d:blip r:embed="rId6"/>
                  </am3d:raster>
                  <am3d:objViewport viewportSz="601216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Modelo 3D 18">
                <a:extLst>
                  <a:ext uri="{FF2B5EF4-FFF2-40B4-BE49-F238E27FC236}">
                    <a16:creationId xmlns:a16="http://schemas.microsoft.com/office/drawing/2014/main" id="{4E19F18F-F007-BCED-66A0-FC5AA60D8CB4}"/>
                  </a:ext>
                </a:extLst>
              </p:cNvPr>
              <p:cNvPicPr>
                <a:picLocks noGrp="1" noRot="1" noChangeAspect="1" noMove="1" noResize="1" noEditPoints="1" noAdjustHandles="1" noChangeArrowheads="1" noChangeShapeType="1" noCrop="1"/>
              </p:cNvPicPr>
              <p:nvPr/>
            </p:nvPicPr>
            <p:blipFill>
              <a:blip r:embed="rId6"/>
              <a:stretch>
                <a:fillRect/>
              </a:stretch>
            </p:blipFill>
            <p:spPr>
              <a:xfrm>
                <a:off x="9600606" y="3720818"/>
                <a:ext cx="2264075" cy="2264075"/>
              </a:xfrm>
              <a:prstGeom prst="rect">
                <a:avLst/>
              </a:prstGeom>
            </p:spPr>
          </p:pic>
        </mc:Fallback>
      </mc:AlternateContent>
      <p:sp>
        <p:nvSpPr>
          <p:cNvPr id="13" name="CuadroTexto 12">
            <a:extLst>
              <a:ext uri="{FF2B5EF4-FFF2-40B4-BE49-F238E27FC236}">
                <a16:creationId xmlns:a16="http://schemas.microsoft.com/office/drawing/2014/main" id="{9907A8BD-3871-6EC3-8CEA-789234D70419}"/>
              </a:ext>
            </a:extLst>
          </p:cNvPr>
          <p:cNvSpPr txBox="1"/>
          <p:nvPr/>
        </p:nvSpPr>
        <p:spPr>
          <a:xfrm>
            <a:off x="9313938" y="28729"/>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bg1">
                    <a:lumMod val="75000"/>
                  </a:schemeClr>
                </a:solidFill>
                <a:latin typeface="Montserrat Bold"/>
                <a:ea typeface="Montserrat Bold"/>
                <a:cs typeface="Montserrat Bold"/>
                <a:sym typeface="Montserrat Bold"/>
              </a:rPr>
              <a:t>Fut.Ai</a:t>
            </a:r>
          </a:p>
        </p:txBody>
      </p:sp>
      <p:pic>
        <p:nvPicPr>
          <p:cNvPr id="16" name="Imagen 15">
            <a:extLst>
              <a:ext uri="{FF2B5EF4-FFF2-40B4-BE49-F238E27FC236}">
                <a16:creationId xmlns:a16="http://schemas.microsoft.com/office/drawing/2014/main" id="{23DF9570-56A7-55E1-23DA-848D601F8B35}"/>
              </a:ext>
            </a:extLst>
          </p:cNvPr>
          <p:cNvPicPr>
            <a:picLocks noChangeAspect="1"/>
          </p:cNvPicPr>
          <p:nvPr/>
        </p:nvPicPr>
        <p:blipFill>
          <a:blip r:embed="rId7"/>
          <a:srcRect/>
          <a:stretch>
            <a:fillRect/>
          </a:stretch>
        </p:blipFill>
        <p:spPr>
          <a:xfrm>
            <a:off x="11125051" y="230603"/>
            <a:ext cx="996664" cy="863537"/>
          </a:xfrm>
          <a:prstGeom prst="rect">
            <a:avLst/>
          </a:prstGeom>
        </p:spPr>
      </p:pic>
      <p:sp>
        <p:nvSpPr>
          <p:cNvPr id="21" name="CuadroTexto 20">
            <a:extLst>
              <a:ext uri="{FF2B5EF4-FFF2-40B4-BE49-F238E27FC236}">
                <a16:creationId xmlns:a16="http://schemas.microsoft.com/office/drawing/2014/main" id="{247F237C-B584-1764-559F-D16567643B12}"/>
              </a:ext>
            </a:extLst>
          </p:cNvPr>
          <p:cNvSpPr txBox="1"/>
          <p:nvPr/>
        </p:nvSpPr>
        <p:spPr>
          <a:xfrm>
            <a:off x="1307011" y="116069"/>
            <a:ext cx="7542337" cy="1092607"/>
          </a:xfrm>
          <a:prstGeom prst="rect">
            <a:avLst/>
          </a:prstGeom>
          <a:noFill/>
        </p:spPr>
        <p:txBody>
          <a:bodyPr wrap="square">
            <a:spAutoFit/>
          </a:bodyPr>
          <a:lstStyle/>
          <a:p>
            <a:pPr lvl="0">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Arquitectura &amp; IA</a:t>
            </a:r>
          </a:p>
        </p:txBody>
      </p:sp>
      <p:sp>
        <p:nvSpPr>
          <p:cNvPr id="24" name="TextBox 5">
            <a:extLst>
              <a:ext uri="{FF2B5EF4-FFF2-40B4-BE49-F238E27FC236}">
                <a16:creationId xmlns:a16="http://schemas.microsoft.com/office/drawing/2014/main" id="{E3336C83-3D6A-94DF-B76D-A5E16CC43C65}"/>
              </a:ext>
            </a:extLst>
          </p:cNvPr>
          <p:cNvSpPr txBox="1"/>
          <p:nvPr/>
        </p:nvSpPr>
        <p:spPr>
          <a:xfrm>
            <a:off x="1356242" y="1651256"/>
            <a:ext cx="7804675" cy="428835"/>
          </a:xfrm>
          <a:prstGeom prst="rect">
            <a:avLst/>
          </a:prstGeom>
        </p:spPr>
        <p:txBody>
          <a:bodyPr lIns="0" tIns="0" rIns="0" bIns="0" rtlCol="0" anchor="t">
            <a:spAutoFit/>
          </a:bodyPr>
          <a:lstStyle/>
          <a:p>
            <a:pPr marL="0" lvl="0" indent="0" algn="l">
              <a:lnSpc>
                <a:spcPts val="3764"/>
              </a:lnSpc>
              <a:spcBef>
                <a:spcPct val="0"/>
              </a:spcBef>
            </a:pPr>
            <a:r>
              <a:rPr lang="es-CL" b="1" noProof="0" dirty="0">
                <a:latin typeface="Montserrat Bold"/>
                <a:ea typeface="Montserrat Bold"/>
                <a:cs typeface="Montserrat Bold"/>
                <a:sym typeface="Montserrat Bold"/>
              </a:rPr>
              <a:t>INFRAESTRUCTURA EN GOOGLE CLOUD</a:t>
            </a:r>
          </a:p>
        </p:txBody>
      </p:sp>
      <p:sp>
        <p:nvSpPr>
          <p:cNvPr id="26" name="TextBox 6">
            <a:extLst>
              <a:ext uri="{FF2B5EF4-FFF2-40B4-BE49-F238E27FC236}">
                <a16:creationId xmlns:a16="http://schemas.microsoft.com/office/drawing/2014/main" id="{BE0D43A0-1017-95B1-2152-0D379E7BAA64}"/>
              </a:ext>
            </a:extLst>
          </p:cNvPr>
          <p:cNvSpPr txBox="1"/>
          <p:nvPr/>
        </p:nvSpPr>
        <p:spPr>
          <a:xfrm>
            <a:off x="1385878" y="2818849"/>
            <a:ext cx="7804675" cy="428835"/>
          </a:xfrm>
          <a:prstGeom prst="rect">
            <a:avLst/>
          </a:prstGeom>
        </p:spPr>
        <p:txBody>
          <a:bodyPr lIns="0" tIns="0" rIns="0" bIns="0" rtlCol="0" anchor="t">
            <a:spAutoFit/>
          </a:bodyPr>
          <a:lstStyle/>
          <a:p>
            <a:pPr marL="0" lvl="0" indent="0" algn="l">
              <a:lnSpc>
                <a:spcPts val="3764"/>
              </a:lnSpc>
              <a:spcBef>
                <a:spcPct val="0"/>
              </a:spcBef>
            </a:pPr>
            <a:r>
              <a:rPr lang="es-CL" b="1" noProof="0" dirty="0">
                <a:latin typeface="Montserrat Bold"/>
                <a:ea typeface="Montserrat Bold"/>
                <a:cs typeface="Montserrat Bold"/>
                <a:sym typeface="Montserrat Bold"/>
              </a:rPr>
              <a:t>PIPELINE DE IA MODULAR</a:t>
            </a:r>
          </a:p>
        </p:txBody>
      </p:sp>
      <p:sp>
        <p:nvSpPr>
          <p:cNvPr id="28" name="TextBox 7">
            <a:extLst>
              <a:ext uri="{FF2B5EF4-FFF2-40B4-BE49-F238E27FC236}">
                <a16:creationId xmlns:a16="http://schemas.microsoft.com/office/drawing/2014/main" id="{B8FC2721-92DF-8D8D-AF9E-1252D83B3ACC}"/>
              </a:ext>
            </a:extLst>
          </p:cNvPr>
          <p:cNvSpPr txBox="1"/>
          <p:nvPr/>
        </p:nvSpPr>
        <p:spPr>
          <a:xfrm>
            <a:off x="1356241" y="3832293"/>
            <a:ext cx="7804675" cy="428835"/>
          </a:xfrm>
          <a:prstGeom prst="rect">
            <a:avLst/>
          </a:prstGeom>
        </p:spPr>
        <p:txBody>
          <a:bodyPr lIns="0" tIns="0" rIns="0" bIns="0" rtlCol="0" anchor="t">
            <a:spAutoFit/>
          </a:bodyPr>
          <a:lstStyle/>
          <a:p>
            <a:pPr marL="0" lvl="0" indent="0" algn="l">
              <a:lnSpc>
                <a:spcPts val="3764"/>
              </a:lnSpc>
              <a:spcBef>
                <a:spcPct val="0"/>
              </a:spcBef>
            </a:pPr>
            <a:r>
              <a:rPr lang="es-CL" b="1" noProof="0" dirty="0">
                <a:latin typeface="Montserrat Bold"/>
                <a:ea typeface="Montserrat Bold"/>
                <a:cs typeface="Montserrat Bold"/>
                <a:sym typeface="Montserrat Bold"/>
              </a:rPr>
              <a:t>OPTIMIZACIÓN DE COSTOS</a:t>
            </a:r>
          </a:p>
        </p:txBody>
      </p:sp>
      <p:sp>
        <p:nvSpPr>
          <p:cNvPr id="30" name="TextBox 8">
            <a:extLst>
              <a:ext uri="{FF2B5EF4-FFF2-40B4-BE49-F238E27FC236}">
                <a16:creationId xmlns:a16="http://schemas.microsoft.com/office/drawing/2014/main" id="{1F2D3061-BAD5-F5CD-7049-92FD4DA1BE10}"/>
              </a:ext>
            </a:extLst>
          </p:cNvPr>
          <p:cNvSpPr txBox="1"/>
          <p:nvPr/>
        </p:nvSpPr>
        <p:spPr>
          <a:xfrm>
            <a:off x="1320773" y="4795503"/>
            <a:ext cx="7804675" cy="428835"/>
          </a:xfrm>
          <a:prstGeom prst="rect">
            <a:avLst/>
          </a:prstGeom>
        </p:spPr>
        <p:txBody>
          <a:bodyPr lIns="0" tIns="0" rIns="0" bIns="0" rtlCol="0" anchor="t">
            <a:spAutoFit/>
          </a:bodyPr>
          <a:lstStyle/>
          <a:p>
            <a:pPr marL="0" lvl="0" indent="0" algn="l">
              <a:lnSpc>
                <a:spcPts val="3764"/>
              </a:lnSpc>
              <a:spcBef>
                <a:spcPct val="0"/>
              </a:spcBef>
            </a:pPr>
            <a:r>
              <a:rPr lang="es-CL" b="1" noProof="0" dirty="0">
                <a:latin typeface="Montserrat Bold"/>
                <a:ea typeface="Montserrat Bold"/>
                <a:cs typeface="Montserrat Bold"/>
                <a:sym typeface="Montserrat Bold"/>
              </a:rPr>
              <a:t>ARQUITECTURA SERVERLESS</a:t>
            </a:r>
          </a:p>
        </p:txBody>
      </p:sp>
      <p:sp>
        <p:nvSpPr>
          <p:cNvPr id="32" name="TextBox 9">
            <a:extLst>
              <a:ext uri="{FF2B5EF4-FFF2-40B4-BE49-F238E27FC236}">
                <a16:creationId xmlns:a16="http://schemas.microsoft.com/office/drawing/2014/main" id="{B4806D55-717A-8FF5-B450-AC59D945BFFA}"/>
              </a:ext>
            </a:extLst>
          </p:cNvPr>
          <p:cNvSpPr txBox="1"/>
          <p:nvPr/>
        </p:nvSpPr>
        <p:spPr>
          <a:xfrm>
            <a:off x="1356242" y="2124358"/>
            <a:ext cx="7155904" cy="634148"/>
          </a:xfrm>
          <a:prstGeom prst="rect">
            <a:avLst/>
          </a:prstGeom>
        </p:spPr>
        <p:txBody>
          <a:bodyPr lIns="0" tIns="0" rIns="0" bIns="0" rtlCol="0" anchor="t">
            <a:spAutoFit/>
          </a:bodyPr>
          <a:lstStyle/>
          <a:p>
            <a:pPr marL="0" lvl="0" indent="0" algn="just">
              <a:lnSpc>
                <a:spcPts val="2564"/>
              </a:lnSpc>
              <a:spcBef>
                <a:spcPct val="0"/>
              </a:spcBef>
            </a:pPr>
            <a:r>
              <a:rPr lang="es-CL" sz="1400" u="none" strike="noStrike" noProof="0" dirty="0">
                <a:latin typeface="Montserrat"/>
                <a:ea typeface="Montserrat"/>
                <a:cs typeface="Montserrat"/>
                <a:sym typeface="Montserrat"/>
              </a:rPr>
              <a:t>Cloud Run Jobs, Cloud Storage, Cloud SQL (PostgreSQL 16) y Secret Manager, todo en us-central1 (Iowa).</a:t>
            </a:r>
          </a:p>
        </p:txBody>
      </p:sp>
      <p:sp>
        <p:nvSpPr>
          <p:cNvPr id="34" name="TextBox 10">
            <a:extLst>
              <a:ext uri="{FF2B5EF4-FFF2-40B4-BE49-F238E27FC236}">
                <a16:creationId xmlns:a16="http://schemas.microsoft.com/office/drawing/2014/main" id="{50B79B10-C639-CD49-E641-85F7E52F4BA2}"/>
              </a:ext>
            </a:extLst>
          </p:cNvPr>
          <p:cNvSpPr txBox="1"/>
          <p:nvPr/>
        </p:nvSpPr>
        <p:spPr>
          <a:xfrm>
            <a:off x="1385878" y="3252990"/>
            <a:ext cx="7155904" cy="646844"/>
          </a:xfrm>
          <a:prstGeom prst="rect">
            <a:avLst/>
          </a:prstGeom>
        </p:spPr>
        <p:txBody>
          <a:bodyPr lIns="0" tIns="0" rIns="0" bIns="0" rtlCol="0" anchor="t">
            <a:spAutoFit/>
          </a:bodyPr>
          <a:lstStyle/>
          <a:p>
            <a:pPr marL="0" lvl="0" indent="0" algn="just">
              <a:lnSpc>
                <a:spcPts val="2564"/>
              </a:lnSpc>
              <a:spcBef>
                <a:spcPct val="0"/>
              </a:spcBef>
            </a:pPr>
            <a:r>
              <a:rPr lang="es-CL" sz="1400" noProof="0" dirty="0">
                <a:latin typeface="Montserrat"/>
                <a:ea typeface="Montserrat"/>
                <a:cs typeface="Montserrat"/>
                <a:sym typeface="Montserrat"/>
              </a:rPr>
              <a:t>Roboflow YOLOv8 (cancha, jugadores y balón) → BoT-SORT con compensación de cámara → YOLO11-pose → homografía a metros.</a:t>
            </a:r>
          </a:p>
        </p:txBody>
      </p:sp>
      <p:sp>
        <p:nvSpPr>
          <p:cNvPr id="36" name="TextBox 11">
            <a:extLst>
              <a:ext uri="{FF2B5EF4-FFF2-40B4-BE49-F238E27FC236}">
                <a16:creationId xmlns:a16="http://schemas.microsoft.com/office/drawing/2014/main" id="{EE225637-2FD6-71AC-99E6-D87F6AECB193}"/>
              </a:ext>
            </a:extLst>
          </p:cNvPr>
          <p:cNvSpPr txBox="1"/>
          <p:nvPr/>
        </p:nvSpPr>
        <p:spPr>
          <a:xfrm>
            <a:off x="1356242" y="4228761"/>
            <a:ext cx="7155904" cy="650050"/>
          </a:xfrm>
          <a:prstGeom prst="rect">
            <a:avLst/>
          </a:prstGeom>
        </p:spPr>
        <p:txBody>
          <a:bodyPr lIns="0" tIns="0" rIns="0" bIns="0" rtlCol="0" anchor="t">
            <a:spAutoFit/>
          </a:bodyPr>
          <a:lstStyle/>
          <a:p>
            <a:pPr marL="0" lvl="0" indent="0" algn="just">
              <a:lnSpc>
                <a:spcPts val="2564"/>
              </a:lnSpc>
              <a:spcBef>
                <a:spcPct val="0"/>
              </a:spcBef>
            </a:pPr>
            <a:r>
              <a:rPr lang="es-CL" sz="1400" noProof="0" dirty="0">
                <a:latin typeface="Montserrat"/>
                <a:ea typeface="Montserrat"/>
                <a:cs typeface="Montserrat"/>
                <a:sym typeface="Montserrat"/>
              </a:rPr>
              <a:t>Muestreo a 8 FPS. En Iowa la base de datos cuesta 29 % menos y el almacenamiento 33 % menos que en Santiago.</a:t>
            </a:r>
          </a:p>
        </p:txBody>
      </p:sp>
      <p:sp>
        <p:nvSpPr>
          <p:cNvPr id="38" name="TextBox 12">
            <a:extLst>
              <a:ext uri="{FF2B5EF4-FFF2-40B4-BE49-F238E27FC236}">
                <a16:creationId xmlns:a16="http://schemas.microsoft.com/office/drawing/2014/main" id="{1E3EAF38-251B-0664-97F9-F041034DCA91}"/>
              </a:ext>
            </a:extLst>
          </p:cNvPr>
          <p:cNvSpPr txBox="1"/>
          <p:nvPr/>
        </p:nvSpPr>
        <p:spPr>
          <a:xfrm>
            <a:off x="1356242" y="5207738"/>
            <a:ext cx="7155904" cy="640560"/>
          </a:xfrm>
          <a:prstGeom prst="rect">
            <a:avLst/>
          </a:prstGeom>
        </p:spPr>
        <p:txBody>
          <a:bodyPr lIns="0" tIns="0" rIns="0" bIns="0" rtlCol="0" anchor="t">
            <a:spAutoFit/>
          </a:bodyPr>
          <a:lstStyle/>
          <a:p>
            <a:pPr marL="0" lvl="0" indent="0" algn="just">
              <a:lnSpc>
                <a:spcPts val="2564"/>
              </a:lnSpc>
              <a:spcBef>
                <a:spcPct val="0"/>
              </a:spcBef>
            </a:pPr>
            <a:r>
              <a:rPr lang="es-CL" sz="1400" noProof="0" dirty="0">
                <a:latin typeface="Montserrat"/>
                <a:ea typeface="Montserrat"/>
                <a:cs typeface="Montserrat"/>
                <a:sym typeface="Montserrat"/>
              </a:rPr>
              <a:t>Un Cloud Run Job por partido, sin servidores encendidos. Hoy 8 vCPU; GPU NVIDIA L4 apenas se apruebe la cuota.</a:t>
            </a:r>
          </a:p>
        </p:txBody>
      </p:sp>
      <p:pic>
        <p:nvPicPr>
          <p:cNvPr id="82" name="Imagen 81">
            <a:extLst>
              <a:ext uri="{FF2B5EF4-FFF2-40B4-BE49-F238E27FC236}">
                <a16:creationId xmlns:a16="http://schemas.microsoft.com/office/drawing/2014/main" id="{A6023B68-47EA-D713-9C4B-37CDE5E94A8B}"/>
              </a:ext>
            </a:extLst>
          </p:cNvPr>
          <p:cNvPicPr>
            <a:picLocks noChangeAspect="1"/>
          </p:cNvPicPr>
          <p:nvPr/>
        </p:nvPicPr>
        <p:blipFill>
          <a:blip r:embed="rId8"/>
          <a:stretch>
            <a:fillRect/>
          </a:stretch>
        </p:blipFill>
        <p:spPr>
          <a:xfrm>
            <a:off x="698114" y="1775082"/>
            <a:ext cx="533400" cy="285750"/>
          </a:xfrm>
          <a:prstGeom prst="rect">
            <a:avLst/>
          </a:prstGeom>
        </p:spPr>
      </p:pic>
      <p:pic>
        <p:nvPicPr>
          <p:cNvPr id="84" name="Imagen 83">
            <a:extLst>
              <a:ext uri="{FF2B5EF4-FFF2-40B4-BE49-F238E27FC236}">
                <a16:creationId xmlns:a16="http://schemas.microsoft.com/office/drawing/2014/main" id="{4C08FB36-1002-80C3-0735-FF850EBABEC2}"/>
              </a:ext>
            </a:extLst>
          </p:cNvPr>
          <p:cNvPicPr>
            <a:picLocks noChangeAspect="1"/>
          </p:cNvPicPr>
          <p:nvPr/>
        </p:nvPicPr>
        <p:blipFill>
          <a:blip r:embed="rId8"/>
          <a:stretch>
            <a:fillRect/>
          </a:stretch>
        </p:blipFill>
        <p:spPr>
          <a:xfrm>
            <a:off x="717700" y="2930824"/>
            <a:ext cx="533400" cy="285750"/>
          </a:xfrm>
          <a:prstGeom prst="rect">
            <a:avLst/>
          </a:prstGeom>
        </p:spPr>
      </p:pic>
      <p:pic>
        <p:nvPicPr>
          <p:cNvPr id="86" name="Imagen 85">
            <a:extLst>
              <a:ext uri="{FF2B5EF4-FFF2-40B4-BE49-F238E27FC236}">
                <a16:creationId xmlns:a16="http://schemas.microsoft.com/office/drawing/2014/main" id="{2E82EC42-F465-A2F5-6662-746AECB494B4}"/>
              </a:ext>
            </a:extLst>
          </p:cNvPr>
          <p:cNvPicPr>
            <a:picLocks noChangeAspect="1"/>
          </p:cNvPicPr>
          <p:nvPr/>
        </p:nvPicPr>
        <p:blipFill>
          <a:blip r:embed="rId8"/>
          <a:stretch>
            <a:fillRect/>
          </a:stretch>
        </p:blipFill>
        <p:spPr>
          <a:xfrm>
            <a:off x="717700" y="3976011"/>
            <a:ext cx="533400" cy="285750"/>
          </a:xfrm>
          <a:prstGeom prst="rect">
            <a:avLst/>
          </a:prstGeom>
        </p:spPr>
      </p:pic>
      <p:pic>
        <p:nvPicPr>
          <p:cNvPr id="88" name="Imagen 87">
            <a:extLst>
              <a:ext uri="{FF2B5EF4-FFF2-40B4-BE49-F238E27FC236}">
                <a16:creationId xmlns:a16="http://schemas.microsoft.com/office/drawing/2014/main" id="{5A2DBB41-1E7A-6051-5276-9932EC024366}"/>
              </a:ext>
            </a:extLst>
          </p:cNvPr>
          <p:cNvPicPr>
            <a:picLocks noChangeAspect="1"/>
          </p:cNvPicPr>
          <p:nvPr/>
        </p:nvPicPr>
        <p:blipFill>
          <a:blip r:embed="rId8"/>
          <a:stretch>
            <a:fillRect/>
          </a:stretch>
        </p:blipFill>
        <p:spPr>
          <a:xfrm>
            <a:off x="723514" y="4899255"/>
            <a:ext cx="533400" cy="285750"/>
          </a:xfrm>
          <a:prstGeom prst="rect">
            <a:avLst/>
          </a:prstGeom>
        </p:spPr>
      </p:pic>
      <p:sp>
        <p:nvSpPr>
          <p:cNvPr id="90" name="Freeform 4">
            <a:extLst>
              <a:ext uri="{FF2B5EF4-FFF2-40B4-BE49-F238E27FC236}">
                <a16:creationId xmlns:a16="http://schemas.microsoft.com/office/drawing/2014/main" id="{A04BEB52-F6ED-D858-CFD9-60CB83CDBA38}"/>
              </a:ext>
            </a:extLst>
          </p:cNvPr>
          <p:cNvSpPr/>
          <p:nvPr/>
        </p:nvSpPr>
        <p:spPr>
          <a:xfrm>
            <a:off x="-13145672" y="900268"/>
            <a:ext cx="978015" cy="1717861"/>
          </a:xfrm>
          <a:custGeom>
            <a:avLst/>
            <a:gdLst/>
            <a:ahLst/>
            <a:cxnLst/>
            <a:rect l="l" t="t" r="r" b="b"/>
            <a:pathLst>
              <a:path w="978015" h="1717861">
                <a:moveTo>
                  <a:pt x="0" y="0"/>
                </a:moveTo>
                <a:lnTo>
                  <a:pt x="978015" y="0"/>
                </a:lnTo>
                <a:lnTo>
                  <a:pt x="978015" y="1717862"/>
                </a:lnTo>
                <a:lnTo>
                  <a:pt x="0" y="1717862"/>
                </a:lnTo>
                <a:lnTo>
                  <a:pt x="0" y="0"/>
                </a:lnTo>
                <a:close/>
              </a:path>
            </a:pathLst>
          </a:custGeom>
          <a:blipFill>
            <a:blip r:embed="rId9">
              <a:extLst>
                <a:ext uri="{BEBA8EAE-BF5A-486C-A8C5-ECC9F3942E4B}">
                  <a14:imgProps xmlns:a14="http://schemas.microsoft.com/office/drawing/2010/main">
                    <a14:imgLayer r:embed="rId10">
                      <a14:imgEffect>
                        <a14:brightnessContrast bright="-40000" contrast="-40000"/>
                      </a14:imgEffect>
                    </a14:imgLayer>
                  </a14:imgProps>
                </a:ext>
              </a:extLst>
            </a:blip>
            <a:stretch>
              <a:fillRect/>
            </a:stretch>
          </a:blipFill>
        </p:spPr>
        <p:txBody>
          <a:bodyPr/>
          <a:lstStyle/>
          <a:p>
            <a:endParaRPr lang="es-CL" noProof="0" dirty="0">
              <a:solidFill>
                <a:schemeClr val="tx1">
                  <a:lumMod val="85000"/>
                  <a:lumOff val="15000"/>
                </a:schemeClr>
              </a:solidFill>
            </a:endParaRPr>
          </a:p>
        </p:txBody>
      </p:sp>
      <p:sp>
        <p:nvSpPr>
          <p:cNvPr id="92" name="Freeform 5">
            <a:extLst>
              <a:ext uri="{FF2B5EF4-FFF2-40B4-BE49-F238E27FC236}">
                <a16:creationId xmlns:a16="http://schemas.microsoft.com/office/drawing/2014/main" id="{3A1AA44E-ED40-A449-8F9F-F7EFDBA17AB6}"/>
              </a:ext>
            </a:extLst>
          </p:cNvPr>
          <p:cNvSpPr/>
          <p:nvPr/>
        </p:nvSpPr>
        <p:spPr>
          <a:xfrm>
            <a:off x="-6490522" y="1089780"/>
            <a:ext cx="1508651" cy="1253470"/>
          </a:xfrm>
          <a:custGeom>
            <a:avLst/>
            <a:gdLst/>
            <a:ahLst/>
            <a:cxnLst/>
            <a:rect l="l" t="t" r="r" b="b"/>
            <a:pathLst>
              <a:path w="1508651" h="1253470">
                <a:moveTo>
                  <a:pt x="0" y="0"/>
                </a:moveTo>
                <a:lnTo>
                  <a:pt x="1508651" y="0"/>
                </a:lnTo>
                <a:lnTo>
                  <a:pt x="1508651" y="1253470"/>
                </a:lnTo>
                <a:lnTo>
                  <a:pt x="0" y="1253470"/>
                </a:lnTo>
                <a:lnTo>
                  <a:pt x="0" y="0"/>
                </a:lnTo>
                <a:close/>
              </a:path>
            </a:pathLst>
          </a:custGeom>
          <a:blipFill>
            <a:blip r:embed="rId11">
              <a:extLst>
                <a:ext uri="{BEBA8EAE-BF5A-486C-A8C5-ECC9F3942E4B}">
                  <a14:imgProps xmlns:a14="http://schemas.microsoft.com/office/drawing/2010/main">
                    <a14:imgLayer r:embed="rId12">
                      <a14:imgEffect>
                        <a14:brightnessContrast bright="-40000" contrast="-40000"/>
                      </a14:imgEffect>
                    </a14:imgLayer>
                  </a14:imgProps>
                </a:ext>
              </a:extLst>
            </a:blip>
            <a:stretch>
              <a:fillRect/>
            </a:stretch>
          </a:blipFill>
        </p:spPr>
        <p:txBody>
          <a:bodyPr/>
          <a:lstStyle/>
          <a:p>
            <a:endParaRPr lang="es-CL" noProof="0" dirty="0">
              <a:solidFill>
                <a:schemeClr val="tx1">
                  <a:lumMod val="85000"/>
                  <a:lumOff val="15000"/>
                </a:schemeClr>
              </a:solidFill>
            </a:endParaRPr>
          </a:p>
        </p:txBody>
      </p:sp>
      <p:sp>
        <p:nvSpPr>
          <p:cNvPr id="94" name="Freeform 6">
            <a:extLst>
              <a:ext uri="{FF2B5EF4-FFF2-40B4-BE49-F238E27FC236}">
                <a16:creationId xmlns:a16="http://schemas.microsoft.com/office/drawing/2014/main" id="{A70BED4D-D3D3-223D-89A8-DE1CC0E3D324}"/>
              </a:ext>
            </a:extLst>
          </p:cNvPr>
          <p:cNvSpPr/>
          <p:nvPr/>
        </p:nvSpPr>
        <p:spPr>
          <a:xfrm>
            <a:off x="-13156586" y="4308082"/>
            <a:ext cx="1176463" cy="1141458"/>
          </a:xfrm>
          <a:custGeom>
            <a:avLst/>
            <a:gdLst/>
            <a:ahLst/>
            <a:cxnLst/>
            <a:rect l="l" t="t" r="r" b="b"/>
            <a:pathLst>
              <a:path w="1176463" h="1141458">
                <a:moveTo>
                  <a:pt x="0" y="0"/>
                </a:moveTo>
                <a:lnTo>
                  <a:pt x="1176463" y="0"/>
                </a:lnTo>
                <a:lnTo>
                  <a:pt x="1176463" y="1141459"/>
                </a:lnTo>
                <a:lnTo>
                  <a:pt x="0" y="1141459"/>
                </a:lnTo>
                <a:lnTo>
                  <a:pt x="0" y="0"/>
                </a:lnTo>
                <a:close/>
              </a:path>
            </a:pathLst>
          </a:custGeom>
          <a:blipFill>
            <a:blip r:embed="rId13">
              <a:extLst>
                <a:ext uri="{BEBA8EAE-BF5A-486C-A8C5-ECC9F3942E4B}">
                  <a14:imgProps xmlns:a14="http://schemas.microsoft.com/office/drawing/2010/main">
                    <a14:imgLayer r:embed="rId14">
                      <a14:imgEffect>
                        <a14:brightnessContrast bright="-40000" contrast="-40000"/>
                      </a14:imgEffect>
                    </a14:imgLayer>
                  </a14:imgProps>
                </a:ext>
              </a:extLst>
            </a:blip>
            <a:stretch>
              <a:fillRect/>
            </a:stretch>
          </a:blipFill>
        </p:spPr>
        <p:txBody>
          <a:bodyPr/>
          <a:lstStyle/>
          <a:p>
            <a:endParaRPr lang="es-CL" noProof="0" dirty="0">
              <a:solidFill>
                <a:schemeClr val="tx1">
                  <a:lumMod val="85000"/>
                  <a:lumOff val="15000"/>
                </a:schemeClr>
              </a:solidFill>
            </a:endParaRPr>
          </a:p>
        </p:txBody>
      </p:sp>
      <p:sp>
        <p:nvSpPr>
          <p:cNvPr id="96" name="Freeform 10">
            <a:extLst>
              <a:ext uri="{FF2B5EF4-FFF2-40B4-BE49-F238E27FC236}">
                <a16:creationId xmlns:a16="http://schemas.microsoft.com/office/drawing/2014/main" id="{546A925F-B6BC-6DDA-93D9-96F5C7D7E624}"/>
              </a:ext>
            </a:extLst>
          </p:cNvPr>
          <p:cNvSpPr/>
          <p:nvPr/>
        </p:nvSpPr>
        <p:spPr>
          <a:xfrm>
            <a:off x="-6360659" y="4513819"/>
            <a:ext cx="772509" cy="774781"/>
          </a:xfrm>
          <a:custGeom>
            <a:avLst/>
            <a:gdLst/>
            <a:ahLst/>
            <a:cxnLst/>
            <a:rect l="l" t="t" r="r" b="b"/>
            <a:pathLst>
              <a:path w="772509" h="774781">
                <a:moveTo>
                  <a:pt x="0" y="0"/>
                </a:moveTo>
                <a:lnTo>
                  <a:pt x="772510" y="0"/>
                </a:lnTo>
                <a:lnTo>
                  <a:pt x="772510" y="774781"/>
                </a:lnTo>
                <a:lnTo>
                  <a:pt x="0" y="774781"/>
                </a:lnTo>
                <a:lnTo>
                  <a:pt x="0" y="0"/>
                </a:lnTo>
                <a:close/>
              </a:path>
            </a:pathLst>
          </a:custGeom>
          <a:blipFill>
            <a:blip r:embed="rId15">
              <a:extLst>
                <a:ext uri="{BEBA8EAE-BF5A-486C-A8C5-ECC9F3942E4B}">
                  <a14:imgProps xmlns:a14="http://schemas.microsoft.com/office/drawing/2010/main">
                    <a14:imgLayer r:embed="rId16">
                      <a14:imgEffect>
                        <a14:brightnessContrast contrast="-40000"/>
                      </a14:imgEffect>
                    </a14:imgLayer>
                  </a14:imgProps>
                </a:ext>
              </a:extLst>
            </a:blip>
            <a:stretch>
              <a:fillRect/>
            </a:stretch>
          </a:blipFill>
        </p:spPr>
        <p:txBody>
          <a:bodyPr/>
          <a:lstStyle/>
          <a:p>
            <a:endParaRPr lang="es-CL" noProof="0" dirty="0">
              <a:solidFill>
                <a:schemeClr val="tx1">
                  <a:lumMod val="85000"/>
                  <a:lumOff val="15000"/>
                </a:schemeClr>
              </a:solidFill>
            </a:endParaRPr>
          </a:p>
        </p:txBody>
      </p:sp>
      <p:sp>
        <p:nvSpPr>
          <p:cNvPr id="98" name="TextBox 13">
            <a:extLst>
              <a:ext uri="{FF2B5EF4-FFF2-40B4-BE49-F238E27FC236}">
                <a16:creationId xmlns:a16="http://schemas.microsoft.com/office/drawing/2014/main" id="{9E3FA5A2-EE0B-FC5C-01B3-E2A532C8D393}"/>
              </a:ext>
            </a:extLst>
          </p:cNvPr>
          <p:cNvSpPr txBox="1"/>
          <p:nvPr/>
        </p:nvSpPr>
        <p:spPr>
          <a:xfrm>
            <a:off x="-4924615" y="1111877"/>
            <a:ext cx="3634188" cy="1024452"/>
          </a:xfrm>
          <a:prstGeom prst="rect">
            <a:avLst/>
          </a:prstGeom>
        </p:spPr>
        <p:txBody>
          <a:bodyPr lIns="0" tIns="0" rIns="0" bIns="0" rtlCol="0" anchor="t">
            <a:spAutoFit/>
          </a:bodyPr>
          <a:lstStyle/>
          <a:p>
            <a:pPr marL="0" lvl="0" indent="0" algn="l">
              <a:lnSpc>
                <a:spcPts val="2040"/>
              </a:lnSpc>
            </a:pPr>
            <a:r>
              <a:rPr lang="es-CL" sz="1672" noProof="0" dirty="0">
                <a:solidFill>
                  <a:schemeClr val="tx1">
                    <a:lumMod val="85000"/>
                    <a:lumOff val="15000"/>
                  </a:schemeClr>
                </a:solidFill>
                <a:latin typeface="Montserrat"/>
                <a:ea typeface="Montserrat"/>
                <a:cs typeface="Montserrat"/>
                <a:sym typeface="Montserrat"/>
              </a:rPr>
              <a:t>Veo Technologies: cámara propietaria costosa con métricas básicas descriptivas. Barrera de hardware para clubes sub-élite.</a:t>
            </a:r>
          </a:p>
        </p:txBody>
      </p:sp>
      <p:sp>
        <p:nvSpPr>
          <p:cNvPr id="100" name="TextBox 14">
            <a:extLst>
              <a:ext uri="{FF2B5EF4-FFF2-40B4-BE49-F238E27FC236}">
                <a16:creationId xmlns:a16="http://schemas.microsoft.com/office/drawing/2014/main" id="{F3134FD8-CE4B-6FB4-AFD1-453DCDEA8FB2}"/>
              </a:ext>
            </a:extLst>
          </p:cNvPr>
          <p:cNvSpPr txBox="1"/>
          <p:nvPr/>
        </p:nvSpPr>
        <p:spPr>
          <a:xfrm>
            <a:off x="-5135902" y="4330442"/>
            <a:ext cx="3634188" cy="1024452"/>
          </a:xfrm>
          <a:prstGeom prst="rect">
            <a:avLst/>
          </a:prstGeom>
        </p:spPr>
        <p:txBody>
          <a:bodyPr lIns="0" tIns="0" rIns="0" bIns="0" rtlCol="0" anchor="t">
            <a:spAutoFit/>
          </a:bodyPr>
          <a:lstStyle/>
          <a:p>
            <a:pPr marL="0" lvl="0" indent="0" algn="l">
              <a:lnSpc>
                <a:spcPts val="2040"/>
              </a:lnSpc>
              <a:spcBef>
                <a:spcPct val="0"/>
              </a:spcBef>
            </a:pPr>
            <a:r>
              <a:rPr lang="es-CL" sz="1672" noProof="0" dirty="0">
                <a:solidFill>
                  <a:schemeClr val="tx1">
                    <a:lumMod val="85000"/>
                    <a:lumOff val="15000"/>
                  </a:schemeClr>
                </a:solidFill>
                <a:latin typeface="Montserrat"/>
                <a:ea typeface="Montserrat"/>
                <a:cs typeface="Montserrat"/>
                <a:sym typeface="Montserrat"/>
              </a:rPr>
              <a:t>Ventaja Única: módulos Fantasma Táctico y Huella de Fatiga. Accesible para academias y clubes de segunda división.</a:t>
            </a:r>
          </a:p>
        </p:txBody>
      </p:sp>
      <p:sp>
        <p:nvSpPr>
          <p:cNvPr id="102" name="TextBox 15">
            <a:extLst>
              <a:ext uri="{FF2B5EF4-FFF2-40B4-BE49-F238E27FC236}">
                <a16:creationId xmlns:a16="http://schemas.microsoft.com/office/drawing/2014/main" id="{DA604CEC-D2E5-7C9B-E806-EE3737999D48}"/>
              </a:ext>
            </a:extLst>
          </p:cNvPr>
          <p:cNvSpPr txBox="1"/>
          <p:nvPr/>
        </p:nvSpPr>
        <p:spPr>
          <a:xfrm>
            <a:off x="-11709142" y="4400089"/>
            <a:ext cx="3705784" cy="1024452"/>
          </a:xfrm>
          <a:prstGeom prst="rect">
            <a:avLst/>
          </a:prstGeom>
        </p:spPr>
        <p:txBody>
          <a:bodyPr lIns="0" tIns="0" rIns="0" bIns="0" rtlCol="0" anchor="t">
            <a:spAutoFit/>
          </a:bodyPr>
          <a:lstStyle/>
          <a:p>
            <a:pPr marL="0" lvl="0" indent="0" algn="l">
              <a:lnSpc>
                <a:spcPts val="2040"/>
              </a:lnSpc>
            </a:pPr>
            <a:r>
              <a:rPr lang="es-CL" sz="1672" noProof="0" dirty="0">
                <a:solidFill>
                  <a:schemeClr val="tx1">
                    <a:lumMod val="85000"/>
                    <a:lumOff val="15000"/>
                  </a:schemeClr>
                </a:solidFill>
                <a:latin typeface="Montserrat"/>
                <a:ea typeface="Montserrat"/>
                <a:cs typeface="Montserrat"/>
                <a:sym typeface="Montserrat"/>
              </a:rPr>
              <a:t>FUT.AI: análisis táctico cualitativo y prevención lesional en partidos reales. Hardware agnóstico con video MP4 estándar.</a:t>
            </a:r>
          </a:p>
        </p:txBody>
      </p:sp>
      <p:sp>
        <p:nvSpPr>
          <p:cNvPr id="104" name="TextBox 16">
            <a:extLst>
              <a:ext uri="{FF2B5EF4-FFF2-40B4-BE49-F238E27FC236}">
                <a16:creationId xmlns:a16="http://schemas.microsoft.com/office/drawing/2014/main" id="{EF771EBF-FF1A-918B-E404-454F55419D89}"/>
              </a:ext>
            </a:extLst>
          </p:cNvPr>
          <p:cNvSpPr txBox="1"/>
          <p:nvPr/>
        </p:nvSpPr>
        <p:spPr>
          <a:xfrm>
            <a:off x="-11763151" y="1111877"/>
            <a:ext cx="3839134" cy="1024452"/>
          </a:xfrm>
          <a:prstGeom prst="rect">
            <a:avLst/>
          </a:prstGeom>
        </p:spPr>
        <p:txBody>
          <a:bodyPr lIns="0" tIns="0" rIns="0" bIns="0" rtlCol="0" anchor="t">
            <a:spAutoFit/>
          </a:bodyPr>
          <a:lstStyle/>
          <a:p>
            <a:pPr marL="0" lvl="0" indent="0" algn="l">
              <a:lnSpc>
                <a:spcPts val="2040"/>
              </a:lnSpc>
              <a:spcBef>
                <a:spcPct val="0"/>
              </a:spcBef>
            </a:pPr>
            <a:r>
              <a:rPr lang="es-CL" sz="1672" noProof="0" dirty="0" err="1">
                <a:solidFill>
                  <a:schemeClr val="tx1">
                    <a:lumMod val="85000"/>
                    <a:lumOff val="15000"/>
                  </a:schemeClr>
                </a:solidFill>
                <a:latin typeface="Montserrat"/>
                <a:ea typeface="Montserrat"/>
                <a:cs typeface="Montserrat"/>
                <a:sym typeface="Montserrat"/>
              </a:rPr>
              <a:t>aiScout</a:t>
            </a:r>
            <a:r>
              <a:rPr lang="es-CL" sz="1672" noProof="0" dirty="0">
                <a:solidFill>
                  <a:schemeClr val="tx1">
                    <a:lumMod val="85000"/>
                    <a:lumOff val="15000"/>
                  </a:schemeClr>
                </a:solidFill>
                <a:latin typeface="Montserrat"/>
                <a:ea typeface="Montserrat"/>
                <a:cs typeface="Montserrat"/>
                <a:sym typeface="Montserrat"/>
              </a:rPr>
              <a:t>: </a:t>
            </a:r>
            <a:r>
              <a:rPr lang="es-CL" sz="1672" noProof="0" dirty="0" err="1">
                <a:solidFill>
                  <a:schemeClr val="tx1">
                    <a:lumMod val="85000"/>
                    <a:lumOff val="15000"/>
                  </a:schemeClr>
                </a:solidFill>
                <a:latin typeface="Montserrat"/>
                <a:ea typeface="Montserrat"/>
                <a:cs typeface="Montserrat"/>
                <a:sym typeface="Montserrat"/>
              </a:rPr>
              <a:t>scouting</a:t>
            </a:r>
            <a:r>
              <a:rPr lang="es-CL" sz="1672" noProof="0" dirty="0">
                <a:solidFill>
                  <a:schemeClr val="tx1">
                    <a:lumMod val="85000"/>
                    <a:lumOff val="15000"/>
                  </a:schemeClr>
                </a:solidFill>
                <a:latin typeface="Montserrat"/>
                <a:ea typeface="Montserrat"/>
                <a:cs typeface="Montserrat"/>
                <a:sym typeface="Montserrat"/>
              </a:rPr>
              <a:t> individual en pruebas aisladas vía smartphone. Sin análisis táctico colectivo ni datos de partido real.</a:t>
            </a:r>
          </a:p>
        </p:txBody>
      </p:sp>
    </p:spTree>
    <p:extLst>
      <p:ext uri="{BB962C8B-B14F-4D97-AF65-F5344CB8AC3E}">
        <p14:creationId xmlns:p14="http://schemas.microsoft.com/office/powerpoint/2010/main" val="2673156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A6D5-0736-8D74-9DE5-EB3FAE615B3B}"/>
            </a:ext>
          </a:extLst>
        </p:cNvPr>
        <p:cNvGrpSpPr/>
        <p:nvPr/>
      </p:nvGrpSpPr>
      <p:grpSpPr>
        <a:xfrm>
          <a:off x="0" y="0"/>
          <a:ext cx="0" cy="0"/>
          <a:chOff x="0" y="0"/>
          <a:chExt cx="0" cy="0"/>
        </a:xfrm>
      </p:grpSpPr>
      <p:sp>
        <p:nvSpPr>
          <p:cNvPr id="11" name="TextBox 19">
            <a:extLst>
              <a:ext uri="{FF2B5EF4-FFF2-40B4-BE49-F238E27FC236}">
                <a16:creationId xmlns:a16="http://schemas.microsoft.com/office/drawing/2014/main" id="{B39B1410-E2DF-6135-9E75-7A91365BEDD5}"/>
              </a:ext>
            </a:extLst>
          </p:cNvPr>
          <p:cNvSpPr txBox="1"/>
          <p:nvPr/>
        </p:nvSpPr>
        <p:spPr>
          <a:xfrm>
            <a:off x="20129149" y="1408140"/>
            <a:ext cx="8569419" cy="1128032"/>
          </a:xfrm>
          <a:prstGeom prst="rect">
            <a:avLst/>
          </a:prstGeom>
        </p:spPr>
        <p:txBody>
          <a:bodyPr lIns="50800" tIns="50800" rIns="50800" bIns="50800" rtlCol="0" anchor="ctr"/>
          <a:lstStyle/>
          <a:p>
            <a:pPr marL="0" lvl="0" indent="0" algn="ctr">
              <a:lnSpc>
                <a:spcPts val="2659"/>
              </a:lnSpc>
            </a:pPr>
            <a:endParaRPr lang="es-CL" noProof="0" dirty="0"/>
          </a:p>
        </p:txBody>
      </p:sp>
      <p:pic>
        <p:nvPicPr>
          <p:cNvPr id="3" name="Imagen 2">
            <a:extLst>
              <a:ext uri="{FF2B5EF4-FFF2-40B4-BE49-F238E27FC236}">
                <a16:creationId xmlns:a16="http://schemas.microsoft.com/office/drawing/2014/main" id="{CC0A2863-E1E8-274A-083E-5A673345910A}"/>
              </a:ext>
            </a:extLst>
          </p:cNvPr>
          <p:cNvPicPr>
            <a:picLocks noChangeAspect="1"/>
          </p:cNvPicPr>
          <p:nvPr/>
        </p:nvPicPr>
        <p:blipFill>
          <a:blip r:embed="rId3"/>
          <a:srcRect/>
          <a:stretch>
            <a:fillRect/>
          </a:stretch>
        </p:blipFill>
        <p:spPr>
          <a:xfrm rot="2371640" flipV="1">
            <a:off x="-4461616" y="-17809328"/>
            <a:ext cx="14273822" cy="11655629"/>
          </a:xfrm>
          <a:prstGeom prst="rect">
            <a:avLst/>
          </a:prstGeom>
        </p:spPr>
      </p:pic>
      <p:sp>
        <p:nvSpPr>
          <p:cNvPr id="9" name="AutoShape 6">
            <a:extLst>
              <a:ext uri="{FF2B5EF4-FFF2-40B4-BE49-F238E27FC236}">
                <a16:creationId xmlns:a16="http://schemas.microsoft.com/office/drawing/2014/main" id="{26616DF4-89EA-3F47-8E63-2AF53767FB03}"/>
              </a:ext>
            </a:extLst>
          </p:cNvPr>
          <p:cNvSpPr/>
          <p:nvPr/>
        </p:nvSpPr>
        <p:spPr>
          <a:xfrm>
            <a:off x="6238949" y="-9937226"/>
            <a:ext cx="0" cy="5264032"/>
          </a:xfrm>
          <a:prstGeom prst="line">
            <a:avLst/>
          </a:prstGeom>
          <a:ln w="19050" cap="rnd">
            <a:solidFill>
              <a:srgbClr val="FFFFFF"/>
            </a:solidFill>
            <a:prstDash val="solid"/>
            <a:headEnd type="none" w="sm" len="sm"/>
            <a:tailEnd type="none" w="sm" len="sm"/>
          </a:ln>
        </p:spPr>
        <p:txBody>
          <a:bodyPr/>
          <a:lstStyle/>
          <a:p>
            <a:endParaRPr lang="es-CL" sz="1200" noProof="0" dirty="0"/>
          </a:p>
        </p:txBody>
      </p:sp>
      <p:grpSp>
        <p:nvGrpSpPr>
          <p:cNvPr id="40" name="Group 16">
            <a:extLst>
              <a:ext uri="{FF2B5EF4-FFF2-40B4-BE49-F238E27FC236}">
                <a16:creationId xmlns:a16="http://schemas.microsoft.com/office/drawing/2014/main" id="{92141AFE-612F-F35E-E6CD-B60AB2447422}"/>
              </a:ext>
            </a:extLst>
          </p:cNvPr>
          <p:cNvGrpSpPr/>
          <p:nvPr/>
        </p:nvGrpSpPr>
        <p:grpSpPr>
          <a:xfrm>
            <a:off x="6545916" y="-10285726"/>
            <a:ext cx="5660648" cy="1781197"/>
            <a:chOff x="0" y="-9525"/>
            <a:chExt cx="10406234" cy="1568138"/>
          </a:xfrm>
        </p:grpSpPr>
        <p:sp>
          <p:nvSpPr>
            <p:cNvPr id="41" name="TextBox 17">
              <a:extLst>
                <a:ext uri="{FF2B5EF4-FFF2-40B4-BE49-F238E27FC236}">
                  <a16:creationId xmlns:a16="http://schemas.microsoft.com/office/drawing/2014/main" id="{767EF242-EDA0-6AFE-FAB6-CBD126BA2485}"/>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OCLUSIÓN SEVERA</a:t>
              </a:r>
            </a:p>
          </p:txBody>
        </p:sp>
        <p:sp>
          <p:nvSpPr>
            <p:cNvPr id="42" name="TextBox 18">
              <a:extLst>
                <a:ext uri="{FF2B5EF4-FFF2-40B4-BE49-F238E27FC236}">
                  <a16:creationId xmlns:a16="http://schemas.microsoft.com/office/drawing/2014/main" id="{8EF43FA0-9029-DF5C-CAA4-43F150779928}"/>
                </a:ext>
              </a:extLst>
            </p:cNvPr>
            <p:cNvSpPr txBox="1"/>
            <p:nvPr/>
          </p:nvSpPr>
          <p:spPr>
            <a:xfrm>
              <a:off x="0" y="713083"/>
              <a:ext cx="9541205"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Tracking inercial + validación por color y textura de camiseta para mantener identidad del jugador en situaciones de contacto.</a:t>
              </a:r>
            </a:p>
          </p:txBody>
        </p:sp>
      </p:grpSp>
      <p:grpSp>
        <p:nvGrpSpPr>
          <p:cNvPr id="43" name="Group 19">
            <a:extLst>
              <a:ext uri="{FF2B5EF4-FFF2-40B4-BE49-F238E27FC236}">
                <a16:creationId xmlns:a16="http://schemas.microsoft.com/office/drawing/2014/main" id="{4C58EDDB-131A-E3B8-6AB8-AFEA2E0DD569}"/>
              </a:ext>
            </a:extLst>
          </p:cNvPr>
          <p:cNvGrpSpPr/>
          <p:nvPr/>
        </p:nvGrpSpPr>
        <p:grpSpPr>
          <a:xfrm>
            <a:off x="6545916" y="-8178219"/>
            <a:ext cx="5827759" cy="1720836"/>
            <a:chOff x="0" y="-9525"/>
            <a:chExt cx="10406234" cy="1568138"/>
          </a:xfrm>
        </p:grpSpPr>
        <p:sp>
          <p:nvSpPr>
            <p:cNvPr id="44" name="TextBox 20">
              <a:extLst>
                <a:ext uri="{FF2B5EF4-FFF2-40B4-BE49-F238E27FC236}">
                  <a16:creationId xmlns:a16="http://schemas.microsoft.com/office/drawing/2014/main" id="{365B1867-3CBF-1DBA-2D90-5AB256128B0B}"/>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COSTOS GPU</a:t>
              </a:r>
            </a:p>
          </p:txBody>
        </p:sp>
        <p:sp>
          <p:nvSpPr>
            <p:cNvPr id="45" name="TextBox 21">
              <a:extLst>
                <a:ext uri="{FF2B5EF4-FFF2-40B4-BE49-F238E27FC236}">
                  <a16:creationId xmlns:a16="http://schemas.microsoft.com/office/drawing/2014/main" id="{91CFCE93-2568-0F09-45B8-60CA0A0B736E}"/>
                </a:ext>
              </a:extLst>
            </p:cNvPr>
            <p:cNvSpPr txBox="1"/>
            <p:nvPr/>
          </p:nvSpPr>
          <p:spPr>
            <a:xfrm>
              <a:off x="0" y="713083"/>
              <a:ext cx="9541205"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Smart </a:t>
              </a:r>
              <a:r>
                <a:rPr lang="es-CL" sz="1600" noProof="0" dirty="0" err="1">
                  <a:solidFill>
                    <a:schemeClr val="tx1">
                      <a:lumMod val="85000"/>
                      <a:lumOff val="15000"/>
                    </a:schemeClr>
                  </a:solidFill>
                  <a:latin typeface="Montserrat"/>
                  <a:ea typeface="Montserrat"/>
                  <a:cs typeface="Montserrat"/>
                  <a:sym typeface="Montserrat"/>
                </a:rPr>
                <a:t>Sampling</a:t>
              </a:r>
              <a:r>
                <a:rPr lang="es-CL" sz="1600" noProof="0" dirty="0">
                  <a:solidFill>
                    <a:schemeClr val="tx1">
                      <a:lumMod val="85000"/>
                      <a:lumOff val="15000"/>
                    </a:schemeClr>
                  </a:solidFill>
                  <a:latin typeface="Montserrat"/>
                  <a:ea typeface="Montserrat"/>
                  <a:cs typeface="Montserrat"/>
                  <a:sym typeface="Montserrat"/>
                </a:rPr>
                <a:t> (5-10 FPS) y pausado automático en balón muerto reducen hasta un 60% el costo computacional por partido.</a:t>
              </a:r>
            </a:p>
          </p:txBody>
        </p:sp>
      </p:grpSp>
      <p:grpSp>
        <p:nvGrpSpPr>
          <p:cNvPr id="46" name="Group 22">
            <a:extLst>
              <a:ext uri="{FF2B5EF4-FFF2-40B4-BE49-F238E27FC236}">
                <a16:creationId xmlns:a16="http://schemas.microsoft.com/office/drawing/2014/main" id="{12F75B00-DAFA-7267-7764-68666C38C6B7}"/>
              </a:ext>
            </a:extLst>
          </p:cNvPr>
          <p:cNvGrpSpPr/>
          <p:nvPr/>
        </p:nvGrpSpPr>
        <p:grpSpPr>
          <a:xfrm>
            <a:off x="6545916" y="-6080628"/>
            <a:ext cx="5946529" cy="1832635"/>
            <a:chOff x="0" y="-9525"/>
            <a:chExt cx="10406234" cy="1519395"/>
          </a:xfrm>
        </p:grpSpPr>
        <p:sp>
          <p:nvSpPr>
            <p:cNvPr id="47" name="TextBox 23">
              <a:extLst>
                <a:ext uri="{FF2B5EF4-FFF2-40B4-BE49-F238E27FC236}">
                  <a16:creationId xmlns:a16="http://schemas.microsoft.com/office/drawing/2014/main" id="{0A01D07A-3270-D190-3F58-F69B730BBF48}"/>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CALIDAD DE VIDEO</a:t>
              </a:r>
            </a:p>
          </p:txBody>
        </p:sp>
        <p:sp>
          <p:nvSpPr>
            <p:cNvPr id="48" name="TextBox 24">
              <a:extLst>
                <a:ext uri="{FF2B5EF4-FFF2-40B4-BE49-F238E27FC236}">
                  <a16:creationId xmlns:a16="http://schemas.microsoft.com/office/drawing/2014/main" id="{840AB037-6D0B-DDDB-E3F7-C7010DF93703}"/>
                </a:ext>
              </a:extLst>
            </p:cNvPr>
            <p:cNvSpPr txBox="1"/>
            <p:nvPr/>
          </p:nvSpPr>
          <p:spPr>
            <a:xfrm>
              <a:off x="0" y="664340"/>
              <a:ext cx="9541206"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Manual de Grabación obligatorio en términos de servicio y validación continua con pruebas piloto para ajuste de modelos.</a:t>
              </a:r>
            </a:p>
          </p:txBody>
        </p:sp>
      </p:grpSp>
      <p:sp>
        <p:nvSpPr>
          <p:cNvPr id="56" name="Freeform 8">
            <a:extLst>
              <a:ext uri="{FF2B5EF4-FFF2-40B4-BE49-F238E27FC236}">
                <a16:creationId xmlns:a16="http://schemas.microsoft.com/office/drawing/2014/main" id="{8B9E744B-C725-08BF-AA1C-E53B9D503865}"/>
              </a:ext>
            </a:extLst>
          </p:cNvPr>
          <p:cNvSpPr/>
          <p:nvPr/>
        </p:nvSpPr>
        <p:spPr>
          <a:xfrm>
            <a:off x="6024135" y="-8206554"/>
            <a:ext cx="575759" cy="513570"/>
          </a:xfrm>
          <a:custGeom>
            <a:avLst/>
            <a:gdLst/>
            <a:ahLst/>
            <a:cxnLst/>
            <a:rect l="l" t="t" r="r" b="b"/>
            <a:pathLst>
              <a:path w="812800" h="844598">
                <a:moveTo>
                  <a:pt x="406400" y="0"/>
                </a:moveTo>
                <a:cubicBezTo>
                  <a:pt x="181951" y="0"/>
                  <a:pt x="0" y="189070"/>
                  <a:pt x="0" y="422299"/>
                </a:cubicBezTo>
                <a:cubicBezTo>
                  <a:pt x="0" y="655528"/>
                  <a:pt x="181951" y="844598"/>
                  <a:pt x="406400" y="844598"/>
                </a:cubicBezTo>
                <a:cubicBezTo>
                  <a:pt x="630849" y="844598"/>
                  <a:pt x="812800" y="655528"/>
                  <a:pt x="812800" y="422299"/>
                </a:cubicBezTo>
                <a:cubicBezTo>
                  <a:pt x="812800" y="189070"/>
                  <a:pt x="630849" y="0"/>
                  <a:pt x="406400" y="0"/>
                </a:cubicBezTo>
                <a:close/>
              </a:path>
            </a:pathLst>
          </a:custGeom>
          <a:noFill/>
        </p:spPr>
        <p:txBody>
          <a:bodyPr/>
          <a:lstStyle/>
          <a:p>
            <a:endParaRPr lang="es-CL" sz="1200" noProof="0" dirty="0">
              <a:solidFill>
                <a:schemeClr val="tx1">
                  <a:lumMod val="85000"/>
                  <a:lumOff val="15000"/>
                </a:schemeClr>
              </a:solidFill>
            </a:endParaRPr>
          </a:p>
        </p:txBody>
      </p:sp>
      <p:sp>
        <p:nvSpPr>
          <p:cNvPr id="66" name="Freeform 8">
            <a:extLst>
              <a:ext uri="{FF2B5EF4-FFF2-40B4-BE49-F238E27FC236}">
                <a16:creationId xmlns:a16="http://schemas.microsoft.com/office/drawing/2014/main" id="{BB415E7D-6C45-F43E-0467-6C722F04D750}"/>
              </a:ext>
            </a:extLst>
          </p:cNvPr>
          <p:cNvSpPr/>
          <p:nvPr/>
        </p:nvSpPr>
        <p:spPr>
          <a:xfrm>
            <a:off x="6024135" y="-6101604"/>
            <a:ext cx="575759" cy="513570"/>
          </a:xfrm>
          <a:custGeom>
            <a:avLst/>
            <a:gdLst/>
            <a:ahLst/>
            <a:cxnLst/>
            <a:rect l="l" t="t" r="r" b="b"/>
            <a:pathLst>
              <a:path w="812800" h="844598">
                <a:moveTo>
                  <a:pt x="406400" y="0"/>
                </a:moveTo>
                <a:cubicBezTo>
                  <a:pt x="181951" y="0"/>
                  <a:pt x="0" y="189070"/>
                  <a:pt x="0" y="422299"/>
                </a:cubicBezTo>
                <a:cubicBezTo>
                  <a:pt x="0" y="655528"/>
                  <a:pt x="181951" y="844598"/>
                  <a:pt x="406400" y="844598"/>
                </a:cubicBezTo>
                <a:cubicBezTo>
                  <a:pt x="630849" y="844598"/>
                  <a:pt x="812800" y="655528"/>
                  <a:pt x="812800" y="422299"/>
                </a:cubicBezTo>
                <a:cubicBezTo>
                  <a:pt x="812800" y="189070"/>
                  <a:pt x="630849" y="0"/>
                  <a:pt x="406400" y="0"/>
                </a:cubicBezTo>
                <a:close/>
              </a:path>
            </a:pathLst>
          </a:custGeom>
          <a:noFill/>
        </p:spPr>
        <p:txBody>
          <a:bodyPr/>
          <a:lstStyle/>
          <a:p>
            <a:endParaRPr lang="es-CL" sz="1200" noProof="0" dirty="0">
              <a:solidFill>
                <a:schemeClr val="tx1">
                  <a:lumMod val="85000"/>
                  <a:lumOff val="15000"/>
                </a:schemeClr>
              </a:solidFill>
            </a:endParaRPr>
          </a:p>
        </p:txBody>
      </p:sp>
      <p:pic>
        <p:nvPicPr>
          <p:cNvPr id="4" name="Imagen 3">
            <a:extLst>
              <a:ext uri="{FF2B5EF4-FFF2-40B4-BE49-F238E27FC236}">
                <a16:creationId xmlns:a16="http://schemas.microsoft.com/office/drawing/2014/main" id="{878714AA-F38A-E690-97B9-560117E81CD3}"/>
              </a:ext>
            </a:extLst>
          </p:cNvPr>
          <p:cNvPicPr>
            <a:picLocks noChangeAspect="1"/>
          </p:cNvPicPr>
          <p:nvPr/>
        </p:nvPicPr>
        <p:blipFill>
          <a:blip r:embed="rId4"/>
          <a:stretch>
            <a:fillRect/>
          </a:stretch>
        </p:blipFill>
        <p:spPr>
          <a:xfrm>
            <a:off x="5972249" y="-10190054"/>
            <a:ext cx="533400" cy="285750"/>
          </a:xfrm>
          <a:prstGeom prst="rect">
            <a:avLst/>
          </a:prstGeom>
        </p:spPr>
      </p:pic>
      <p:pic>
        <p:nvPicPr>
          <p:cNvPr id="10" name="Imagen 9">
            <a:extLst>
              <a:ext uri="{FF2B5EF4-FFF2-40B4-BE49-F238E27FC236}">
                <a16:creationId xmlns:a16="http://schemas.microsoft.com/office/drawing/2014/main" id="{10C5BC80-8125-55F1-C22B-7453A1195421}"/>
              </a:ext>
            </a:extLst>
          </p:cNvPr>
          <p:cNvPicPr>
            <a:picLocks noChangeAspect="1"/>
          </p:cNvPicPr>
          <p:nvPr/>
        </p:nvPicPr>
        <p:blipFill>
          <a:blip r:embed="rId4"/>
          <a:stretch>
            <a:fillRect/>
          </a:stretch>
        </p:blipFill>
        <p:spPr>
          <a:xfrm>
            <a:off x="5972249" y="-8088796"/>
            <a:ext cx="533400" cy="285750"/>
          </a:xfrm>
          <a:prstGeom prst="rect">
            <a:avLst/>
          </a:prstGeom>
        </p:spPr>
      </p:pic>
      <p:pic>
        <p:nvPicPr>
          <p:cNvPr id="15" name="Imagen 14">
            <a:extLst>
              <a:ext uri="{FF2B5EF4-FFF2-40B4-BE49-F238E27FC236}">
                <a16:creationId xmlns:a16="http://schemas.microsoft.com/office/drawing/2014/main" id="{35E29C20-28FB-D871-58BA-3D1F1D7ABF2F}"/>
              </a:ext>
            </a:extLst>
          </p:cNvPr>
          <p:cNvPicPr>
            <a:picLocks noChangeAspect="1"/>
          </p:cNvPicPr>
          <p:nvPr/>
        </p:nvPicPr>
        <p:blipFill>
          <a:blip r:embed="rId4"/>
          <a:stretch>
            <a:fillRect/>
          </a:stretch>
        </p:blipFill>
        <p:spPr>
          <a:xfrm>
            <a:off x="5972249" y="-5956595"/>
            <a:ext cx="533400" cy="285750"/>
          </a:xfrm>
          <a:prstGeom prst="rect">
            <a:avLst/>
          </a:prstGeom>
        </p:spPr>
      </p:pic>
      <p:sp>
        <p:nvSpPr>
          <p:cNvPr id="90" name="Rectángulo 89">
            <a:extLst>
              <a:ext uri="{FF2B5EF4-FFF2-40B4-BE49-F238E27FC236}">
                <a16:creationId xmlns:a16="http://schemas.microsoft.com/office/drawing/2014/main" id="{0C1FFBB4-685F-525E-28B9-D79A4FCDF76F}"/>
              </a:ext>
            </a:extLst>
          </p:cNvPr>
          <p:cNvSpPr/>
          <p:nvPr/>
        </p:nvSpPr>
        <p:spPr>
          <a:xfrm>
            <a:off x="7874001" y="0"/>
            <a:ext cx="4318000" cy="68580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187C7926-5C6F-37E0-758F-E78305084E10}"/>
              </a:ext>
            </a:extLst>
          </p:cNvPr>
          <p:cNvSpPr txBox="1"/>
          <p:nvPr/>
        </p:nvSpPr>
        <p:spPr>
          <a:xfrm>
            <a:off x="7962901" y="69691"/>
            <a:ext cx="6720114" cy="2092881"/>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Pipeline de</a:t>
            </a:r>
          </a:p>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Análisis</a:t>
            </a:r>
          </a:p>
        </p:txBody>
      </p:sp>
      <p:sp>
        <p:nvSpPr>
          <p:cNvPr id="92" name="CuadroTexto 91">
            <a:extLst>
              <a:ext uri="{FF2B5EF4-FFF2-40B4-BE49-F238E27FC236}">
                <a16:creationId xmlns:a16="http://schemas.microsoft.com/office/drawing/2014/main" id="{3086A0A1-E036-81EC-71FB-404F11FAA95F}"/>
              </a:ext>
            </a:extLst>
          </p:cNvPr>
          <p:cNvSpPr txBox="1"/>
          <p:nvPr/>
        </p:nvSpPr>
        <p:spPr>
          <a:xfrm>
            <a:off x="8775134" y="5722898"/>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bg1">
                    <a:lumMod val="85000"/>
                  </a:schemeClr>
                </a:solidFill>
                <a:latin typeface="Montserrat Bold"/>
                <a:ea typeface="Montserrat Bold"/>
                <a:cs typeface="Montserrat Bold"/>
                <a:sym typeface="Montserrat Bold"/>
              </a:rPr>
              <a:t>Fut.Ai</a:t>
            </a:r>
          </a:p>
        </p:txBody>
      </p:sp>
      <p:pic>
        <p:nvPicPr>
          <p:cNvPr id="94" name="Imagen 93">
            <a:extLst>
              <a:ext uri="{FF2B5EF4-FFF2-40B4-BE49-F238E27FC236}">
                <a16:creationId xmlns:a16="http://schemas.microsoft.com/office/drawing/2014/main" id="{69D36F9D-7B40-8766-76C3-F718F6308642}"/>
              </a:ext>
            </a:extLst>
          </p:cNvPr>
          <p:cNvPicPr>
            <a:picLocks noChangeAspect="1"/>
          </p:cNvPicPr>
          <p:nvPr/>
        </p:nvPicPr>
        <p:blipFill>
          <a:blip r:embed="rId5"/>
          <a:srcRect/>
          <a:stretch>
            <a:fillRect/>
          </a:stretch>
        </p:blipFill>
        <p:spPr>
          <a:xfrm>
            <a:off x="10586247" y="5924772"/>
            <a:ext cx="996664" cy="863537"/>
          </a:xfrm>
          <a:prstGeom prst="rect">
            <a:avLst/>
          </a:prstGeom>
        </p:spPr>
      </p:pic>
      <p:grpSp>
        <p:nvGrpSpPr>
          <p:cNvPr id="120" name="Grupo 119">
            <a:extLst>
              <a:ext uri="{FF2B5EF4-FFF2-40B4-BE49-F238E27FC236}">
                <a16:creationId xmlns:a16="http://schemas.microsoft.com/office/drawing/2014/main" id="{46866A00-EC88-9B0D-429D-A61325BDA1BD}"/>
              </a:ext>
            </a:extLst>
          </p:cNvPr>
          <p:cNvGrpSpPr/>
          <p:nvPr/>
        </p:nvGrpSpPr>
        <p:grpSpPr>
          <a:xfrm>
            <a:off x="23220" y="69691"/>
            <a:ext cx="7692781" cy="6496307"/>
            <a:chOff x="23220" y="69691"/>
            <a:chExt cx="7692781" cy="6496307"/>
          </a:xfrm>
        </p:grpSpPr>
        <p:grpSp>
          <p:nvGrpSpPr>
            <p:cNvPr id="111" name="Grupo 110">
              <a:extLst>
                <a:ext uri="{FF2B5EF4-FFF2-40B4-BE49-F238E27FC236}">
                  <a16:creationId xmlns:a16="http://schemas.microsoft.com/office/drawing/2014/main" id="{D9CE17D2-9E28-1D08-90EA-2577BFBCDF98}"/>
                </a:ext>
              </a:extLst>
            </p:cNvPr>
            <p:cNvGrpSpPr/>
            <p:nvPr/>
          </p:nvGrpSpPr>
          <p:grpSpPr>
            <a:xfrm>
              <a:off x="609088" y="69691"/>
              <a:ext cx="7106913" cy="6496307"/>
              <a:chOff x="560098" y="1019696"/>
              <a:chExt cx="7182719" cy="4810068"/>
            </a:xfrm>
          </p:grpSpPr>
          <p:sp>
            <p:nvSpPr>
              <p:cNvPr id="96" name="TextBox 5">
                <a:extLst>
                  <a:ext uri="{FF2B5EF4-FFF2-40B4-BE49-F238E27FC236}">
                    <a16:creationId xmlns:a16="http://schemas.microsoft.com/office/drawing/2014/main" id="{A1EA0B25-F155-2509-2484-F3A06618F0FC}"/>
                  </a:ext>
                </a:extLst>
              </p:cNvPr>
              <p:cNvSpPr txBox="1"/>
              <p:nvPr/>
            </p:nvSpPr>
            <p:spPr>
              <a:xfrm>
                <a:off x="586913" y="1019696"/>
                <a:ext cx="7132320" cy="317523"/>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panose="00000800000000000000" pitchFamily="2" charset="0"/>
                    <a:ea typeface="Montserrat Bold"/>
                    <a:cs typeface="Montserrat Bold"/>
                    <a:sym typeface="Montserrat Bold"/>
                  </a:rPr>
                  <a:t>1 · CALIBRA LA CANCHA</a:t>
                </a:r>
              </a:p>
            </p:txBody>
          </p:sp>
          <p:sp>
            <p:nvSpPr>
              <p:cNvPr id="98" name="TextBox 6">
                <a:extLst>
                  <a:ext uri="{FF2B5EF4-FFF2-40B4-BE49-F238E27FC236}">
                    <a16:creationId xmlns:a16="http://schemas.microsoft.com/office/drawing/2014/main" id="{DD99087E-D35C-4325-AF66-884BFB3C98C4}"/>
                  </a:ext>
                </a:extLst>
              </p:cNvPr>
              <p:cNvSpPr txBox="1"/>
              <p:nvPr/>
            </p:nvSpPr>
            <p:spPr>
              <a:xfrm>
                <a:off x="586913" y="2294376"/>
                <a:ext cx="7132320" cy="317523"/>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panose="00000800000000000000" pitchFamily="2" charset="0"/>
                    <a:ea typeface="Montserrat Bold"/>
                    <a:cs typeface="Montserrat Bold"/>
                    <a:sym typeface="Montserrat Bold"/>
                  </a:rPr>
                  <a:t>2 · DETECTA, SIGUE Y ESTIMA LA POSE</a:t>
                </a:r>
              </a:p>
            </p:txBody>
          </p:sp>
          <p:sp>
            <p:nvSpPr>
              <p:cNvPr id="100" name="TextBox 7">
                <a:extLst>
                  <a:ext uri="{FF2B5EF4-FFF2-40B4-BE49-F238E27FC236}">
                    <a16:creationId xmlns:a16="http://schemas.microsoft.com/office/drawing/2014/main" id="{BD8C5114-E7BF-4BEB-1CC1-59FF59719755}"/>
                  </a:ext>
                </a:extLst>
              </p:cNvPr>
              <p:cNvSpPr txBox="1"/>
              <p:nvPr/>
            </p:nvSpPr>
            <p:spPr>
              <a:xfrm>
                <a:off x="586913" y="3612881"/>
                <a:ext cx="7132320" cy="317523"/>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panose="00000800000000000000" pitchFamily="2" charset="0"/>
                    <a:ea typeface="Montserrat Bold"/>
                    <a:cs typeface="Montserrat Bold"/>
                    <a:sym typeface="Montserrat Bold"/>
                  </a:rPr>
                  <a:t>3 · BALÓN, EQUIPOS E IDENTIDADES</a:t>
                </a:r>
              </a:p>
            </p:txBody>
          </p:sp>
          <p:sp>
            <p:nvSpPr>
              <p:cNvPr id="102" name="TextBox 8">
                <a:extLst>
                  <a:ext uri="{FF2B5EF4-FFF2-40B4-BE49-F238E27FC236}">
                    <a16:creationId xmlns:a16="http://schemas.microsoft.com/office/drawing/2014/main" id="{748D86EB-B24E-0F66-D1AA-C4A5D3660DF5}"/>
                  </a:ext>
                </a:extLst>
              </p:cNvPr>
              <p:cNvSpPr txBox="1"/>
              <p:nvPr/>
            </p:nvSpPr>
            <p:spPr>
              <a:xfrm>
                <a:off x="586913" y="4931386"/>
                <a:ext cx="7132320" cy="317523"/>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panose="00000800000000000000" pitchFamily="2" charset="0"/>
                    <a:ea typeface="Montserrat Bold"/>
                    <a:cs typeface="Montserrat Bold"/>
                    <a:sym typeface="Montserrat Bold"/>
                  </a:rPr>
                  <a:t>4 · CALCULA Y GUARDA</a:t>
                </a:r>
              </a:p>
            </p:txBody>
          </p:sp>
          <p:sp>
            <p:nvSpPr>
              <p:cNvPr id="104" name="TextBox 9">
                <a:extLst>
                  <a:ext uri="{FF2B5EF4-FFF2-40B4-BE49-F238E27FC236}">
                    <a16:creationId xmlns:a16="http://schemas.microsoft.com/office/drawing/2014/main" id="{98FB722D-008E-2541-775C-FB476A6BB78A}"/>
                  </a:ext>
                </a:extLst>
              </p:cNvPr>
              <p:cNvSpPr txBox="1"/>
              <p:nvPr/>
            </p:nvSpPr>
            <p:spPr>
              <a:xfrm>
                <a:off x="586913" y="1564028"/>
                <a:ext cx="7155904" cy="469543"/>
              </a:xfrm>
              <a:prstGeom prst="rect">
                <a:avLst/>
              </a:prstGeom>
            </p:spPr>
            <p:txBody>
              <a:bodyPr lIns="0" tIns="0" rIns="0" bIns="0" rtlCol="0" anchor="t">
                <a:spAutoFit/>
              </a:bodyPr>
              <a:lstStyle/>
              <a:p>
                <a:pPr marL="0" lvl="0" indent="0" algn="just">
                  <a:lnSpc>
                    <a:spcPts val="2564"/>
                  </a:lnSpc>
                  <a:spcBef>
                    <a:spcPct val="0"/>
                  </a:spcBef>
                </a:pPr>
                <a:r>
                  <a:rPr lang="es-CL" sz="1600" u="none" strike="noStrike" noProof="0" dirty="0" err="1">
                    <a:latin typeface="Montserrat" panose="00000500000000000000" pitchFamily="2" charset="0"/>
                    <a:ea typeface="Montserrat"/>
                    <a:cs typeface="Montserrat"/>
                    <a:sym typeface="Montserrat"/>
                  </a:rPr>
                  <a:t>Detecta 32 puntos de la cancha y convierte píxeles en metros, aunque la cámara se mueva.</a:t>
                </a:r>
              </a:p>
            </p:txBody>
          </p:sp>
          <p:sp>
            <p:nvSpPr>
              <p:cNvPr id="106" name="TextBox 10">
                <a:extLst>
                  <a:ext uri="{FF2B5EF4-FFF2-40B4-BE49-F238E27FC236}">
                    <a16:creationId xmlns:a16="http://schemas.microsoft.com/office/drawing/2014/main" id="{D1A2728E-C24B-0DE9-A783-CFD54E293D4E}"/>
                  </a:ext>
                </a:extLst>
              </p:cNvPr>
              <p:cNvSpPr txBox="1"/>
              <p:nvPr/>
            </p:nvSpPr>
            <p:spPr>
              <a:xfrm>
                <a:off x="586913" y="2770183"/>
                <a:ext cx="7155904" cy="469543"/>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panose="00000500000000000000" pitchFamily="2" charset="0"/>
                    <a:ea typeface="Montserrat"/>
                    <a:cs typeface="Montserrat"/>
                    <a:sym typeface="Montserrat"/>
                  </a:rPr>
                  <a:t>BoT-SORT compensa el movimiento de cámara; la pose se estima sobre un recorte ampliado de cada jugador.</a:t>
                </a:r>
              </a:p>
            </p:txBody>
          </p:sp>
          <p:sp>
            <p:nvSpPr>
              <p:cNvPr id="108" name="TextBox 11">
                <a:extLst>
                  <a:ext uri="{FF2B5EF4-FFF2-40B4-BE49-F238E27FC236}">
                    <a16:creationId xmlns:a16="http://schemas.microsoft.com/office/drawing/2014/main" id="{EBE27F75-FFFF-B86D-DE68-6D3ADF02D4E4}"/>
                  </a:ext>
                </a:extLst>
              </p:cNvPr>
              <p:cNvSpPr txBox="1"/>
              <p:nvPr/>
            </p:nvSpPr>
            <p:spPr>
              <a:xfrm>
                <a:off x="586913" y="4091441"/>
                <a:ext cx="7155904" cy="469543"/>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panose="00000500000000000000" pitchFamily="2" charset="0"/>
                    <a:ea typeface="Montserrat"/>
                    <a:cs typeface="Montserrat"/>
                    <a:sym typeface="Montserrat"/>
                  </a:rPr>
                  <a:t>Detector especializado de balón, equipos por color de camiseta y una miniatura por jugador.</a:t>
                </a:r>
              </a:p>
            </p:txBody>
          </p:sp>
          <p:sp>
            <p:nvSpPr>
              <p:cNvPr id="110" name="TextBox 12">
                <a:extLst>
                  <a:ext uri="{FF2B5EF4-FFF2-40B4-BE49-F238E27FC236}">
                    <a16:creationId xmlns:a16="http://schemas.microsoft.com/office/drawing/2014/main" id="{BE3D3AC8-87A0-4845-76DF-40F5E0CA6978}"/>
                  </a:ext>
                </a:extLst>
              </p:cNvPr>
              <p:cNvSpPr txBox="1"/>
              <p:nvPr/>
            </p:nvSpPr>
            <p:spPr>
              <a:xfrm>
                <a:off x="560098" y="5360221"/>
                <a:ext cx="7155904" cy="469543"/>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panose="00000500000000000000" pitchFamily="2" charset="0"/>
                    <a:ea typeface="Montserrat"/>
                    <a:cs typeface="Montserrat"/>
                    <a:sym typeface="Montserrat"/>
                  </a:rPr>
                  <a:t>Las cinco métricas y los pases se escriben en Cloud SQL. Se analizan 8 cuadros por segundo.</a:t>
                </a:r>
              </a:p>
            </p:txBody>
          </p:sp>
        </p:grpSp>
        <p:pic>
          <p:nvPicPr>
            <p:cNvPr id="113" name="Imagen 112">
              <a:extLst>
                <a:ext uri="{FF2B5EF4-FFF2-40B4-BE49-F238E27FC236}">
                  <a16:creationId xmlns:a16="http://schemas.microsoft.com/office/drawing/2014/main" id="{EC9A673F-3689-ADB2-87B9-866BFC0CA5C9}"/>
                </a:ext>
              </a:extLst>
            </p:cNvPr>
            <p:cNvPicPr>
              <a:picLocks noChangeAspect="1"/>
            </p:cNvPicPr>
            <p:nvPr/>
          </p:nvPicPr>
          <p:blipFill>
            <a:blip r:embed="rId4"/>
            <a:stretch>
              <a:fillRect/>
            </a:stretch>
          </p:blipFill>
          <p:spPr>
            <a:xfrm>
              <a:off x="23220" y="171034"/>
              <a:ext cx="533400" cy="285750"/>
            </a:xfrm>
            <a:prstGeom prst="rect">
              <a:avLst/>
            </a:prstGeom>
          </p:spPr>
        </p:pic>
        <p:pic>
          <p:nvPicPr>
            <p:cNvPr id="115" name="Imagen 114">
              <a:extLst>
                <a:ext uri="{FF2B5EF4-FFF2-40B4-BE49-F238E27FC236}">
                  <a16:creationId xmlns:a16="http://schemas.microsoft.com/office/drawing/2014/main" id="{E972E7F3-79F3-C0C7-68AF-2AC87D9A1713}"/>
                </a:ext>
              </a:extLst>
            </p:cNvPr>
            <p:cNvPicPr>
              <a:picLocks noChangeAspect="1"/>
            </p:cNvPicPr>
            <p:nvPr/>
          </p:nvPicPr>
          <p:blipFill>
            <a:blip r:embed="rId4"/>
            <a:stretch>
              <a:fillRect/>
            </a:stretch>
          </p:blipFill>
          <p:spPr>
            <a:xfrm>
              <a:off x="75688" y="1937938"/>
              <a:ext cx="533400" cy="285750"/>
            </a:xfrm>
            <a:prstGeom prst="rect">
              <a:avLst/>
            </a:prstGeom>
          </p:spPr>
        </p:pic>
        <p:pic>
          <p:nvPicPr>
            <p:cNvPr id="117" name="Imagen 116">
              <a:extLst>
                <a:ext uri="{FF2B5EF4-FFF2-40B4-BE49-F238E27FC236}">
                  <a16:creationId xmlns:a16="http://schemas.microsoft.com/office/drawing/2014/main" id="{07EAF613-E7F2-5F57-CB05-44D9FC239A47}"/>
                </a:ext>
              </a:extLst>
            </p:cNvPr>
            <p:cNvPicPr>
              <a:picLocks noChangeAspect="1"/>
            </p:cNvPicPr>
            <p:nvPr/>
          </p:nvPicPr>
          <p:blipFill>
            <a:blip r:embed="rId4"/>
            <a:stretch>
              <a:fillRect/>
            </a:stretch>
          </p:blipFill>
          <p:spPr>
            <a:xfrm>
              <a:off x="75688" y="3662688"/>
              <a:ext cx="533400" cy="285750"/>
            </a:xfrm>
            <a:prstGeom prst="rect">
              <a:avLst/>
            </a:prstGeom>
          </p:spPr>
        </p:pic>
        <p:pic>
          <p:nvPicPr>
            <p:cNvPr id="119" name="Imagen 118">
              <a:extLst>
                <a:ext uri="{FF2B5EF4-FFF2-40B4-BE49-F238E27FC236}">
                  <a16:creationId xmlns:a16="http://schemas.microsoft.com/office/drawing/2014/main" id="{D583672B-9E14-9CF8-6B06-8A74B000906F}"/>
                </a:ext>
              </a:extLst>
            </p:cNvPr>
            <p:cNvPicPr>
              <a:picLocks noChangeAspect="1"/>
            </p:cNvPicPr>
            <p:nvPr/>
          </p:nvPicPr>
          <p:blipFill>
            <a:blip r:embed="rId4"/>
            <a:stretch>
              <a:fillRect/>
            </a:stretch>
          </p:blipFill>
          <p:spPr>
            <a:xfrm>
              <a:off x="75688" y="5499390"/>
              <a:ext cx="533400" cy="285750"/>
            </a:xfrm>
            <a:prstGeom prst="rect">
              <a:avLst/>
            </a:prstGeom>
          </p:spPr>
        </p:pic>
      </p:grpSp>
      <mc:AlternateContent xmlns:mc="http://schemas.openxmlformats.org/markup-compatibility/2006">
        <mc:Choice xmlns:am3d="http://schemas.microsoft.com/office/drawing/2017/model3d" Requires="am3d">
          <p:graphicFrame>
            <p:nvGraphicFramePr>
              <p:cNvPr id="88" name="Modelo 3D 87">
                <a:extLst>
                  <a:ext uri="{FF2B5EF4-FFF2-40B4-BE49-F238E27FC236}">
                    <a16:creationId xmlns:a16="http://schemas.microsoft.com/office/drawing/2014/main" id="{F6E48E21-374D-F63F-BAD9-17C5EB09ECC5}"/>
                  </a:ext>
                </a:extLst>
              </p:cNvPr>
              <p:cNvGraphicFramePr>
                <a:graphicFrameLocks noChangeAspect="1"/>
              </p:cNvGraphicFramePr>
              <p:nvPr>
                <p:extLst>
                  <p:ext uri="{D42A27DB-BD31-4B8C-83A1-F6EECF244321}">
                    <p14:modId xmlns:p14="http://schemas.microsoft.com/office/powerpoint/2010/main" val="4082014553"/>
                  </p:ext>
                </p:extLst>
              </p:nvPr>
            </p:nvGraphicFramePr>
            <p:xfrm>
              <a:off x="8933130" y="3141436"/>
              <a:ext cx="2199739" cy="2218785"/>
            </p:xfrm>
            <a:graphic>
              <a:graphicData uri="http://schemas.microsoft.com/office/drawing/2017/model3d">
                <am3d:model3d r:embed="rId6">
                  <am3d:spPr>
                    <a:xfrm>
                      <a:off x="0" y="0"/>
                      <a:ext cx="2199739" cy="2218785"/>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8652101" ay="1837231" az="9589805"/>
                    <am3d:postTrans dx="0" dy="0" dz="0"/>
                  </am3d:trans>
                  <am3d:raster rName="Office3DRenderer" rVer="16.0.8326">
                    <am3d:blip r:embed="rId7"/>
                  </am3d:raster>
                  <am3d:objViewport viewportSz="58945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8" name="Modelo 3D 87">
                <a:extLst>
                  <a:ext uri="{FF2B5EF4-FFF2-40B4-BE49-F238E27FC236}">
                    <a16:creationId xmlns:a16="http://schemas.microsoft.com/office/drawing/2014/main" id="{F6E48E21-374D-F63F-BAD9-17C5EB09ECC5}"/>
                  </a:ext>
                </a:extLst>
              </p:cNvPr>
              <p:cNvPicPr>
                <a:picLocks noGrp="1" noRot="1" noChangeAspect="1" noMove="1" noResize="1" noEditPoints="1" noAdjustHandles="1" noChangeArrowheads="1" noChangeShapeType="1" noCrop="1"/>
              </p:cNvPicPr>
              <p:nvPr/>
            </p:nvPicPr>
            <p:blipFill>
              <a:blip r:embed="rId7"/>
              <a:stretch>
                <a:fillRect/>
              </a:stretch>
            </p:blipFill>
            <p:spPr>
              <a:xfrm>
                <a:off x="8933130" y="3141436"/>
                <a:ext cx="2199739" cy="2218785"/>
              </a:xfrm>
              <a:prstGeom prst="rect">
                <a:avLst/>
              </a:prstGeom>
            </p:spPr>
          </p:pic>
        </mc:Fallback>
      </mc:AlternateContent>
      <p:grpSp>
        <p:nvGrpSpPr>
          <p:cNvPr id="121" name="Grupo 120">
            <a:extLst>
              <a:ext uri="{FF2B5EF4-FFF2-40B4-BE49-F238E27FC236}">
                <a16:creationId xmlns:a16="http://schemas.microsoft.com/office/drawing/2014/main" id="{F7E4A06F-6FCC-9DFA-0EBF-EF96264101C0}"/>
              </a:ext>
            </a:extLst>
          </p:cNvPr>
          <p:cNvGrpSpPr/>
          <p:nvPr/>
        </p:nvGrpSpPr>
        <p:grpSpPr>
          <a:xfrm>
            <a:off x="12943982" y="-1356378"/>
            <a:ext cx="16712404" cy="8848725"/>
            <a:chOff x="-862805" y="-797468"/>
            <a:chExt cx="16920207" cy="8214201"/>
          </a:xfrm>
        </p:grpSpPr>
        <p:sp>
          <p:nvSpPr>
            <p:cNvPr id="122" name="Diagrama de flujo: conector 121">
              <a:extLst>
                <a:ext uri="{FF2B5EF4-FFF2-40B4-BE49-F238E27FC236}">
                  <a16:creationId xmlns:a16="http://schemas.microsoft.com/office/drawing/2014/main" id="{668E554D-BF9F-776A-6811-9B1B7F151130}"/>
                </a:ext>
              </a:extLst>
            </p:cNvPr>
            <p:cNvSpPr/>
            <p:nvPr/>
          </p:nvSpPr>
          <p:spPr>
            <a:xfrm>
              <a:off x="5533404" y="-797468"/>
              <a:ext cx="10523998" cy="8214201"/>
            </a:xfrm>
            <a:prstGeom prst="flowChartConnector">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23" name="Diagrama de flujo: conector 122">
              <a:extLst>
                <a:ext uri="{FF2B5EF4-FFF2-40B4-BE49-F238E27FC236}">
                  <a16:creationId xmlns:a16="http://schemas.microsoft.com/office/drawing/2014/main" id="{F5FF6F27-611F-70DB-D53F-20A8DE4E7C48}"/>
                </a:ext>
              </a:extLst>
            </p:cNvPr>
            <p:cNvSpPr/>
            <p:nvPr/>
          </p:nvSpPr>
          <p:spPr>
            <a:xfrm>
              <a:off x="2535069" y="-558734"/>
              <a:ext cx="9867263" cy="7975465"/>
            </a:xfrm>
            <a:prstGeom prst="flowChartConnector">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24" name="Diagrama de flujo: conector 123">
              <a:extLst>
                <a:ext uri="{FF2B5EF4-FFF2-40B4-BE49-F238E27FC236}">
                  <a16:creationId xmlns:a16="http://schemas.microsoft.com/office/drawing/2014/main" id="{29555E8E-0775-A102-EC35-6E61C0206365}"/>
                </a:ext>
              </a:extLst>
            </p:cNvPr>
            <p:cNvSpPr/>
            <p:nvPr/>
          </p:nvSpPr>
          <p:spPr>
            <a:xfrm>
              <a:off x="-862805" y="-558735"/>
              <a:ext cx="9706864" cy="7975465"/>
            </a:xfrm>
            <a:prstGeom prst="flowChartConnector">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solidFill>
                  <a:schemeClr val="accent6">
                    <a:lumMod val="75000"/>
                  </a:schemeClr>
                </a:solidFill>
              </a:endParaRPr>
            </a:p>
          </p:txBody>
        </p:sp>
      </p:grpSp>
      <p:sp>
        <p:nvSpPr>
          <p:cNvPr id="126" name="CuadroTexto 125">
            <a:extLst>
              <a:ext uri="{FF2B5EF4-FFF2-40B4-BE49-F238E27FC236}">
                <a16:creationId xmlns:a16="http://schemas.microsoft.com/office/drawing/2014/main" id="{1290277F-F4EA-7071-C84D-F2EFDC2D55F2}"/>
              </a:ext>
            </a:extLst>
          </p:cNvPr>
          <p:cNvSpPr txBox="1"/>
          <p:nvPr/>
        </p:nvSpPr>
        <p:spPr>
          <a:xfrm>
            <a:off x="-4157029" y="-145991"/>
            <a:ext cx="4313957" cy="3033203"/>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Modelo de Negocio SaaS</a:t>
            </a:r>
          </a:p>
        </p:txBody>
      </p:sp>
      <p:pic>
        <p:nvPicPr>
          <p:cNvPr id="127" name="Imagen 126">
            <a:extLst>
              <a:ext uri="{FF2B5EF4-FFF2-40B4-BE49-F238E27FC236}">
                <a16:creationId xmlns:a16="http://schemas.microsoft.com/office/drawing/2014/main" id="{D07F8F5B-72E2-C9CC-E311-C02D2DC81437}"/>
              </a:ext>
            </a:extLst>
          </p:cNvPr>
          <p:cNvPicPr preferRelativeResize="0">
            <a:picLocks noChangeAspect="1"/>
          </p:cNvPicPr>
          <p:nvPr/>
        </p:nvPicPr>
        <p:blipFill>
          <a:blip r:embed="rId8"/>
          <a:srcRect/>
          <a:stretch>
            <a:fillRect/>
          </a:stretch>
        </p:blipFill>
        <p:spPr>
          <a:xfrm rot="10962675">
            <a:off x="14622608" y="-1294228"/>
            <a:ext cx="6555916" cy="9913834"/>
          </a:xfrm>
          <a:prstGeom prst="rect">
            <a:avLst/>
          </a:prstGeom>
        </p:spPr>
      </p:pic>
      <p:sp>
        <p:nvSpPr>
          <p:cNvPr id="128" name="TextBox 19">
            <a:extLst>
              <a:ext uri="{FF2B5EF4-FFF2-40B4-BE49-F238E27FC236}">
                <a16:creationId xmlns:a16="http://schemas.microsoft.com/office/drawing/2014/main" id="{31A8FFDB-B584-5631-DC78-B7C30D89850C}"/>
              </a:ext>
            </a:extLst>
          </p:cNvPr>
          <p:cNvSpPr txBox="1"/>
          <p:nvPr/>
        </p:nvSpPr>
        <p:spPr>
          <a:xfrm>
            <a:off x="14474179" y="3003237"/>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sp>
        <p:nvSpPr>
          <p:cNvPr id="129" name="TextBox 19">
            <a:extLst>
              <a:ext uri="{FF2B5EF4-FFF2-40B4-BE49-F238E27FC236}">
                <a16:creationId xmlns:a16="http://schemas.microsoft.com/office/drawing/2014/main" id="{D5CE3069-07B2-879A-9851-42320C5869CB}"/>
              </a:ext>
            </a:extLst>
          </p:cNvPr>
          <p:cNvSpPr txBox="1"/>
          <p:nvPr/>
        </p:nvSpPr>
        <p:spPr>
          <a:xfrm>
            <a:off x="16704432" y="3003237"/>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grpSp>
        <p:nvGrpSpPr>
          <p:cNvPr id="130" name="Group 7">
            <a:extLst>
              <a:ext uri="{FF2B5EF4-FFF2-40B4-BE49-F238E27FC236}">
                <a16:creationId xmlns:a16="http://schemas.microsoft.com/office/drawing/2014/main" id="{82221325-A7AC-1D93-E02B-594FED0CCFB5}"/>
              </a:ext>
            </a:extLst>
          </p:cNvPr>
          <p:cNvGrpSpPr/>
          <p:nvPr/>
        </p:nvGrpSpPr>
        <p:grpSpPr>
          <a:xfrm>
            <a:off x="16464065" y="257905"/>
            <a:ext cx="2304978" cy="2304978"/>
            <a:chOff x="0" y="0"/>
            <a:chExt cx="812800" cy="812800"/>
          </a:xfrm>
        </p:grpSpPr>
        <p:sp>
          <p:nvSpPr>
            <p:cNvPr id="131" name="Freeform 8">
              <a:extLst>
                <a:ext uri="{FF2B5EF4-FFF2-40B4-BE49-F238E27FC236}">
                  <a16:creationId xmlns:a16="http://schemas.microsoft.com/office/drawing/2014/main" id="{1436B45D-442F-9893-46EA-94CD7E9A58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a:stretch>
            </a:blipFill>
          </p:spPr>
          <p:txBody>
            <a:bodyPr/>
            <a:lstStyle/>
            <a:p>
              <a:endParaRPr lang="es-CL" noProof="0" dirty="0"/>
            </a:p>
          </p:txBody>
        </p:sp>
      </p:grpSp>
      <p:sp>
        <p:nvSpPr>
          <p:cNvPr id="132" name="TextBox 15">
            <a:extLst>
              <a:ext uri="{FF2B5EF4-FFF2-40B4-BE49-F238E27FC236}">
                <a16:creationId xmlns:a16="http://schemas.microsoft.com/office/drawing/2014/main" id="{0430E71B-EA77-CEA5-0E9C-FDAA7050B457}"/>
              </a:ext>
            </a:extLst>
          </p:cNvPr>
          <p:cNvSpPr txBox="1"/>
          <p:nvPr/>
        </p:nvSpPr>
        <p:spPr>
          <a:xfrm>
            <a:off x="15429279" y="3627770"/>
            <a:ext cx="4374551" cy="1650003"/>
          </a:xfrm>
          <a:prstGeom prst="rect">
            <a:avLst/>
          </a:prstGeom>
        </p:spPr>
        <p:txBody>
          <a:bodyPr lIns="0" tIns="0" rIns="0" bIns="0" rtlCol="0" anchor="t">
            <a:spAutoFit/>
          </a:bodyPr>
          <a:lstStyle/>
          <a:p>
            <a:pPr marL="0" lvl="0" indent="0" algn="ctr">
              <a:lnSpc>
                <a:spcPts val="2550"/>
              </a:lnSpc>
              <a:spcBef>
                <a:spcPct val="0"/>
              </a:spcBef>
            </a:pPr>
            <a:r>
              <a:rPr lang="es-CL" sz="2090" noProof="0" dirty="0">
                <a:latin typeface="Montserrat"/>
                <a:ea typeface="Montserrat"/>
                <a:cs typeface="Montserrat"/>
                <a:sym typeface="Montserrat"/>
              </a:rPr>
              <a:t>Para academias y clubes formativos. Volumen bajo (~5 partidos/mes) con métricas MVP esenciales y acceso al </a:t>
            </a:r>
            <a:r>
              <a:rPr lang="es-CL" sz="2090" noProof="0" dirty="0" err="1">
                <a:latin typeface="Montserrat"/>
                <a:ea typeface="Montserrat"/>
                <a:cs typeface="Montserrat"/>
                <a:sym typeface="Montserrat"/>
              </a:rPr>
              <a:t>dashboard</a:t>
            </a:r>
            <a:r>
              <a:rPr lang="es-CL" sz="2090" noProof="0" dirty="0">
                <a:latin typeface="Montserrat"/>
                <a:ea typeface="Montserrat"/>
                <a:cs typeface="Montserrat"/>
                <a:sym typeface="Montserrat"/>
              </a:rPr>
              <a:t> básico.</a:t>
            </a:r>
          </a:p>
        </p:txBody>
      </p:sp>
      <p:sp>
        <p:nvSpPr>
          <p:cNvPr id="133" name="TextBox 17">
            <a:extLst>
              <a:ext uri="{FF2B5EF4-FFF2-40B4-BE49-F238E27FC236}">
                <a16:creationId xmlns:a16="http://schemas.microsoft.com/office/drawing/2014/main" id="{03BFEEE6-27A0-0265-C080-041B128239D0}"/>
              </a:ext>
            </a:extLst>
          </p:cNvPr>
          <p:cNvSpPr txBox="1"/>
          <p:nvPr/>
        </p:nvSpPr>
        <p:spPr>
          <a:xfrm>
            <a:off x="14474179" y="3090695"/>
            <a:ext cx="6284751" cy="393482"/>
          </a:xfrm>
          <a:prstGeom prst="rect">
            <a:avLst/>
          </a:prstGeom>
        </p:spPr>
        <p:txBody>
          <a:bodyPr lIns="0" tIns="0" rIns="0" bIns="0" rtlCol="0" anchor="t">
            <a:spAutoFit/>
          </a:bodyPr>
          <a:lstStyle/>
          <a:p>
            <a:pPr marL="0" lvl="0" indent="0" algn="ctr">
              <a:lnSpc>
                <a:spcPts val="3154"/>
              </a:lnSpc>
              <a:spcBef>
                <a:spcPct val="0"/>
              </a:spcBef>
            </a:pPr>
            <a:r>
              <a:rPr lang="es-CL" sz="2585" b="1" noProof="0" dirty="0">
                <a:latin typeface="Montserrat Bold"/>
                <a:ea typeface="Montserrat Bold"/>
                <a:cs typeface="Montserrat Bold"/>
                <a:sym typeface="Montserrat Bold"/>
              </a:rPr>
              <a:t>PLAN FORMATIVO</a:t>
            </a:r>
          </a:p>
        </p:txBody>
      </p:sp>
    </p:spTree>
    <p:extLst>
      <p:ext uri="{BB962C8B-B14F-4D97-AF65-F5344CB8AC3E}">
        <p14:creationId xmlns:p14="http://schemas.microsoft.com/office/powerpoint/2010/main" val="2959486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8DC2F-E4B3-2EC1-64FE-9C2DC5882636}"/>
            </a:ext>
          </a:extLst>
        </p:cNvPr>
        <p:cNvGrpSpPr/>
        <p:nvPr/>
      </p:nvGrpSpPr>
      <p:grpSpPr>
        <a:xfrm>
          <a:off x="0" y="0"/>
          <a:ext cx="0" cy="0"/>
          <a:chOff x="0" y="0"/>
          <a:chExt cx="0" cy="0"/>
        </a:xfrm>
      </p:grpSpPr>
      <p:pic>
        <p:nvPicPr>
          <p:cNvPr id="39" name="Imagen 38">
            <a:extLst>
              <a:ext uri="{FF2B5EF4-FFF2-40B4-BE49-F238E27FC236}">
                <a16:creationId xmlns:a16="http://schemas.microsoft.com/office/drawing/2014/main" id="{AB13DB87-F2A7-B4F5-F695-02042DF26CD6}"/>
              </a:ext>
            </a:extLst>
          </p:cNvPr>
          <p:cNvPicPr preferRelativeResize="0">
            <a:picLocks noChangeAspect="1"/>
          </p:cNvPicPr>
          <p:nvPr/>
        </p:nvPicPr>
        <p:blipFill>
          <a:blip r:embed="rId3"/>
          <a:srcRect/>
          <a:stretch>
            <a:fillRect/>
          </a:stretch>
        </p:blipFill>
        <p:spPr>
          <a:xfrm rot="10962675">
            <a:off x="4880369" y="8834101"/>
            <a:ext cx="8435385" cy="21605042"/>
          </a:xfrm>
          <a:prstGeom prst="rect">
            <a:avLst/>
          </a:prstGeom>
        </p:spPr>
      </p:pic>
      <p:sp>
        <p:nvSpPr>
          <p:cNvPr id="11" name="TextBox 19">
            <a:extLst>
              <a:ext uri="{FF2B5EF4-FFF2-40B4-BE49-F238E27FC236}">
                <a16:creationId xmlns:a16="http://schemas.microsoft.com/office/drawing/2014/main" id="{1F1F8AF1-EE1E-319C-19D0-1D2BFD08E258}"/>
              </a:ext>
            </a:extLst>
          </p:cNvPr>
          <p:cNvSpPr txBox="1"/>
          <p:nvPr/>
        </p:nvSpPr>
        <p:spPr>
          <a:xfrm>
            <a:off x="20129149" y="1408140"/>
            <a:ext cx="8569419" cy="1128032"/>
          </a:xfrm>
          <a:prstGeom prst="rect">
            <a:avLst/>
          </a:prstGeom>
        </p:spPr>
        <p:txBody>
          <a:bodyPr lIns="50800" tIns="50800" rIns="50800" bIns="50800" rtlCol="0" anchor="ctr"/>
          <a:lstStyle/>
          <a:p>
            <a:pPr marL="0" lvl="0" indent="0" algn="ctr">
              <a:lnSpc>
                <a:spcPts val="2659"/>
              </a:lnSpc>
            </a:pPr>
            <a:endParaRPr lang="es-CL" noProof="0" dirty="0"/>
          </a:p>
        </p:txBody>
      </p:sp>
      <p:sp>
        <p:nvSpPr>
          <p:cNvPr id="13" name="CuadroTexto 12">
            <a:extLst>
              <a:ext uri="{FF2B5EF4-FFF2-40B4-BE49-F238E27FC236}">
                <a16:creationId xmlns:a16="http://schemas.microsoft.com/office/drawing/2014/main" id="{12F15A06-60C2-A6C5-790F-22A37C2ACF0E}"/>
              </a:ext>
            </a:extLst>
          </p:cNvPr>
          <p:cNvSpPr txBox="1"/>
          <p:nvPr/>
        </p:nvSpPr>
        <p:spPr>
          <a:xfrm>
            <a:off x="7026476" y="14001753"/>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latin typeface="Montserrat Bold"/>
                <a:ea typeface="Montserrat Bold"/>
                <a:cs typeface="Montserrat Bold"/>
                <a:sym typeface="Montserrat Bold"/>
              </a:rPr>
              <a:t>Fut.Ai</a:t>
            </a:r>
          </a:p>
        </p:txBody>
      </p:sp>
      <p:pic>
        <p:nvPicPr>
          <p:cNvPr id="16" name="Imagen 15">
            <a:extLst>
              <a:ext uri="{FF2B5EF4-FFF2-40B4-BE49-F238E27FC236}">
                <a16:creationId xmlns:a16="http://schemas.microsoft.com/office/drawing/2014/main" id="{2A050F34-B5B0-6824-862B-501C6CE9EB84}"/>
              </a:ext>
            </a:extLst>
          </p:cNvPr>
          <p:cNvPicPr>
            <a:picLocks noChangeAspect="1"/>
          </p:cNvPicPr>
          <p:nvPr/>
        </p:nvPicPr>
        <p:blipFill>
          <a:blip r:embed="rId4"/>
          <a:srcRect/>
          <a:stretch>
            <a:fillRect/>
          </a:stretch>
        </p:blipFill>
        <p:spPr>
          <a:xfrm>
            <a:off x="8837589" y="14203627"/>
            <a:ext cx="996664" cy="863537"/>
          </a:xfrm>
          <a:prstGeom prst="rect">
            <a:avLst/>
          </a:prstGeom>
        </p:spPr>
      </p:pic>
      <p:sp>
        <p:nvSpPr>
          <p:cNvPr id="5" name="CuadroTexto 4">
            <a:extLst>
              <a:ext uri="{FF2B5EF4-FFF2-40B4-BE49-F238E27FC236}">
                <a16:creationId xmlns:a16="http://schemas.microsoft.com/office/drawing/2014/main" id="{08024337-8AA3-1B85-57D5-011551D8981A}"/>
              </a:ext>
            </a:extLst>
          </p:cNvPr>
          <p:cNvSpPr txBox="1"/>
          <p:nvPr/>
        </p:nvSpPr>
        <p:spPr>
          <a:xfrm>
            <a:off x="-925791" y="8206455"/>
            <a:ext cx="10641015" cy="1092607"/>
          </a:xfrm>
          <a:prstGeom prst="rect">
            <a:avLst/>
          </a:prstGeom>
          <a:noFill/>
        </p:spPr>
        <p:txBody>
          <a:bodyPr wrap="square">
            <a:spAutoFit/>
          </a:bodyPr>
          <a:lstStyle/>
          <a:p>
            <a:pPr lvl="0">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Competencias y Diferencias </a:t>
            </a:r>
          </a:p>
        </p:txBody>
      </p:sp>
      <p:sp>
        <p:nvSpPr>
          <p:cNvPr id="8" name="Freeform 4">
            <a:extLst>
              <a:ext uri="{FF2B5EF4-FFF2-40B4-BE49-F238E27FC236}">
                <a16:creationId xmlns:a16="http://schemas.microsoft.com/office/drawing/2014/main" id="{6698FEA5-0369-F28A-9D1C-4E1734EDA03B}"/>
              </a:ext>
            </a:extLst>
          </p:cNvPr>
          <p:cNvSpPr/>
          <p:nvPr/>
        </p:nvSpPr>
        <p:spPr>
          <a:xfrm>
            <a:off x="-1364528" y="9419190"/>
            <a:ext cx="978015" cy="1717861"/>
          </a:xfrm>
          <a:custGeom>
            <a:avLst/>
            <a:gdLst/>
            <a:ahLst/>
            <a:cxnLst/>
            <a:rect l="l" t="t" r="r" b="b"/>
            <a:pathLst>
              <a:path w="978015" h="1717861">
                <a:moveTo>
                  <a:pt x="0" y="0"/>
                </a:moveTo>
                <a:lnTo>
                  <a:pt x="978015" y="0"/>
                </a:lnTo>
                <a:lnTo>
                  <a:pt x="978015" y="1717862"/>
                </a:lnTo>
                <a:lnTo>
                  <a:pt x="0" y="1717862"/>
                </a:lnTo>
                <a:lnTo>
                  <a:pt x="0" y="0"/>
                </a:lnTo>
                <a:close/>
              </a:path>
            </a:pathLst>
          </a:custGeom>
          <a:blipFill>
            <a:blip r:embed="rId5">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a:blipFill>
        </p:spPr>
        <p:txBody>
          <a:bodyPr/>
          <a:lstStyle/>
          <a:p>
            <a:endParaRPr lang="es-CL" noProof="0" dirty="0">
              <a:solidFill>
                <a:schemeClr val="tx1">
                  <a:lumMod val="85000"/>
                  <a:lumOff val="15000"/>
                </a:schemeClr>
              </a:solidFill>
            </a:endParaRPr>
          </a:p>
        </p:txBody>
      </p:sp>
      <p:sp>
        <p:nvSpPr>
          <p:cNvPr id="14" name="Freeform 5">
            <a:extLst>
              <a:ext uri="{FF2B5EF4-FFF2-40B4-BE49-F238E27FC236}">
                <a16:creationId xmlns:a16="http://schemas.microsoft.com/office/drawing/2014/main" id="{96851550-5980-D01A-0B7B-5C6B7726A6D7}"/>
              </a:ext>
            </a:extLst>
          </p:cNvPr>
          <p:cNvSpPr/>
          <p:nvPr/>
        </p:nvSpPr>
        <p:spPr>
          <a:xfrm>
            <a:off x="5290622" y="9608702"/>
            <a:ext cx="1508651" cy="1253470"/>
          </a:xfrm>
          <a:custGeom>
            <a:avLst/>
            <a:gdLst/>
            <a:ahLst/>
            <a:cxnLst/>
            <a:rect l="l" t="t" r="r" b="b"/>
            <a:pathLst>
              <a:path w="1508651" h="1253470">
                <a:moveTo>
                  <a:pt x="0" y="0"/>
                </a:moveTo>
                <a:lnTo>
                  <a:pt x="1508651" y="0"/>
                </a:lnTo>
                <a:lnTo>
                  <a:pt x="1508651" y="1253470"/>
                </a:lnTo>
                <a:lnTo>
                  <a:pt x="0" y="1253470"/>
                </a:lnTo>
                <a:lnTo>
                  <a:pt x="0" y="0"/>
                </a:lnTo>
                <a:close/>
              </a:path>
            </a:pathLst>
          </a:custGeom>
          <a:blipFill>
            <a:blip r:embed="rId7">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a:blipFill>
        </p:spPr>
        <p:txBody>
          <a:bodyPr/>
          <a:lstStyle/>
          <a:p>
            <a:endParaRPr lang="es-CL" noProof="0" dirty="0">
              <a:solidFill>
                <a:schemeClr val="tx1">
                  <a:lumMod val="85000"/>
                  <a:lumOff val="15000"/>
                </a:schemeClr>
              </a:solidFill>
            </a:endParaRPr>
          </a:p>
        </p:txBody>
      </p:sp>
      <p:sp>
        <p:nvSpPr>
          <p:cNvPr id="17" name="Freeform 6">
            <a:extLst>
              <a:ext uri="{FF2B5EF4-FFF2-40B4-BE49-F238E27FC236}">
                <a16:creationId xmlns:a16="http://schemas.microsoft.com/office/drawing/2014/main" id="{2A913612-C7EF-6645-36C2-6C2F01253E60}"/>
              </a:ext>
            </a:extLst>
          </p:cNvPr>
          <p:cNvSpPr/>
          <p:nvPr/>
        </p:nvSpPr>
        <p:spPr>
          <a:xfrm>
            <a:off x="-1375442" y="12827004"/>
            <a:ext cx="1176463" cy="1141458"/>
          </a:xfrm>
          <a:custGeom>
            <a:avLst/>
            <a:gdLst/>
            <a:ahLst/>
            <a:cxnLst/>
            <a:rect l="l" t="t" r="r" b="b"/>
            <a:pathLst>
              <a:path w="1176463" h="1141458">
                <a:moveTo>
                  <a:pt x="0" y="0"/>
                </a:moveTo>
                <a:lnTo>
                  <a:pt x="1176463" y="0"/>
                </a:lnTo>
                <a:lnTo>
                  <a:pt x="1176463" y="1141459"/>
                </a:lnTo>
                <a:lnTo>
                  <a:pt x="0" y="1141459"/>
                </a:lnTo>
                <a:lnTo>
                  <a:pt x="0" y="0"/>
                </a:lnTo>
                <a:close/>
              </a:path>
            </a:pathLst>
          </a:custGeom>
          <a:blipFill>
            <a:blip r:embed="rId9">
              <a:extLst>
                <a:ext uri="{BEBA8EAE-BF5A-486C-A8C5-ECC9F3942E4B}">
                  <a14:imgProps xmlns:a14="http://schemas.microsoft.com/office/drawing/2010/main">
                    <a14:imgLayer r:embed="rId10">
                      <a14:imgEffect>
                        <a14:brightnessContrast bright="-40000" contrast="-40000"/>
                      </a14:imgEffect>
                    </a14:imgLayer>
                  </a14:imgProps>
                </a:ext>
              </a:extLst>
            </a:blip>
            <a:stretch>
              <a:fillRect/>
            </a:stretch>
          </a:blipFill>
        </p:spPr>
        <p:txBody>
          <a:bodyPr/>
          <a:lstStyle/>
          <a:p>
            <a:endParaRPr lang="es-CL" noProof="0" dirty="0">
              <a:solidFill>
                <a:schemeClr val="tx1">
                  <a:lumMod val="85000"/>
                  <a:lumOff val="15000"/>
                </a:schemeClr>
              </a:solidFill>
            </a:endParaRPr>
          </a:p>
        </p:txBody>
      </p:sp>
      <p:sp>
        <p:nvSpPr>
          <p:cNvPr id="20" name="Freeform 10">
            <a:extLst>
              <a:ext uri="{FF2B5EF4-FFF2-40B4-BE49-F238E27FC236}">
                <a16:creationId xmlns:a16="http://schemas.microsoft.com/office/drawing/2014/main" id="{871CF080-68AB-BF69-A108-02BB2645E80D}"/>
              </a:ext>
            </a:extLst>
          </p:cNvPr>
          <p:cNvSpPr/>
          <p:nvPr/>
        </p:nvSpPr>
        <p:spPr>
          <a:xfrm>
            <a:off x="5420485" y="13032741"/>
            <a:ext cx="772509" cy="774781"/>
          </a:xfrm>
          <a:custGeom>
            <a:avLst/>
            <a:gdLst/>
            <a:ahLst/>
            <a:cxnLst/>
            <a:rect l="l" t="t" r="r" b="b"/>
            <a:pathLst>
              <a:path w="772509" h="774781">
                <a:moveTo>
                  <a:pt x="0" y="0"/>
                </a:moveTo>
                <a:lnTo>
                  <a:pt x="772510" y="0"/>
                </a:lnTo>
                <a:lnTo>
                  <a:pt x="772510" y="774781"/>
                </a:lnTo>
                <a:lnTo>
                  <a:pt x="0" y="774781"/>
                </a:lnTo>
                <a:lnTo>
                  <a:pt x="0" y="0"/>
                </a:lnTo>
                <a:close/>
              </a:path>
            </a:pathLst>
          </a:custGeom>
          <a:blipFill>
            <a:blip r:embed="rId11">
              <a:extLst>
                <a:ext uri="{BEBA8EAE-BF5A-486C-A8C5-ECC9F3942E4B}">
                  <a14:imgProps xmlns:a14="http://schemas.microsoft.com/office/drawing/2010/main">
                    <a14:imgLayer r:embed="rId12">
                      <a14:imgEffect>
                        <a14:brightnessContrast contrast="-40000"/>
                      </a14:imgEffect>
                    </a14:imgLayer>
                  </a14:imgProps>
                </a:ext>
              </a:extLst>
            </a:blip>
            <a:stretch>
              <a:fillRect/>
            </a:stretch>
          </a:blipFill>
        </p:spPr>
        <p:txBody>
          <a:bodyPr/>
          <a:lstStyle/>
          <a:p>
            <a:endParaRPr lang="es-CL" noProof="0" dirty="0">
              <a:solidFill>
                <a:schemeClr val="tx1">
                  <a:lumMod val="85000"/>
                  <a:lumOff val="15000"/>
                </a:schemeClr>
              </a:solidFill>
            </a:endParaRPr>
          </a:p>
        </p:txBody>
      </p:sp>
      <p:sp>
        <p:nvSpPr>
          <p:cNvPr id="23" name="TextBox 13">
            <a:extLst>
              <a:ext uri="{FF2B5EF4-FFF2-40B4-BE49-F238E27FC236}">
                <a16:creationId xmlns:a16="http://schemas.microsoft.com/office/drawing/2014/main" id="{84482108-614E-B46C-2098-576068131AF5}"/>
              </a:ext>
            </a:extLst>
          </p:cNvPr>
          <p:cNvSpPr txBox="1"/>
          <p:nvPr/>
        </p:nvSpPr>
        <p:spPr>
          <a:xfrm>
            <a:off x="6260599" y="9662873"/>
            <a:ext cx="3634188" cy="1024452"/>
          </a:xfrm>
          <a:prstGeom prst="rect">
            <a:avLst/>
          </a:prstGeom>
        </p:spPr>
        <p:txBody>
          <a:bodyPr lIns="0" tIns="0" rIns="0" bIns="0" rtlCol="0" anchor="t">
            <a:spAutoFit/>
          </a:bodyPr>
          <a:lstStyle/>
          <a:p>
            <a:pPr marL="0" lvl="0" indent="0" algn="l">
              <a:lnSpc>
                <a:spcPts val="2040"/>
              </a:lnSpc>
            </a:pPr>
            <a:r>
              <a:rPr lang="es-CL" sz="1672" noProof="0" dirty="0">
                <a:solidFill>
                  <a:schemeClr val="tx1">
                    <a:lumMod val="85000"/>
                    <a:lumOff val="15000"/>
                  </a:schemeClr>
                </a:solidFill>
                <a:latin typeface="Montserrat Bold" panose="00000800000000000000" charset="0"/>
                <a:ea typeface="Montserrat"/>
                <a:cs typeface="Montserrat"/>
                <a:sym typeface="Montserrat"/>
              </a:rPr>
              <a:t>Veo Technologies: </a:t>
            </a:r>
            <a:r>
              <a:rPr lang="es-CL" sz="1672" noProof="0" dirty="0">
                <a:solidFill>
                  <a:schemeClr val="tx1">
                    <a:lumMod val="85000"/>
                    <a:lumOff val="15000"/>
                  </a:schemeClr>
                </a:solidFill>
                <a:latin typeface="Montserrat"/>
                <a:ea typeface="Montserrat"/>
                <a:cs typeface="Montserrat"/>
                <a:sym typeface="Montserrat"/>
              </a:rPr>
              <a:t>cámara propietaria costosa con métricas básicas descriptivas. Barrera de hardware para clubes sub-élite.</a:t>
            </a:r>
          </a:p>
        </p:txBody>
      </p:sp>
      <p:sp>
        <p:nvSpPr>
          <p:cNvPr id="27" name="TextBox 14">
            <a:extLst>
              <a:ext uri="{FF2B5EF4-FFF2-40B4-BE49-F238E27FC236}">
                <a16:creationId xmlns:a16="http://schemas.microsoft.com/office/drawing/2014/main" id="{D8C7918A-872F-8B73-4357-9718B96DC055}"/>
              </a:ext>
            </a:extLst>
          </p:cNvPr>
          <p:cNvSpPr txBox="1"/>
          <p:nvPr/>
        </p:nvSpPr>
        <p:spPr>
          <a:xfrm>
            <a:off x="6049312" y="12881438"/>
            <a:ext cx="3634188" cy="1024452"/>
          </a:xfrm>
          <a:prstGeom prst="rect">
            <a:avLst/>
          </a:prstGeom>
        </p:spPr>
        <p:txBody>
          <a:bodyPr lIns="0" tIns="0" rIns="0" bIns="0" rtlCol="0" anchor="t">
            <a:spAutoFit/>
          </a:bodyPr>
          <a:lstStyle/>
          <a:p>
            <a:pPr marL="0" lvl="0" indent="0" algn="l">
              <a:lnSpc>
                <a:spcPts val="2040"/>
              </a:lnSpc>
              <a:spcBef>
                <a:spcPct val="0"/>
              </a:spcBef>
            </a:pPr>
            <a:r>
              <a:rPr lang="es-CL" sz="1672" noProof="0" dirty="0">
                <a:solidFill>
                  <a:schemeClr val="tx1">
                    <a:lumMod val="85000"/>
                    <a:lumOff val="15000"/>
                  </a:schemeClr>
                </a:solidFill>
                <a:latin typeface="Montserrat Bold" panose="00000800000000000000" charset="0"/>
                <a:ea typeface="Montserrat"/>
                <a:cs typeface="Montserrat"/>
                <a:sym typeface="Montserrat"/>
              </a:rPr>
              <a:t>Ventaja Única: </a:t>
            </a:r>
            <a:r>
              <a:rPr lang="es-CL" sz="1672" noProof="0" dirty="0">
                <a:solidFill>
                  <a:schemeClr val="tx1">
                    <a:lumMod val="85000"/>
                    <a:lumOff val="15000"/>
                  </a:schemeClr>
                </a:solidFill>
                <a:latin typeface="Montserrat"/>
                <a:ea typeface="Montserrat"/>
                <a:cs typeface="Montserrat"/>
                <a:sym typeface="Montserrat"/>
              </a:rPr>
              <a:t>módulos Fantasma Táctico y Huella de Fatiga. Accesible para academias y clubes de segunda división.</a:t>
            </a:r>
          </a:p>
        </p:txBody>
      </p:sp>
      <p:sp>
        <p:nvSpPr>
          <p:cNvPr id="31" name="TextBox 15">
            <a:extLst>
              <a:ext uri="{FF2B5EF4-FFF2-40B4-BE49-F238E27FC236}">
                <a16:creationId xmlns:a16="http://schemas.microsoft.com/office/drawing/2014/main" id="{9813E25B-88F8-B45B-65D8-7EA6B896CABD}"/>
              </a:ext>
            </a:extLst>
          </p:cNvPr>
          <p:cNvSpPr txBox="1"/>
          <p:nvPr/>
        </p:nvSpPr>
        <p:spPr>
          <a:xfrm>
            <a:off x="72002" y="12919011"/>
            <a:ext cx="3705784" cy="1024452"/>
          </a:xfrm>
          <a:prstGeom prst="rect">
            <a:avLst/>
          </a:prstGeom>
        </p:spPr>
        <p:txBody>
          <a:bodyPr lIns="0" tIns="0" rIns="0" bIns="0" rtlCol="0" anchor="t">
            <a:spAutoFit/>
          </a:bodyPr>
          <a:lstStyle/>
          <a:p>
            <a:pPr marL="0" lvl="0" indent="0" algn="l">
              <a:lnSpc>
                <a:spcPts val="2040"/>
              </a:lnSpc>
            </a:pPr>
            <a:r>
              <a:rPr lang="es-CL" sz="1672" noProof="0" dirty="0">
                <a:solidFill>
                  <a:schemeClr val="tx1">
                    <a:lumMod val="85000"/>
                    <a:lumOff val="15000"/>
                  </a:schemeClr>
                </a:solidFill>
                <a:latin typeface="Montserrat Bold" panose="00000800000000000000" charset="0"/>
                <a:ea typeface="Montserrat"/>
                <a:cs typeface="Montserrat"/>
                <a:sym typeface="Montserrat"/>
              </a:rPr>
              <a:t>FUT.AI: </a:t>
            </a:r>
            <a:r>
              <a:rPr lang="es-CL" sz="1672" noProof="0" dirty="0">
                <a:solidFill>
                  <a:schemeClr val="tx1">
                    <a:lumMod val="85000"/>
                    <a:lumOff val="15000"/>
                  </a:schemeClr>
                </a:solidFill>
                <a:latin typeface="Montserrat"/>
                <a:ea typeface="Montserrat"/>
                <a:cs typeface="Montserrat"/>
                <a:sym typeface="Montserrat"/>
              </a:rPr>
              <a:t>análisis táctico cualitativo y prevención lesional en partidos reales. Hardware agnóstico con video MP4 estándar.</a:t>
            </a:r>
          </a:p>
        </p:txBody>
      </p:sp>
      <p:sp>
        <p:nvSpPr>
          <p:cNvPr id="35" name="TextBox 16">
            <a:extLst>
              <a:ext uri="{FF2B5EF4-FFF2-40B4-BE49-F238E27FC236}">
                <a16:creationId xmlns:a16="http://schemas.microsoft.com/office/drawing/2014/main" id="{BFAA008A-5FEF-19E1-62B3-A891CCC3A03A}"/>
              </a:ext>
            </a:extLst>
          </p:cNvPr>
          <p:cNvSpPr txBox="1"/>
          <p:nvPr/>
        </p:nvSpPr>
        <p:spPr>
          <a:xfrm>
            <a:off x="17993" y="9630799"/>
            <a:ext cx="3839134" cy="1024452"/>
          </a:xfrm>
          <a:prstGeom prst="rect">
            <a:avLst/>
          </a:prstGeom>
        </p:spPr>
        <p:txBody>
          <a:bodyPr lIns="0" tIns="0" rIns="0" bIns="0" rtlCol="0" anchor="t">
            <a:spAutoFit/>
          </a:bodyPr>
          <a:lstStyle/>
          <a:p>
            <a:pPr marL="0" lvl="0" indent="0" algn="l">
              <a:lnSpc>
                <a:spcPts val="2040"/>
              </a:lnSpc>
              <a:spcBef>
                <a:spcPct val="0"/>
              </a:spcBef>
            </a:pPr>
            <a:r>
              <a:rPr lang="es-CL" sz="1672" noProof="0" dirty="0" err="1">
                <a:solidFill>
                  <a:schemeClr val="tx1">
                    <a:lumMod val="85000"/>
                    <a:lumOff val="15000"/>
                  </a:schemeClr>
                </a:solidFill>
                <a:latin typeface="Montserrat Bold" panose="00000800000000000000" charset="0"/>
                <a:ea typeface="Montserrat"/>
                <a:cs typeface="Montserrat"/>
                <a:sym typeface="Montserrat"/>
              </a:rPr>
              <a:t>aiScout</a:t>
            </a:r>
            <a:r>
              <a:rPr lang="es-CL" sz="1672" noProof="0" dirty="0">
                <a:solidFill>
                  <a:schemeClr val="tx1">
                    <a:lumMod val="85000"/>
                    <a:lumOff val="15000"/>
                  </a:schemeClr>
                </a:solidFill>
                <a:latin typeface="Montserrat"/>
                <a:ea typeface="Montserrat"/>
                <a:cs typeface="Montserrat"/>
                <a:sym typeface="Montserrat"/>
              </a:rPr>
              <a:t>: </a:t>
            </a:r>
            <a:r>
              <a:rPr lang="es-CL" sz="1672" noProof="0" dirty="0" err="1">
                <a:solidFill>
                  <a:schemeClr val="tx1">
                    <a:lumMod val="85000"/>
                    <a:lumOff val="15000"/>
                  </a:schemeClr>
                </a:solidFill>
                <a:latin typeface="Montserrat"/>
                <a:ea typeface="Montserrat"/>
                <a:cs typeface="Montserrat"/>
                <a:sym typeface="Montserrat"/>
              </a:rPr>
              <a:t>scouting</a:t>
            </a:r>
            <a:r>
              <a:rPr lang="es-CL" sz="1672" noProof="0" dirty="0">
                <a:solidFill>
                  <a:schemeClr val="tx1">
                    <a:lumMod val="85000"/>
                    <a:lumOff val="15000"/>
                  </a:schemeClr>
                </a:solidFill>
                <a:latin typeface="Montserrat"/>
                <a:ea typeface="Montserrat"/>
                <a:cs typeface="Montserrat"/>
                <a:sym typeface="Montserrat"/>
              </a:rPr>
              <a:t> individual en pruebas aisladas vía smartphone. Sin análisis táctico colectivo ni datos de partido real.</a:t>
            </a:r>
          </a:p>
        </p:txBody>
      </p:sp>
      <p:pic>
        <p:nvPicPr>
          <p:cNvPr id="3" name="Imagen 2">
            <a:extLst>
              <a:ext uri="{FF2B5EF4-FFF2-40B4-BE49-F238E27FC236}">
                <a16:creationId xmlns:a16="http://schemas.microsoft.com/office/drawing/2014/main" id="{E9E619BD-CF6A-8A3D-5C9E-A449F1BB7294}"/>
              </a:ext>
            </a:extLst>
          </p:cNvPr>
          <p:cNvPicPr>
            <a:picLocks noChangeAspect="1"/>
          </p:cNvPicPr>
          <p:nvPr/>
        </p:nvPicPr>
        <p:blipFill>
          <a:blip r:embed="rId13"/>
          <a:srcRect/>
          <a:stretch>
            <a:fillRect/>
          </a:stretch>
        </p:blipFill>
        <p:spPr>
          <a:xfrm rot="2371640" flipV="1">
            <a:off x="-9569543" y="-4289267"/>
            <a:ext cx="14273822" cy="11655629"/>
          </a:xfrm>
          <a:prstGeom prst="rect">
            <a:avLst/>
          </a:prstGeom>
        </p:spPr>
      </p:pic>
      <p:sp>
        <p:nvSpPr>
          <p:cNvPr id="6" name="CuadroTexto 5">
            <a:extLst>
              <a:ext uri="{FF2B5EF4-FFF2-40B4-BE49-F238E27FC236}">
                <a16:creationId xmlns:a16="http://schemas.microsoft.com/office/drawing/2014/main" id="{42F12908-9D80-8000-D06E-E3A3EDEEBD00}"/>
              </a:ext>
            </a:extLst>
          </p:cNvPr>
          <p:cNvSpPr txBox="1"/>
          <p:nvPr/>
        </p:nvSpPr>
        <p:spPr>
          <a:xfrm>
            <a:off x="17993" y="99617"/>
            <a:ext cx="5907113" cy="2092881"/>
          </a:xfrm>
          <a:prstGeom prst="rect">
            <a:avLst/>
          </a:prstGeom>
          <a:noFill/>
        </p:spPr>
        <p:txBody>
          <a:bodyPr wrap="square">
            <a:spAutoFit/>
          </a:bodyPr>
          <a:lstStyle/>
          <a:p>
            <a:pPr lvl="0">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Riesgos y Mitigación </a:t>
            </a:r>
          </a:p>
        </p:txBody>
      </p:sp>
      <p:sp>
        <p:nvSpPr>
          <p:cNvPr id="9" name="AutoShape 6">
            <a:extLst>
              <a:ext uri="{FF2B5EF4-FFF2-40B4-BE49-F238E27FC236}">
                <a16:creationId xmlns:a16="http://schemas.microsoft.com/office/drawing/2014/main" id="{8C47F747-C7FA-5C2C-B444-7037F01575B6}"/>
              </a:ext>
            </a:extLst>
          </p:cNvPr>
          <p:cNvSpPr/>
          <p:nvPr/>
        </p:nvSpPr>
        <p:spPr>
          <a:xfrm>
            <a:off x="5886027" y="970260"/>
            <a:ext cx="0" cy="5264032"/>
          </a:xfrm>
          <a:prstGeom prst="line">
            <a:avLst/>
          </a:prstGeom>
          <a:ln w="19050" cap="rnd">
            <a:solidFill>
              <a:srgbClr val="FFFFFF"/>
            </a:solidFill>
            <a:prstDash val="solid"/>
            <a:headEnd type="none" w="sm" len="sm"/>
            <a:tailEnd type="none" w="sm" len="sm"/>
          </a:ln>
        </p:spPr>
        <p:txBody>
          <a:bodyPr/>
          <a:lstStyle/>
          <a:p>
            <a:endParaRPr lang="es-CL" sz="1200" noProof="0" dirty="0"/>
          </a:p>
        </p:txBody>
      </p:sp>
      <p:grpSp>
        <p:nvGrpSpPr>
          <p:cNvPr id="40" name="Group 16">
            <a:extLst>
              <a:ext uri="{FF2B5EF4-FFF2-40B4-BE49-F238E27FC236}">
                <a16:creationId xmlns:a16="http://schemas.microsoft.com/office/drawing/2014/main" id="{2456CA2F-55F5-4176-2391-21A4F3F77301}"/>
              </a:ext>
            </a:extLst>
          </p:cNvPr>
          <p:cNvGrpSpPr/>
          <p:nvPr/>
        </p:nvGrpSpPr>
        <p:grpSpPr>
          <a:xfrm>
            <a:off x="6192994" y="621760"/>
            <a:ext cx="5660648" cy="1781197"/>
            <a:chOff x="0" y="-9525"/>
            <a:chExt cx="10406234" cy="1568138"/>
          </a:xfrm>
        </p:grpSpPr>
        <p:sp>
          <p:nvSpPr>
            <p:cNvPr id="41" name="TextBox 17">
              <a:extLst>
                <a:ext uri="{FF2B5EF4-FFF2-40B4-BE49-F238E27FC236}">
                  <a16:creationId xmlns:a16="http://schemas.microsoft.com/office/drawing/2014/main" id="{EFB86E12-AEF4-621F-7616-3CA3564768BE}"/>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BALÓN POCO VISIBLE</a:t>
              </a:r>
            </a:p>
          </p:txBody>
        </p:sp>
        <p:sp>
          <p:nvSpPr>
            <p:cNvPr id="42" name="TextBox 18">
              <a:extLst>
                <a:ext uri="{FF2B5EF4-FFF2-40B4-BE49-F238E27FC236}">
                  <a16:creationId xmlns:a16="http://schemas.microsoft.com/office/drawing/2014/main" id="{E751CA68-5FB6-B306-D31C-66C4A4AF93B1}"/>
                </a:ext>
              </a:extLst>
            </p:cNvPr>
            <p:cNvSpPr txBox="1"/>
            <p:nvPr/>
          </p:nvSpPr>
          <p:spPr>
            <a:xfrm>
              <a:off x="0" y="713083"/>
              <a:ext cx="9541205"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Hoy aparece en el 25 % de las muestras. Mitigación: detector especializado YOLO11 e interpolación de trayectoria.</a:t>
              </a:r>
            </a:p>
          </p:txBody>
        </p:sp>
      </p:grpSp>
      <p:grpSp>
        <p:nvGrpSpPr>
          <p:cNvPr id="43" name="Group 19">
            <a:extLst>
              <a:ext uri="{FF2B5EF4-FFF2-40B4-BE49-F238E27FC236}">
                <a16:creationId xmlns:a16="http://schemas.microsoft.com/office/drawing/2014/main" id="{7461C6E3-D076-F673-E869-B025DFEC2AE6}"/>
              </a:ext>
            </a:extLst>
          </p:cNvPr>
          <p:cNvGrpSpPr/>
          <p:nvPr/>
        </p:nvGrpSpPr>
        <p:grpSpPr>
          <a:xfrm>
            <a:off x="6192994" y="2729267"/>
            <a:ext cx="5827759" cy="1720836"/>
            <a:chOff x="0" y="-9525"/>
            <a:chExt cx="10406234" cy="1568138"/>
          </a:xfrm>
        </p:grpSpPr>
        <p:sp>
          <p:nvSpPr>
            <p:cNvPr id="44" name="TextBox 20">
              <a:extLst>
                <a:ext uri="{FF2B5EF4-FFF2-40B4-BE49-F238E27FC236}">
                  <a16:creationId xmlns:a16="http://schemas.microsoft.com/office/drawing/2014/main" id="{73B38C71-B5BE-DF4E-6BF9-3126F481B827}"/>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CUOTA DE GPU</a:t>
              </a:r>
            </a:p>
          </p:txBody>
        </p:sp>
        <p:sp>
          <p:nvSpPr>
            <p:cNvPr id="45" name="TextBox 21">
              <a:extLst>
                <a:ext uri="{FF2B5EF4-FFF2-40B4-BE49-F238E27FC236}">
                  <a16:creationId xmlns:a16="http://schemas.microsoft.com/office/drawing/2014/main" id="{D30D6EED-7CEB-A39A-EEEF-32C0AF25F385}"/>
                </a:ext>
              </a:extLst>
            </p:cNvPr>
            <p:cNvSpPr txBox="1"/>
            <p:nvPr/>
          </p:nvSpPr>
          <p:spPr>
            <a:xfrm>
              <a:off x="0" y="713083"/>
              <a:ext cx="9541205"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Google pide historial de uso para habilitar la L4. Mitigación: solicitud enviada y análisis en CPU mientras tanto.</a:t>
              </a:r>
            </a:p>
          </p:txBody>
        </p:sp>
      </p:grpSp>
      <p:grpSp>
        <p:nvGrpSpPr>
          <p:cNvPr id="46" name="Group 22">
            <a:extLst>
              <a:ext uri="{FF2B5EF4-FFF2-40B4-BE49-F238E27FC236}">
                <a16:creationId xmlns:a16="http://schemas.microsoft.com/office/drawing/2014/main" id="{8C674400-023F-7C96-8A3C-C8561B7451DB}"/>
              </a:ext>
            </a:extLst>
          </p:cNvPr>
          <p:cNvGrpSpPr/>
          <p:nvPr/>
        </p:nvGrpSpPr>
        <p:grpSpPr>
          <a:xfrm>
            <a:off x="6192994" y="4826858"/>
            <a:ext cx="5946529" cy="1832635"/>
            <a:chOff x="0" y="-9525"/>
            <a:chExt cx="10406234" cy="1519395"/>
          </a:xfrm>
        </p:grpSpPr>
        <p:sp>
          <p:nvSpPr>
            <p:cNvPr id="47" name="TextBox 23">
              <a:extLst>
                <a:ext uri="{FF2B5EF4-FFF2-40B4-BE49-F238E27FC236}">
                  <a16:creationId xmlns:a16="http://schemas.microsoft.com/office/drawing/2014/main" id="{11B87C7C-EBFD-FFFA-4E3E-88374C918777}"/>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IDENTIDAD DE JUGADORES</a:t>
              </a:r>
            </a:p>
          </p:txBody>
        </p:sp>
        <p:sp>
          <p:nvSpPr>
            <p:cNvPr id="48" name="TextBox 24">
              <a:extLst>
                <a:ext uri="{FF2B5EF4-FFF2-40B4-BE49-F238E27FC236}">
                  <a16:creationId xmlns:a16="http://schemas.microsoft.com/office/drawing/2014/main" id="{C49FF43E-6636-32C9-C078-9C42A91C984E}"/>
                </a:ext>
              </a:extLst>
            </p:cNvPr>
            <p:cNvSpPr txBox="1"/>
            <p:nvPr/>
          </p:nvSpPr>
          <p:spPr>
            <a:xfrm>
              <a:off x="0" y="664340"/>
              <a:ext cx="9541206"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Los dorsales no se leen con jugadores de 31 px. Mitigación: unión de fragmentos y etiquetado con miniaturas.</a:t>
              </a:r>
            </a:p>
          </p:txBody>
        </p:sp>
      </p:grpSp>
      <p:sp>
        <p:nvSpPr>
          <p:cNvPr id="56" name="Freeform 8">
            <a:extLst>
              <a:ext uri="{FF2B5EF4-FFF2-40B4-BE49-F238E27FC236}">
                <a16:creationId xmlns:a16="http://schemas.microsoft.com/office/drawing/2014/main" id="{126A399B-2D6E-2BD5-1A33-B8EEA4FC39A9}"/>
              </a:ext>
            </a:extLst>
          </p:cNvPr>
          <p:cNvSpPr/>
          <p:nvPr/>
        </p:nvSpPr>
        <p:spPr>
          <a:xfrm>
            <a:off x="5671213" y="2700932"/>
            <a:ext cx="575759" cy="513570"/>
          </a:xfrm>
          <a:custGeom>
            <a:avLst/>
            <a:gdLst/>
            <a:ahLst/>
            <a:cxnLst/>
            <a:rect l="l" t="t" r="r" b="b"/>
            <a:pathLst>
              <a:path w="812800" h="844598">
                <a:moveTo>
                  <a:pt x="406400" y="0"/>
                </a:moveTo>
                <a:cubicBezTo>
                  <a:pt x="181951" y="0"/>
                  <a:pt x="0" y="189070"/>
                  <a:pt x="0" y="422299"/>
                </a:cubicBezTo>
                <a:cubicBezTo>
                  <a:pt x="0" y="655528"/>
                  <a:pt x="181951" y="844598"/>
                  <a:pt x="406400" y="844598"/>
                </a:cubicBezTo>
                <a:cubicBezTo>
                  <a:pt x="630849" y="844598"/>
                  <a:pt x="812800" y="655528"/>
                  <a:pt x="812800" y="422299"/>
                </a:cubicBezTo>
                <a:cubicBezTo>
                  <a:pt x="812800" y="189070"/>
                  <a:pt x="630849" y="0"/>
                  <a:pt x="406400" y="0"/>
                </a:cubicBezTo>
                <a:close/>
              </a:path>
            </a:pathLst>
          </a:custGeom>
          <a:noFill/>
        </p:spPr>
        <p:txBody>
          <a:bodyPr/>
          <a:lstStyle/>
          <a:p>
            <a:endParaRPr lang="es-CL" sz="1200" noProof="0" dirty="0">
              <a:solidFill>
                <a:schemeClr val="tx1">
                  <a:lumMod val="85000"/>
                  <a:lumOff val="15000"/>
                </a:schemeClr>
              </a:solidFill>
            </a:endParaRPr>
          </a:p>
        </p:txBody>
      </p:sp>
      <p:sp>
        <p:nvSpPr>
          <p:cNvPr id="66" name="Freeform 8">
            <a:extLst>
              <a:ext uri="{FF2B5EF4-FFF2-40B4-BE49-F238E27FC236}">
                <a16:creationId xmlns:a16="http://schemas.microsoft.com/office/drawing/2014/main" id="{A262EB9E-7300-7F8F-36EB-7B89E6275152}"/>
              </a:ext>
            </a:extLst>
          </p:cNvPr>
          <p:cNvSpPr/>
          <p:nvPr/>
        </p:nvSpPr>
        <p:spPr>
          <a:xfrm>
            <a:off x="5671213" y="4805882"/>
            <a:ext cx="575759" cy="513570"/>
          </a:xfrm>
          <a:custGeom>
            <a:avLst/>
            <a:gdLst/>
            <a:ahLst/>
            <a:cxnLst/>
            <a:rect l="l" t="t" r="r" b="b"/>
            <a:pathLst>
              <a:path w="812800" h="844598">
                <a:moveTo>
                  <a:pt x="406400" y="0"/>
                </a:moveTo>
                <a:cubicBezTo>
                  <a:pt x="181951" y="0"/>
                  <a:pt x="0" y="189070"/>
                  <a:pt x="0" y="422299"/>
                </a:cubicBezTo>
                <a:cubicBezTo>
                  <a:pt x="0" y="655528"/>
                  <a:pt x="181951" y="844598"/>
                  <a:pt x="406400" y="844598"/>
                </a:cubicBezTo>
                <a:cubicBezTo>
                  <a:pt x="630849" y="844598"/>
                  <a:pt x="812800" y="655528"/>
                  <a:pt x="812800" y="422299"/>
                </a:cubicBezTo>
                <a:cubicBezTo>
                  <a:pt x="812800" y="189070"/>
                  <a:pt x="630849" y="0"/>
                  <a:pt x="406400" y="0"/>
                </a:cubicBezTo>
                <a:close/>
              </a:path>
            </a:pathLst>
          </a:custGeom>
          <a:noFill/>
        </p:spPr>
        <p:txBody>
          <a:bodyPr/>
          <a:lstStyle/>
          <a:p>
            <a:endParaRPr lang="es-CL" sz="1200" noProof="0" dirty="0">
              <a:solidFill>
                <a:schemeClr val="tx1">
                  <a:lumMod val="85000"/>
                  <a:lumOff val="15000"/>
                </a:schemeClr>
              </a:solidFill>
            </a:endParaRPr>
          </a:p>
        </p:txBody>
      </p:sp>
      <p:pic>
        <p:nvPicPr>
          <p:cNvPr id="4" name="Imagen 3">
            <a:extLst>
              <a:ext uri="{FF2B5EF4-FFF2-40B4-BE49-F238E27FC236}">
                <a16:creationId xmlns:a16="http://schemas.microsoft.com/office/drawing/2014/main" id="{B2E1FEA3-6E55-83A2-B0AB-495FEAF28C39}"/>
              </a:ext>
            </a:extLst>
          </p:cNvPr>
          <p:cNvPicPr>
            <a:picLocks noChangeAspect="1"/>
          </p:cNvPicPr>
          <p:nvPr/>
        </p:nvPicPr>
        <p:blipFill>
          <a:blip r:embed="rId14"/>
          <a:stretch>
            <a:fillRect/>
          </a:stretch>
        </p:blipFill>
        <p:spPr>
          <a:xfrm>
            <a:off x="5619327" y="717432"/>
            <a:ext cx="533400" cy="285750"/>
          </a:xfrm>
          <a:prstGeom prst="rect">
            <a:avLst/>
          </a:prstGeom>
        </p:spPr>
      </p:pic>
      <p:pic>
        <p:nvPicPr>
          <p:cNvPr id="10" name="Imagen 9">
            <a:extLst>
              <a:ext uri="{FF2B5EF4-FFF2-40B4-BE49-F238E27FC236}">
                <a16:creationId xmlns:a16="http://schemas.microsoft.com/office/drawing/2014/main" id="{23422387-778C-BBED-B9D6-7D08B1BFE1AC}"/>
              </a:ext>
            </a:extLst>
          </p:cNvPr>
          <p:cNvPicPr>
            <a:picLocks noChangeAspect="1"/>
          </p:cNvPicPr>
          <p:nvPr/>
        </p:nvPicPr>
        <p:blipFill>
          <a:blip r:embed="rId14"/>
          <a:stretch>
            <a:fillRect/>
          </a:stretch>
        </p:blipFill>
        <p:spPr>
          <a:xfrm>
            <a:off x="5619327" y="2818690"/>
            <a:ext cx="533400" cy="285750"/>
          </a:xfrm>
          <a:prstGeom prst="rect">
            <a:avLst/>
          </a:prstGeom>
        </p:spPr>
      </p:pic>
      <p:pic>
        <p:nvPicPr>
          <p:cNvPr id="15" name="Imagen 14">
            <a:extLst>
              <a:ext uri="{FF2B5EF4-FFF2-40B4-BE49-F238E27FC236}">
                <a16:creationId xmlns:a16="http://schemas.microsoft.com/office/drawing/2014/main" id="{C15E791D-80EB-1FB2-6C06-BB834C9A9AF8}"/>
              </a:ext>
            </a:extLst>
          </p:cNvPr>
          <p:cNvPicPr>
            <a:picLocks noChangeAspect="1"/>
          </p:cNvPicPr>
          <p:nvPr/>
        </p:nvPicPr>
        <p:blipFill>
          <a:blip r:embed="rId14"/>
          <a:stretch>
            <a:fillRect/>
          </a:stretch>
        </p:blipFill>
        <p:spPr>
          <a:xfrm>
            <a:off x="5619327" y="4950891"/>
            <a:ext cx="533400" cy="285750"/>
          </a:xfrm>
          <a:prstGeom prst="rect">
            <a:avLst/>
          </a:prstGeom>
        </p:spPr>
      </p:pic>
      <p:sp>
        <p:nvSpPr>
          <p:cNvPr id="38" name="CuadroTexto 37">
            <a:extLst>
              <a:ext uri="{FF2B5EF4-FFF2-40B4-BE49-F238E27FC236}">
                <a16:creationId xmlns:a16="http://schemas.microsoft.com/office/drawing/2014/main" id="{B10F4E65-EEC3-9BAA-815C-67AE069B27E1}"/>
              </a:ext>
            </a:extLst>
          </p:cNvPr>
          <p:cNvSpPr txBox="1"/>
          <p:nvPr/>
        </p:nvSpPr>
        <p:spPr>
          <a:xfrm>
            <a:off x="-38455" y="5834858"/>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latin typeface="Montserrat Bold"/>
                <a:ea typeface="Montserrat Bold"/>
                <a:cs typeface="Montserrat Bold"/>
                <a:sym typeface="Montserrat Bold"/>
              </a:rPr>
              <a:t>Fut.Ai</a:t>
            </a:r>
          </a:p>
        </p:txBody>
      </p:sp>
      <p:pic>
        <p:nvPicPr>
          <p:cNvPr id="50" name="Imagen 49">
            <a:extLst>
              <a:ext uri="{FF2B5EF4-FFF2-40B4-BE49-F238E27FC236}">
                <a16:creationId xmlns:a16="http://schemas.microsoft.com/office/drawing/2014/main" id="{E3826C2E-65CD-3128-6249-9EAFC6975A13}"/>
              </a:ext>
            </a:extLst>
          </p:cNvPr>
          <p:cNvPicPr>
            <a:picLocks noChangeAspect="1"/>
          </p:cNvPicPr>
          <p:nvPr/>
        </p:nvPicPr>
        <p:blipFill>
          <a:blip r:embed="rId4"/>
          <a:srcRect/>
          <a:stretch>
            <a:fillRect/>
          </a:stretch>
        </p:blipFill>
        <p:spPr>
          <a:xfrm>
            <a:off x="1772658" y="6036732"/>
            <a:ext cx="996664" cy="863537"/>
          </a:xfrm>
          <a:prstGeom prst="rect">
            <a:avLst/>
          </a:prstGeom>
        </p:spPr>
      </p:pic>
      <p:grpSp>
        <p:nvGrpSpPr>
          <p:cNvPr id="51" name="Grupo 50">
            <a:extLst>
              <a:ext uri="{FF2B5EF4-FFF2-40B4-BE49-F238E27FC236}">
                <a16:creationId xmlns:a16="http://schemas.microsoft.com/office/drawing/2014/main" id="{A4A73817-0F35-4E5D-CF6D-76208834E4AA}"/>
              </a:ext>
            </a:extLst>
          </p:cNvPr>
          <p:cNvGrpSpPr/>
          <p:nvPr/>
        </p:nvGrpSpPr>
        <p:grpSpPr>
          <a:xfrm>
            <a:off x="-9106105" y="-59124"/>
            <a:ext cx="7692781" cy="6718617"/>
            <a:chOff x="23220" y="69691"/>
            <a:chExt cx="7692781" cy="6718617"/>
          </a:xfrm>
        </p:grpSpPr>
        <p:grpSp>
          <p:nvGrpSpPr>
            <p:cNvPr id="52" name="Grupo 51">
              <a:extLst>
                <a:ext uri="{FF2B5EF4-FFF2-40B4-BE49-F238E27FC236}">
                  <a16:creationId xmlns:a16="http://schemas.microsoft.com/office/drawing/2014/main" id="{188352B8-D5E5-BB1B-1DFB-5AA1A1FAAEF2}"/>
                </a:ext>
              </a:extLst>
            </p:cNvPr>
            <p:cNvGrpSpPr/>
            <p:nvPr/>
          </p:nvGrpSpPr>
          <p:grpSpPr>
            <a:xfrm>
              <a:off x="609088" y="69691"/>
              <a:ext cx="7106913" cy="6718617"/>
              <a:chOff x="560098" y="1019696"/>
              <a:chExt cx="7182719" cy="4974673"/>
            </a:xfrm>
          </p:grpSpPr>
          <p:sp>
            <p:nvSpPr>
              <p:cNvPr id="58" name="TextBox 5">
                <a:extLst>
                  <a:ext uri="{FF2B5EF4-FFF2-40B4-BE49-F238E27FC236}">
                    <a16:creationId xmlns:a16="http://schemas.microsoft.com/office/drawing/2014/main" id="{C2C65D78-3ADB-D773-F290-69D0A81F0A76}"/>
                  </a:ext>
                </a:extLst>
              </p:cNvPr>
              <p:cNvSpPr txBox="1"/>
              <p:nvPr/>
            </p:nvSpPr>
            <p:spPr>
              <a:xfrm>
                <a:off x="586913" y="1019696"/>
                <a:ext cx="4459384" cy="428835"/>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a:ea typeface="Montserrat Bold"/>
                    <a:cs typeface="Montserrat Bold"/>
                    <a:sym typeface="Montserrat Bold"/>
                  </a:rPr>
                  <a:t>AISLAMIENTO MULTI-TENANT</a:t>
                </a:r>
              </a:p>
            </p:txBody>
          </p:sp>
          <p:sp>
            <p:nvSpPr>
              <p:cNvPr id="59" name="TextBox 6">
                <a:extLst>
                  <a:ext uri="{FF2B5EF4-FFF2-40B4-BE49-F238E27FC236}">
                    <a16:creationId xmlns:a16="http://schemas.microsoft.com/office/drawing/2014/main" id="{8C7FFBA0-7E2F-C7A3-D7B0-32F8823EE658}"/>
                  </a:ext>
                </a:extLst>
              </p:cNvPr>
              <p:cNvSpPr txBox="1"/>
              <p:nvPr/>
            </p:nvSpPr>
            <p:spPr>
              <a:xfrm>
                <a:off x="586913" y="2294376"/>
                <a:ext cx="4355567" cy="428835"/>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a:ea typeface="Montserrat Bold"/>
                    <a:cs typeface="Montserrat Bold"/>
                    <a:sym typeface="Montserrat Bold"/>
                  </a:rPr>
                  <a:t>CIFRADO END-TO-END</a:t>
                </a:r>
              </a:p>
            </p:txBody>
          </p:sp>
          <p:sp>
            <p:nvSpPr>
              <p:cNvPr id="60" name="TextBox 7">
                <a:extLst>
                  <a:ext uri="{FF2B5EF4-FFF2-40B4-BE49-F238E27FC236}">
                    <a16:creationId xmlns:a16="http://schemas.microsoft.com/office/drawing/2014/main" id="{ACF8DF62-21D9-4C92-A7AE-2716698C85EE}"/>
                  </a:ext>
                </a:extLst>
              </p:cNvPr>
              <p:cNvSpPr txBox="1"/>
              <p:nvPr/>
            </p:nvSpPr>
            <p:spPr>
              <a:xfrm>
                <a:off x="586913" y="3612881"/>
                <a:ext cx="3657058" cy="428835"/>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a:ea typeface="Montserrat Bold"/>
                    <a:cs typeface="Montserrat Bold"/>
                    <a:sym typeface="Montserrat Bold"/>
                  </a:rPr>
                  <a:t>CUMPLIMIENTO GDPR</a:t>
                </a:r>
              </a:p>
            </p:txBody>
          </p:sp>
          <p:sp>
            <p:nvSpPr>
              <p:cNvPr id="61" name="TextBox 8">
                <a:extLst>
                  <a:ext uri="{FF2B5EF4-FFF2-40B4-BE49-F238E27FC236}">
                    <a16:creationId xmlns:a16="http://schemas.microsoft.com/office/drawing/2014/main" id="{D792CDE3-68D4-4931-CE88-64C98DF6F1AB}"/>
                  </a:ext>
                </a:extLst>
              </p:cNvPr>
              <p:cNvSpPr txBox="1"/>
              <p:nvPr/>
            </p:nvSpPr>
            <p:spPr>
              <a:xfrm>
                <a:off x="586913" y="4931386"/>
                <a:ext cx="5261711" cy="428835"/>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a:ea typeface="Montserrat Bold"/>
                    <a:cs typeface="Montserrat Bold"/>
                    <a:sym typeface="Montserrat Bold"/>
                  </a:rPr>
                  <a:t>LOGS INMUTABLES DE AUDITORÍA</a:t>
                </a:r>
              </a:p>
            </p:txBody>
          </p:sp>
          <p:sp>
            <p:nvSpPr>
              <p:cNvPr id="62" name="TextBox 9">
                <a:extLst>
                  <a:ext uri="{FF2B5EF4-FFF2-40B4-BE49-F238E27FC236}">
                    <a16:creationId xmlns:a16="http://schemas.microsoft.com/office/drawing/2014/main" id="{9D63E1F7-3036-A48B-AE0C-E0D561E29AED}"/>
                  </a:ext>
                </a:extLst>
              </p:cNvPr>
              <p:cNvSpPr txBox="1"/>
              <p:nvPr/>
            </p:nvSpPr>
            <p:spPr>
              <a:xfrm>
                <a:off x="586913" y="1564028"/>
                <a:ext cx="7155904" cy="634148"/>
              </a:xfrm>
              <a:prstGeom prst="rect">
                <a:avLst/>
              </a:prstGeom>
            </p:spPr>
            <p:txBody>
              <a:bodyPr lIns="0" tIns="0" rIns="0" bIns="0" rtlCol="0" anchor="t">
                <a:spAutoFit/>
              </a:bodyPr>
              <a:lstStyle/>
              <a:p>
                <a:pPr marL="0" lvl="0" indent="0" algn="just">
                  <a:lnSpc>
                    <a:spcPts val="2564"/>
                  </a:lnSpc>
                  <a:spcBef>
                    <a:spcPct val="0"/>
                  </a:spcBef>
                </a:pPr>
                <a:r>
                  <a:rPr lang="es-CL" sz="1600" u="none" strike="noStrike" noProof="0" dirty="0" err="1">
                    <a:latin typeface="Montserrat"/>
                    <a:ea typeface="Montserrat"/>
                    <a:cs typeface="Montserrat"/>
                    <a:sym typeface="Montserrat"/>
                  </a:rPr>
                  <a:t>Namespaces</a:t>
                </a:r>
                <a:r>
                  <a:rPr lang="es-CL" sz="1600" u="none" strike="noStrike" noProof="0" dirty="0">
                    <a:latin typeface="Montserrat"/>
                    <a:ea typeface="Montserrat"/>
                    <a:cs typeface="Montserrat"/>
                    <a:sym typeface="Montserrat"/>
                  </a:rPr>
                  <a:t> separados por club garantizan aislamiento total de datos entre </a:t>
                </a:r>
                <a:r>
                  <a:rPr lang="es-CL" sz="1600" u="none" strike="noStrike" noProof="0" dirty="0" err="1">
                    <a:latin typeface="Montserrat"/>
                    <a:ea typeface="Montserrat"/>
                    <a:cs typeface="Montserrat"/>
                    <a:sym typeface="Montserrat"/>
                  </a:rPr>
                  <a:t>tenants</a:t>
                </a:r>
                <a:r>
                  <a:rPr lang="es-CL" sz="1600" u="none" strike="noStrike" noProof="0" dirty="0">
                    <a:latin typeface="Montserrat"/>
                    <a:ea typeface="Montserrat"/>
                    <a:cs typeface="Montserrat"/>
                    <a:sym typeface="Montserrat"/>
                  </a:rPr>
                  <a:t>, eliminando riesgos de filtración cruzada.</a:t>
                </a:r>
              </a:p>
            </p:txBody>
          </p:sp>
          <p:sp>
            <p:nvSpPr>
              <p:cNvPr id="63" name="TextBox 10">
                <a:extLst>
                  <a:ext uri="{FF2B5EF4-FFF2-40B4-BE49-F238E27FC236}">
                    <a16:creationId xmlns:a16="http://schemas.microsoft.com/office/drawing/2014/main" id="{4F834E27-6A9B-B713-AA31-C1884AD277B0}"/>
                  </a:ext>
                </a:extLst>
              </p:cNvPr>
              <p:cNvSpPr txBox="1"/>
              <p:nvPr/>
            </p:nvSpPr>
            <p:spPr>
              <a:xfrm>
                <a:off x="586913" y="2770183"/>
                <a:ext cx="7155904" cy="634148"/>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a:ea typeface="Montserrat"/>
                    <a:cs typeface="Montserrat"/>
                    <a:sym typeface="Montserrat"/>
                  </a:rPr>
                  <a:t>TLS 1.3 en tránsito y AES-256 en reposo. Toda la información táctica y biomecánica viaja y se almacena completamente cifrada.</a:t>
                </a:r>
              </a:p>
            </p:txBody>
          </p:sp>
          <p:sp>
            <p:nvSpPr>
              <p:cNvPr id="64" name="TextBox 11">
                <a:extLst>
                  <a:ext uri="{FF2B5EF4-FFF2-40B4-BE49-F238E27FC236}">
                    <a16:creationId xmlns:a16="http://schemas.microsoft.com/office/drawing/2014/main" id="{30F132FF-0685-663D-3202-7A4D4C396296}"/>
                  </a:ext>
                </a:extLst>
              </p:cNvPr>
              <p:cNvSpPr txBox="1"/>
              <p:nvPr/>
            </p:nvSpPr>
            <p:spPr>
              <a:xfrm>
                <a:off x="586913" y="4091441"/>
                <a:ext cx="7155904" cy="634148"/>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a:ea typeface="Montserrat"/>
                    <a:cs typeface="Montserrat"/>
                    <a:sym typeface="Montserrat"/>
                  </a:rPr>
                  <a:t>Derecho al olvido, portabilidad de datos y consentimiento expreso. Arquitectura diseñada desde cero para cumplir normativa europea.</a:t>
                </a:r>
              </a:p>
            </p:txBody>
          </p:sp>
          <p:sp>
            <p:nvSpPr>
              <p:cNvPr id="65" name="TextBox 12">
                <a:extLst>
                  <a:ext uri="{FF2B5EF4-FFF2-40B4-BE49-F238E27FC236}">
                    <a16:creationId xmlns:a16="http://schemas.microsoft.com/office/drawing/2014/main" id="{26E11578-935A-76BA-0FA6-A992F00D4DD1}"/>
                  </a:ext>
                </a:extLst>
              </p:cNvPr>
              <p:cNvSpPr txBox="1"/>
              <p:nvPr/>
            </p:nvSpPr>
            <p:spPr>
              <a:xfrm>
                <a:off x="560098" y="5360221"/>
                <a:ext cx="7155904" cy="634148"/>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a:ea typeface="Montserrat"/>
                    <a:cs typeface="Montserrat"/>
                    <a:sym typeface="Montserrat"/>
                  </a:rPr>
                  <a:t>Registros inmutables de todas las operaciones para trazabilidad completa, auditoría interna y cumplimiento regulatorio continuo.</a:t>
                </a:r>
              </a:p>
            </p:txBody>
          </p:sp>
        </p:grpSp>
        <p:pic>
          <p:nvPicPr>
            <p:cNvPr id="53" name="Imagen 52">
              <a:extLst>
                <a:ext uri="{FF2B5EF4-FFF2-40B4-BE49-F238E27FC236}">
                  <a16:creationId xmlns:a16="http://schemas.microsoft.com/office/drawing/2014/main" id="{9A5FEA59-EA7C-4C14-8126-34A254E66254}"/>
                </a:ext>
              </a:extLst>
            </p:cNvPr>
            <p:cNvPicPr>
              <a:picLocks noChangeAspect="1"/>
            </p:cNvPicPr>
            <p:nvPr/>
          </p:nvPicPr>
          <p:blipFill>
            <a:blip r:embed="rId14"/>
            <a:stretch>
              <a:fillRect/>
            </a:stretch>
          </p:blipFill>
          <p:spPr>
            <a:xfrm>
              <a:off x="23220" y="171034"/>
              <a:ext cx="533400" cy="285750"/>
            </a:xfrm>
            <a:prstGeom prst="rect">
              <a:avLst/>
            </a:prstGeom>
          </p:spPr>
        </p:pic>
        <p:pic>
          <p:nvPicPr>
            <p:cNvPr id="54" name="Imagen 53">
              <a:extLst>
                <a:ext uri="{FF2B5EF4-FFF2-40B4-BE49-F238E27FC236}">
                  <a16:creationId xmlns:a16="http://schemas.microsoft.com/office/drawing/2014/main" id="{23157A15-904B-66A2-3A6C-962F2CA18986}"/>
                </a:ext>
              </a:extLst>
            </p:cNvPr>
            <p:cNvPicPr>
              <a:picLocks noChangeAspect="1"/>
            </p:cNvPicPr>
            <p:nvPr/>
          </p:nvPicPr>
          <p:blipFill>
            <a:blip r:embed="rId14"/>
            <a:stretch>
              <a:fillRect/>
            </a:stretch>
          </p:blipFill>
          <p:spPr>
            <a:xfrm>
              <a:off x="75688" y="1937938"/>
              <a:ext cx="533400" cy="285750"/>
            </a:xfrm>
            <a:prstGeom prst="rect">
              <a:avLst/>
            </a:prstGeom>
          </p:spPr>
        </p:pic>
        <p:pic>
          <p:nvPicPr>
            <p:cNvPr id="55" name="Imagen 54">
              <a:extLst>
                <a:ext uri="{FF2B5EF4-FFF2-40B4-BE49-F238E27FC236}">
                  <a16:creationId xmlns:a16="http://schemas.microsoft.com/office/drawing/2014/main" id="{06699D57-940C-BDA5-CE4C-F1C7E4B6BD1A}"/>
                </a:ext>
              </a:extLst>
            </p:cNvPr>
            <p:cNvPicPr>
              <a:picLocks noChangeAspect="1"/>
            </p:cNvPicPr>
            <p:nvPr/>
          </p:nvPicPr>
          <p:blipFill>
            <a:blip r:embed="rId14"/>
            <a:stretch>
              <a:fillRect/>
            </a:stretch>
          </p:blipFill>
          <p:spPr>
            <a:xfrm>
              <a:off x="75688" y="3662688"/>
              <a:ext cx="533400" cy="285750"/>
            </a:xfrm>
            <a:prstGeom prst="rect">
              <a:avLst/>
            </a:prstGeom>
          </p:spPr>
        </p:pic>
        <p:pic>
          <p:nvPicPr>
            <p:cNvPr id="57" name="Imagen 56">
              <a:extLst>
                <a:ext uri="{FF2B5EF4-FFF2-40B4-BE49-F238E27FC236}">
                  <a16:creationId xmlns:a16="http://schemas.microsoft.com/office/drawing/2014/main" id="{67223A8D-5633-0290-72D4-8870DF618112}"/>
                </a:ext>
              </a:extLst>
            </p:cNvPr>
            <p:cNvPicPr>
              <a:picLocks noChangeAspect="1"/>
            </p:cNvPicPr>
            <p:nvPr/>
          </p:nvPicPr>
          <p:blipFill>
            <a:blip r:embed="rId14"/>
            <a:stretch>
              <a:fillRect/>
            </a:stretch>
          </p:blipFill>
          <p:spPr>
            <a:xfrm>
              <a:off x="75688" y="5499390"/>
              <a:ext cx="533400" cy="285750"/>
            </a:xfrm>
            <a:prstGeom prst="rect">
              <a:avLst/>
            </a:prstGeom>
          </p:spPr>
        </p:pic>
      </p:grpSp>
      <p:sp>
        <p:nvSpPr>
          <p:cNvPr id="68" name="Rectángulo 67">
            <a:extLst>
              <a:ext uri="{FF2B5EF4-FFF2-40B4-BE49-F238E27FC236}">
                <a16:creationId xmlns:a16="http://schemas.microsoft.com/office/drawing/2014/main" id="{422736E3-0A24-9AF5-D12F-82731844E226}"/>
              </a:ext>
            </a:extLst>
          </p:cNvPr>
          <p:cNvSpPr/>
          <p:nvPr/>
        </p:nvSpPr>
        <p:spPr>
          <a:xfrm>
            <a:off x="7371080" y="7383386"/>
            <a:ext cx="4318000" cy="68580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0" name="CuadroTexto 69">
            <a:extLst>
              <a:ext uri="{FF2B5EF4-FFF2-40B4-BE49-F238E27FC236}">
                <a16:creationId xmlns:a16="http://schemas.microsoft.com/office/drawing/2014/main" id="{B2AB48B6-6581-E459-3FC4-6C8F3954C31A}"/>
              </a:ext>
            </a:extLst>
          </p:cNvPr>
          <p:cNvSpPr txBox="1"/>
          <p:nvPr/>
        </p:nvSpPr>
        <p:spPr>
          <a:xfrm>
            <a:off x="7459980" y="7453077"/>
            <a:ext cx="6720114" cy="2092881"/>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Seguridad y Privacidad</a:t>
            </a:r>
          </a:p>
        </p:txBody>
      </p:sp>
      <p:sp>
        <p:nvSpPr>
          <p:cNvPr id="72" name="CuadroTexto 71">
            <a:extLst>
              <a:ext uri="{FF2B5EF4-FFF2-40B4-BE49-F238E27FC236}">
                <a16:creationId xmlns:a16="http://schemas.microsoft.com/office/drawing/2014/main" id="{BEAB5B54-C507-02A9-DFC5-C27B7387C94F}"/>
              </a:ext>
            </a:extLst>
          </p:cNvPr>
          <p:cNvSpPr txBox="1"/>
          <p:nvPr/>
        </p:nvSpPr>
        <p:spPr>
          <a:xfrm>
            <a:off x="8272213" y="13106284"/>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bg1">
                    <a:lumMod val="85000"/>
                  </a:schemeClr>
                </a:solidFill>
                <a:latin typeface="Montserrat Bold"/>
                <a:ea typeface="Montserrat Bold"/>
                <a:cs typeface="Montserrat Bold"/>
                <a:sym typeface="Montserrat Bold"/>
              </a:rPr>
              <a:t>Fut.Ai</a:t>
            </a:r>
          </a:p>
        </p:txBody>
      </p:sp>
      <p:pic>
        <p:nvPicPr>
          <p:cNvPr id="74" name="Imagen 73">
            <a:extLst>
              <a:ext uri="{FF2B5EF4-FFF2-40B4-BE49-F238E27FC236}">
                <a16:creationId xmlns:a16="http://schemas.microsoft.com/office/drawing/2014/main" id="{7CF06213-FA3B-A985-578D-D1507A3CD5B3}"/>
              </a:ext>
            </a:extLst>
          </p:cNvPr>
          <p:cNvPicPr>
            <a:picLocks noChangeAspect="1"/>
          </p:cNvPicPr>
          <p:nvPr/>
        </p:nvPicPr>
        <p:blipFill>
          <a:blip r:embed="rId4"/>
          <a:srcRect/>
          <a:stretch>
            <a:fillRect/>
          </a:stretch>
        </p:blipFill>
        <p:spPr>
          <a:xfrm>
            <a:off x="10083326" y="13308158"/>
            <a:ext cx="996664" cy="863537"/>
          </a:xfrm>
          <a:prstGeom prst="rect">
            <a:avLst/>
          </a:prstGeom>
        </p:spPr>
      </p:pic>
      <mc:AlternateContent xmlns:mc="http://schemas.openxmlformats.org/markup-compatibility/2006">
        <mc:Choice xmlns:am3d="http://schemas.microsoft.com/office/drawing/2017/model3d" Requires="am3d">
          <p:graphicFrame>
            <p:nvGraphicFramePr>
              <p:cNvPr id="19" name="Modelo 3D 18">
                <a:extLst>
                  <a:ext uri="{FF2B5EF4-FFF2-40B4-BE49-F238E27FC236}">
                    <a16:creationId xmlns:a16="http://schemas.microsoft.com/office/drawing/2014/main" id="{E9431968-9FA0-7F1A-250A-9250BD1F3E0D}"/>
                  </a:ext>
                </a:extLst>
              </p:cNvPr>
              <p:cNvGraphicFramePr>
                <a:graphicFrameLocks noChangeAspect="1"/>
              </p:cNvGraphicFramePr>
              <p:nvPr>
                <p:extLst>
                  <p:ext uri="{D42A27DB-BD31-4B8C-83A1-F6EECF244321}">
                    <p14:modId xmlns:p14="http://schemas.microsoft.com/office/powerpoint/2010/main" val="1177705432"/>
                  </p:ext>
                </p:extLst>
              </p:nvPr>
            </p:nvGraphicFramePr>
            <p:xfrm>
              <a:off x="483086" y="3357824"/>
              <a:ext cx="2273608" cy="2273608"/>
            </p:xfrm>
            <a:graphic>
              <a:graphicData uri="http://schemas.microsoft.com/office/drawing/2017/model3d">
                <am3d:model3d r:embed="rId15">
                  <am3d:spPr>
                    <a:xfrm>
                      <a:off x="0" y="0"/>
                      <a:ext cx="2273608" cy="2273608"/>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16200000"/>
                    <am3d:postTrans dx="0" dy="0" dz="0"/>
                  </am3d:trans>
                  <am3d:raster rName="Office3DRenderer" rVer="16.0.8326">
                    <am3d:blip r:embed="rId16"/>
                  </am3d:raster>
                  <am3d:objViewport viewportSz="58945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Modelo 3D 18">
                <a:extLst>
                  <a:ext uri="{FF2B5EF4-FFF2-40B4-BE49-F238E27FC236}">
                    <a16:creationId xmlns:a16="http://schemas.microsoft.com/office/drawing/2014/main" id="{E9431968-9FA0-7F1A-250A-9250BD1F3E0D}"/>
                  </a:ext>
                </a:extLst>
              </p:cNvPr>
              <p:cNvPicPr>
                <a:picLocks noGrp="1" noRot="1" noChangeAspect="1" noMove="1" noResize="1" noEditPoints="1" noAdjustHandles="1" noChangeArrowheads="1" noChangeShapeType="1" noCrop="1"/>
              </p:cNvPicPr>
              <p:nvPr/>
            </p:nvPicPr>
            <p:blipFill>
              <a:blip r:embed="rId16"/>
              <a:stretch>
                <a:fillRect/>
              </a:stretch>
            </p:blipFill>
            <p:spPr>
              <a:xfrm>
                <a:off x="483086" y="3357824"/>
                <a:ext cx="2273608" cy="2273608"/>
              </a:xfrm>
              <a:prstGeom prst="rect">
                <a:avLst/>
              </a:prstGeom>
            </p:spPr>
          </p:pic>
        </mc:Fallback>
      </mc:AlternateContent>
    </p:spTree>
    <p:extLst>
      <p:ext uri="{BB962C8B-B14F-4D97-AF65-F5344CB8AC3E}">
        <p14:creationId xmlns:p14="http://schemas.microsoft.com/office/powerpoint/2010/main" val="1219285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A6D5-0736-8D74-9DE5-EB3FAE615B3B}"/>
            </a:ext>
          </a:extLst>
        </p:cNvPr>
        <p:cNvGrpSpPr/>
        <p:nvPr/>
      </p:nvGrpSpPr>
      <p:grpSpPr>
        <a:xfrm>
          <a:off x="0" y="0"/>
          <a:ext cx="0" cy="0"/>
          <a:chOff x="0" y="0"/>
          <a:chExt cx="0" cy="0"/>
        </a:xfrm>
      </p:grpSpPr>
      <p:sp>
        <p:nvSpPr>
          <p:cNvPr id="11" name="TextBox 19">
            <a:extLst>
              <a:ext uri="{FF2B5EF4-FFF2-40B4-BE49-F238E27FC236}">
                <a16:creationId xmlns:a16="http://schemas.microsoft.com/office/drawing/2014/main" id="{B39B1410-E2DF-6135-9E75-7A91365BEDD5}"/>
              </a:ext>
            </a:extLst>
          </p:cNvPr>
          <p:cNvSpPr txBox="1"/>
          <p:nvPr/>
        </p:nvSpPr>
        <p:spPr>
          <a:xfrm>
            <a:off x="20129149" y="1408140"/>
            <a:ext cx="8569419" cy="1128032"/>
          </a:xfrm>
          <a:prstGeom prst="rect">
            <a:avLst/>
          </a:prstGeom>
        </p:spPr>
        <p:txBody>
          <a:bodyPr lIns="50800" tIns="50800" rIns="50800" bIns="50800" rtlCol="0" anchor="ctr"/>
          <a:lstStyle/>
          <a:p>
            <a:pPr marL="0" lvl="0" indent="0" algn="ctr">
              <a:lnSpc>
                <a:spcPts val="2659"/>
              </a:lnSpc>
            </a:pPr>
            <a:endParaRPr lang="es-CL" noProof="0" dirty="0"/>
          </a:p>
        </p:txBody>
      </p:sp>
      <p:pic>
        <p:nvPicPr>
          <p:cNvPr id="3" name="Imagen 2">
            <a:extLst>
              <a:ext uri="{FF2B5EF4-FFF2-40B4-BE49-F238E27FC236}">
                <a16:creationId xmlns:a16="http://schemas.microsoft.com/office/drawing/2014/main" id="{CC0A2863-E1E8-274A-083E-5A673345910A}"/>
              </a:ext>
            </a:extLst>
          </p:cNvPr>
          <p:cNvPicPr>
            <a:picLocks noChangeAspect="1"/>
          </p:cNvPicPr>
          <p:nvPr/>
        </p:nvPicPr>
        <p:blipFill>
          <a:blip r:embed="rId3"/>
          <a:srcRect/>
          <a:stretch>
            <a:fillRect/>
          </a:stretch>
        </p:blipFill>
        <p:spPr>
          <a:xfrm rot="2371640" flipV="1">
            <a:off x="-4461616" y="-17809328"/>
            <a:ext cx="14273822" cy="11655629"/>
          </a:xfrm>
          <a:prstGeom prst="rect">
            <a:avLst/>
          </a:prstGeom>
        </p:spPr>
      </p:pic>
      <p:sp>
        <p:nvSpPr>
          <p:cNvPr id="9" name="AutoShape 6">
            <a:extLst>
              <a:ext uri="{FF2B5EF4-FFF2-40B4-BE49-F238E27FC236}">
                <a16:creationId xmlns:a16="http://schemas.microsoft.com/office/drawing/2014/main" id="{26616DF4-89EA-3F47-8E63-2AF53767FB03}"/>
              </a:ext>
            </a:extLst>
          </p:cNvPr>
          <p:cNvSpPr/>
          <p:nvPr/>
        </p:nvSpPr>
        <p:spPr>
          <a:xfrm>
            <a:off x="6238949" y="-9937226"/>
            <a:ext cx="0" cy="5264032"/>
          </a:xfrm>
          <a:prstGeom prst="line">
            <a:avLst/>
          </a:prstGeom>
          <a:ln w="19050" cap="rnd">
            <a:solidFill>
              <a:srgbClr val="FFFFFF"/>
            </a:solidFill>
            <a:prstDash val="solid"/>
            <a:headEnd type="none" w="sm" len="sm"/>
            <a:tailEnd type="none" w="sm" len="sm"/>
          </a:ln>
        </p:spPr>
        <p:txBody>
          <a:bodyPr/>
          <a:lstStyle/>
          <a:p>
            <a:endParaRPr lang="es-CL" sz="1200" noProof="0" dirty="0"/>
          </a:p>
        </p:txBody>
      </p:sp>
      <p:grpSp>
        <p:nvGrpSpPr>
          <p:cNvPr id="40" name="Group 16">
            <a:extLst>
              <a:ext uri="{FF2B5EF4-FFF2-40B4-BE49-F238E27FC236}">
                <a16:creationId xmlns:a16="http://schemas.microsoft.com/office/drawing/2014/main" id="{92141AFE-612F-F35E-E6CD-B60AB2447422}"/>
              </a:ext>
            </a:extLst>
          </p:cNvPr>
          <p:cNvGrpSpPr/>
          <p:nvPr/>
        </p:nvGrpSpPr>
        <p:grpSpPr>
          <a:xfrm>
            <a:off x="6545916" y="-10285726"/>
            <a:ext cx="5660648" cy="1781197"/>
            <a:chOff x="0" y="-9525"/>
            <a:chExt cx="10406234" cy="1568138"/>
          </a:xfrm>
        </p:grpSpPr>
        <p:sp>
          <p:nvSpPr>
            <p:cNvPr id="41" name="TextBox 17">
              <a:extLst>
                <a:ext uri="{FF2B5EF4-FFF2-40B4-BE49-F238E27FC236}">
                  <a16:creationId xmlns:a16="http://schemas.microsoft.com/office/drawing/2014/main" id="{767EF242-EDA0-6AFE-FAB6-CBD126BA2485}"/>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OCLUSIÓN SEVERA</a:t>
              </a:r>
            </a:p>
          </p:txBody>
        </p:sp>
        <p:sp>
          <p:nvSpPr>
            <p:cNvPr id="42" name="TextBox 18">
              <a:extLst>
                <a:ext uri="{FF2B5EF4-FFF2-40B4-BE49-F238E27FC236}">
                  <a16:creationId xmlns:a16="http://schemas.microsoft.com/office/drawing/2014/main" id="{8EF43FA0-9029-DF5C-CAA4-43F150779928}"/>
                </a:ext>
              </a:extLst>
            </p:cNvPr>
            <p:cNvSpPr txBox="1"/>
            <p:nvPr/>
          </p:nvSpPr>
          <p:spPr>
            <a:xfrm>
              <a:off x="0" y="713083"/>
              <a:ext cx="9541205"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Tracking inercial + validación por color y textura de camiseta para mantener identidad del jugador en situaciones de contacto.</a:t>
              </a:r>
            </a:p>
          </p:txBody>
        </p:sp>
      </p:grpSp>
      <p:grpSp>
        <p:nvGrpSpPr>
          <p:cNvPr id="43" name="Group 19">
            <a:extLst>
              <a:ext uri="{FF2B5EF4-FFF2-40B4-BE49-F238E27FC236}">
                <a16:creationId xmlns:a16="http://schemas.microsoft.com/office/drawing/2014/main" id="{4C58EDDB-131A-E3B8-6AB8-AFEA2E0DD569}"/>
              </a:ext>
            </a:extLst>
          </p:cNvPr>
          <p:cNvGrpSpPr/>
          <p:nvPr/>
        </p:nvGrpSpPr>
        <p:grpSpPr>
          <a:xfrm>
            <a:off x="6545916" y="-8178219"/>
            <a:ext cx="5827759" cy="1720836"/>
            <a:chOff x="0" y="-9525"/>
            <a:chExt cx="10406234" cy="1568138"/>
          </a:xfrm>
        </p:grpSpPr>
        <p:sp>
          <p:nvSpPr>
            <p:cNvPr id="44" name="TextBox 20">
              <a:extLst>
                <a:ext uri="{FF2B5EF4-FFF2-40B4-BE49-F238E27FC236}">
                  <a16:creationId xmlns:a16="http://schemas.microsoft.com/office/drawing/2014/main" id="{365B1867-3CBF-1DBA-2D90-5AB256128B0B}"/>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COSTOS GPU</a:t>
              </a:r>
            </a:p>
          </p:txBody>
        </p:sp>
        <p:sp>
          <p:nvSpPr>
            <p:cNvPr id="45" name="TextBox 21">
              <a:extLst>
                <a:ext uri="{FF2B5EF4-FFF2-40B4-BE49-F238E27FC236}">
                  <a16:creationId xmlns:a16="http://schemas.microsoft.com/office/drawing/2014/main" id="{91CFCE93-2568-0F09-45B8-60CA0A0B736E}"/>
                </a:ext>
              </a:extLst>
            </p:cNvPr>
            <p:cNvSpPr txBox="1"/>
            <p:nvPr/>
          </p:nvSpPr>
          <p:spPr>
            <a:xfrm>
              <a:off x="0" y="713083"/>
              <a:ext cx="9541205"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Smart </a:t>
              </a:r>
              <a:r>
                <a:rPr lang="es-CL" sz="1600" noProof="0" dirty="0" err="1">
                  <a:solidFill>
                    <a:schemeClr val="tx1">
                      <a:lumMod val="85000"/>
                      <a:lumOff val="15000"/>
                    </a:schemeClr>
                  </a:solidFill>
                  <a:latin typeface="Montserrat"/>
                  <a:ea typeface="Montserrat"/>
                  <a:cs typeface="Montserrat"/>
                  <a:sym typeface="Montserrat"/>
                </a:rPr>
                <a:t>Sampling</a:t>
              </a:r>
              <a:r>
                <a:rPr lang="es-CL" sz="1600" noProof="0" dirty="0">
                  <a:solidFill>
                    <a:schemeClr val="tx1">
                      <a:lumMod val="85000"/>
                      <a:lumOff val="15000"/>
                    </a:schemeClr>
                  </a:solidFill>
                  <a:latin typeface="Montserrat"/>
                  <a:ea typeface="Montserrat"/>
                  <a:cs typeface="Montserrat"/>
                  <a:sym typeface="Montserrat"/>
                </a:rPr>
                <a:t> (5-10 FPS) y pausado automático en balón muerto reducen hasta un 60% el costo computacional por partido.</a:t>
              </a:r>
            </a:p>
          </p:txBody>
        </p:sp>
      </p:grpSp>
      <p:grpSp>
        <p:nvGrpSpPr>
          <p:cNvPr id="46" name="Group 22">
            <a:extLst>
              <a:ext uri="{FF2B5EF4-FFF2-40B4-BE49-F238E27FC236}">
                <a16:creationId xmlns:a16="http://schemas.microsoft.com/office/drawing/2014/main" id="{12F75B00-DAFA-7267-7764-68666C38C6B7}"/>
              </a:ext>
            </a:extLst>
          </p:cNvPr>
          <p:cNvGrpSpPr/>
          <p:nvPr/>
        </p:nvGrpSpPr>
        <p:grpSpPr>
          <a:xfrm>
            <a:off x="6545916" y="-6080628"/>
            <a:ext cx="5946529" cy="1832635"/>
            <a:chOff x="0" y="-9525"/>
            <a:chExt cx="10406234" cy="1519395"/>
          </a:xfrm>
        </p:grpSpPr>
        <p:sp>
          <p:nvSpPr>
            <p:cNvPr id="47" name="TextBox 23">
              <a:extLst>
                <a:ext uri="{FF2B5EF4-FFF2-40B4-BE49-F238E27FC236}">
                  <a16:creationId xmlns:a16="http://schemas.microsoft.com/office/drawing/2014/main" id="{0A01D07A-3270-D190-3F58-F69B730BBF48}"/>
                </a:ext>
              </a:extLst>
            </p:cNvPr>
            <p:cNvSpPr txBox="1"/>
            <p:nvPr/>
          </p:nvSpPr>
          <p:spPr>
            <a:xfrm>
              <a:off x="0" y="-9525"/>
              <a:ext cx="10406234" cy="588708"/>
            </a:xfrm>
            <a:prstGeom prst="rect">
              <a:avLst/>
            </a:prstGeom>
          </p:spPr>
          <p:txBody>
            <a:bodyPr lIns="0" tIns="0" rIns="0" bIns="0" rtlCol="0" anchor="t">
              <a:spAutoFit/>
            </a:bodyPr>
            <a:lstStyle/>
            <a:p>
              <a:pPr marL="0" lvl="0" indent="0" algn="l">
                <a:lnSpc>
                  <a:spcPts val="3764"/>
                </a:lnSpc>
                <a:spcBef>
                  <a:spcPct val="0"/>
                </a:spcBef>
              </a:pPr>
              <a:r>
                <a:rPr lang="es-CL" sz="2000" b="1" noProof="0" dirty="0">
                  <a:solidFill>
                    <a:schemeClr val="tx1">
                      <a:lumMod val="85000"/>
                      <a:lumOff val="15000"/>
                    </a:schemeClr>
                  </a:solidFill>
                  <a:latin typeface="Montserrat Bold"/>
                  <a:ea typeface="Montserrat Bold"/>
                  <a:cs typeface="Montserrat Bold"/>
                  <a:sym typeface="Montserrat Bold"/>
                </a:rPr>
                <a:t>CALIDAD DE VIDEO</a:t>
              </a:r>
            </a:p>
          </p:txBody>
        </p:sp>
        <p:sp>
          <p:nvSpPr>
            <p:cNvPr id="48" name="TextBox 24">
              <a:extLst>
                <a:ext uri="{FF2B5EF4-FFF2-40B4-BE49-F238E27FC236}">
                  <a16:creationId xmlns:a16="http://schemas.microsoft.com/office/drawing/2014/main" id="{840AB037-6D0B-DDDB-E3F7-C7010DF93703}"/>
                </a:ext>
              </a:extLst>
            </p:cNvPr>
            <p:cNvSpPr txBox="1"/>
            <p:nvPr/>
          </p:nvSpPr>
          <p:spPr>
            <a:xfrm>
              <a:off x="0" y="664340"/>
              <a:ext cx="9541206" cy="845530"/>
            </a:xfrm>
            <a:prstGeom prst="rect">
              <a:avLst/>
            </a:prstGeom>
          </p:spPr>
          <p:txBody>
            <a:bodyPr lIns="0" tIns="0" rIns="0" bIns="0" rtlCol="0" anchor="t">
              <a:spAutoFit/>
            </a:bodyPr>
            <a:lstStyle/>
            <a:p>
              <a:pPr marL="0" lvl="0" indent="0" algn="just">
                <a:lnSpc>
                  <a:spcPts val="2564"/>
                </a:lnSpc>
                <a:spcBef>
                  <a:spcPct val="0"/>
                </a:spcBef>
              </a:pPr>
              <a:r>
                <a:rPr lang="es-CL" sz="1600" noProof="0" dirty="0">
                  <a:solidFill>
                    <a:schemeClr val="tx1">
                      <a:lumMod val="85000"/>
                      <a:lumOff val="15000"/>
                    </a:schemeClr>
                  </a:solidFill>
                  <a:latin typeface="Montserrat"/>
                  <a:ea typeface="Montserrat"/>
                  <a:cs typeface="Montserrat"/>
                  <a:sym typeface="Montserrat"/>
                </a:rPr>
                <a:t>Manual de Grabación obligatorio en términos de servicio y validación continua con pruebas piloto para ajuste de modelos.</a:t>
              </a:r>
            </a:p>
          </p:txBody>
        </p:sp>
      </p:grpSp>
      <p:sp>
        <p:nvSpPr>
          <p:cNvPr id="56" name="Freeform 8">
            <a:extLst>
              <a:ext uri="{FF2B5EF4-FFF2-40B4-BE49-F238E27FC236}">
                <a16:creationId xmlns:a16="http://schemas.microsoft.com/office/drawing/2014/main" id="{8B9E744B-C725-08BF-AA1C-E53B9D503865}"/>
              </a:ext>
            </a:extLst>
          </p:cNvPr>
          <p:cNvSpPr/>
          <p:nvPr/>
        </p:nvSpPr>
        <p:spPr>
          <a:xfrm>
            <a:off x="6024135" y="-8206554"/>
            <a:ext cx="575759" cy="513570"/>
          </a:xfrm>
          <a:custGeom>
            <a:avLst/>
            <a:gdLst/>
            <a:ahLst/>
            <a:cxnLst/>
            <a:rect l="l" t="t" r="r" b="b"/>
            <a:pathLst>
              <a:path w="812800" h="844598">
                <a:moveTo>
                  <a:pt x="406400" y="0"/>
                </a:moveTo>
                <a:cubicBezTo>
                  <a:pt x="181951" y="0"/>
                  <a:pt x="0" y="189070"/>
                  <a:pt x="0" y="422299"/>
                </a:cubicBezTo>
                <a:cubicBezTo>
                  <a:pt x="0" y="655528"/>
                  <a:pt x="181951" y="844598"/>
                  <a:pt x="406400" y="844598"/>
                </a:cubicBezTo>
                <a:cubicBezTo>
                  <a:pt x="630849" y="844598"/>
                  <a:pt x="812800" y="655528"/>
                  <a:pt x="812800" y="422299"/>
                </a:cubicBezTo>
                <a:cubicBezTo>
                  <a:pt x="812800" y="189070"/>
                  <a:pt x="630849" y="0"/>
                  <a:pt x="406400" y="0"/>
                </a:cubicBezTo>
                <a:close/>
              </a:path>
            </a:pathLst>
          </a:custGeom>
          <a:noFill/>
        </p:spPr>
        <p:txBody>
          <a:bodyPr/>
          <a:lstStyle/>
          <a:p>
            <a:endParaRPr lang="es-CL" sz="1200" noProof="0" dirty="0">
              <a:solidFill>
                <a:schemeClr val="tx1">
                  <a:lumMod val="85000"/>
                  <a:lumOff val="15000"/>
                </a:schemeClr>
              </a:solidFill>
            </a:endParaRPr>
          </a:p>
        </p:txBody>
      </p:sp>
      <p:sp>
        <p:nvSpPr>
          <p:cNvPr id="66" name="Freeform 8">
            <a:extLst>
              <a:ext uri="{FF2B5EF4-FFF2-40B4-BE49-F238E27FC236}">
                <a16:creationId xmlns:a16="http://schemas.microsoft.com/office/drawing/2014/main" id="{BB415E7D-6C45-F43E-0467-6C722F04D750}"/>
              </a:ext>
            </a:extLst>
          </p:cNvPr>
          <p:cNvSpPr/>
          <p:nvPr/>
        </p:nvSpPr>
        <p:spPr>
          <a:xfrm>
            <a:off x="6024135" y="-6101604"/>
            <a:ext cx="575759" cy="513570"/>
          </a:xfrm>
          <a:custGeom>
            <a:avLst/>
            <a:gdLst/>
            <a:ahLst/>
            <a:cxnLst/>
            <a:rect l="l" t="t" r="r" b="b"/>
            <a:pathLst>
              <a:path w="812800" h="844598">
                <a:moveTo>
                  <a:pt x="406400" y="0"/>
                </a:moveTo>
                <a:cubicBezTo>
                  <a:pt x="181951" y="0"/>
                  <a:pt x="0" y="189070"/>
                  <a:pt x="0" y="422299"/>
                </a:cubicBezTo>
                <a:cubicBezTo>
                  <a:pt x="0" y="655528"/>
                  <a:pt x="181951" y="844598"/>
                  <a:pt x="406400" y="844598"/>
                </a:cubicBezTo>
                <a:cubicBezTo>
                  <a:pt x="630849" y="844598"/>
                  <a:pt x="812800" y="655528"/>
                  <a:pt x="812800" y="422299"/>
                </a:cubicBezTo>
                <a:cubicBezTo>
                  <a:pt x="812800" y="189070"/>
                  <a:pt x="630849" y="0"/>
                  <a:pt x="406400" y="0"/>
                </a:cubicBezTo>
                <a:close/>
              </a:path>
            </a:pathLst>
          </a:custGeom>
          <a:noFill/>
        </p:spPr>
        <p:txBody>
          <a:bodyPr/>
          <a:lstStyle/>
          <a:p>
            <a:endParaRPr lang="es-CL" sz="1200" noProof="0" dirty="0">
              <a:solidFill>
                <a:schemeClr val="tx1">
                  <a:lumMod val="85000"/>
                  <a:lumOff val="15000"/>
                </a:schemeClr>
              </a:solidFill>
            </a:endParaRPr>
          </a:p>
        </p:txBody>
      </p:sp>
      <p:pic>
        <p:nvPicPr>
          <p:cNvPr id="4" name="Imagen 3">
            <a:extLst>
              <a:ext uri="{FF2B5EF4-FFF2-40B4-BE49-F238E27FC236}">
                <a16:creationId xmlns:a16="http://schemas.microsoft.com/office/drawing/2014/main" id="{878714AA-F38A-E690-97B9-560117E81CD3}"/>
              </a:ext>
            </a:extLst>
          </p:cNvPr>
          <p:cNvPicPr>
            <a:picLocks noChangeAspect="1"/>
          </p:cNvPicPr>
          <p:nvPr/>
        </p:nvPicPr>
        <p:blipFill>
          <a:blip r:embed="rId4"/>
          <a:stretch>
            <a:fillRect/>
          </a:stretch>
        </p:blipFill>
        <p:spPr>
          <a:xfrm>
            <a:off x="5972249" y="-10190054"/>
            <a:ext cx="533400" cy="285750"/>
          </a:xfrm>
          <a:prstGeom prst="rect">
            <a:avLst/>
          </a:prstGeom>
        </p:spPr>
      </p:pic>
      <p:pic>
        <p:nvPicPr>
          <p:cNvPr id="10" name="Imagen 9">
            <a:extLst>
              <a:ext uri="{FF2B5EF4-FFF2-40B4-BE49-F238E27FC236}">
                <a16:creationId xmlns:a16="http://schemas.microsoft.com/office/drawing/2014/main" id="{10C5BC80-8125-55F1-C22B-7453A1195421}"/>
              </a:ext>
            </a:extLst>
          </p:cNvPr>
          <p:cNvPicPr>
            <a:picLocks noChangeAspect="1"/>
          </p:cNvPicPr>
          <p:nvPr/>
        </p:nvPicPr>
        <p:blipFill>
          <a:blip r:embed="rId4"/>
          <a:stretch>
            <a:fillRect/>
          </a:stretch>
        </p:blipFill>
        <p:spPr>
          <a:xfrm>
            <a:off x="5972249" y="-8088796"/>
            <a:ext cx="533400" cy="285750"/>
          </a:xfrm>
          <a:prstGeom prst="rect">
            <a:avLst/>
          </a:prstGeom>
        </p:spPr>
      </p:pic>
      <p:pic>
        <p:nvPicPr>
          <p:cNvPr id="15" name="Imagen 14">
            <a:extLst>
              <a:ext uri="{FF2B5EF4-FFF2-40B4-BE49-F238E27FC236}">
                <a16:creationId xmlns:a16="http://schemas.microsoft.com/office/drawing/2014/main" id="{35E29C20-28FB-D871-58BA-3D1F1D7ABF2F}"/>
              </a:ext>
            </a:extLst>
          </p:cNvPr>
          <p:cNvPicPr>
            <a:picLocks noChangeAspect="1"/>
          </p:cNvPicPr>
          <p:nvPr/>
        </p:nvPicPr>
        <p:blipFill>
          <a:blip r:embed="rId4"/>
          <a:stretch>
            <a:fillRect/>
          </a:stretch>
        </p:blipFill>
        <p:spPr>
          <a:xfrm>
            <a:off x="5972249" y="-5956595"/>
            <a:ext cx="533400" cy="285750"/>
          </a:xfrm>
          <a:prstGeom prst="rect">
            <a:avLst/>
          </a:prstGeom>
        </p:spPr>
      </p:pic>
      <p:sp>
        <p:nvSpPr>
          <p:cNvPr id="90" name="Rectángulo 89">
            <a:extLst>
              <a:ext uri="{FF2B5EF4-FFF2-40B4-BE49-F238E27FC236}">
                <a16:creationId xmlns:a16="http://schemas.microsoft.com/office/drawing/2014/main" id="{0C1FFBB4-685F-525E-28B9-D79A4FCDF76F}"/>
              </a:ext>
            </a:extLst>
          </p:cNvPr>
          <p:cNvSpPr/>
          <p:nvPr/>
        </p:nvSpPr>
        <p:spPr>
          <a:xfrm>
            <a:off x="7874001" y="0"/>
            <a:ext cx="4318000" cy="68580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187C7926-5C6F-37E0-758F-E78305084E10}"/>
              </a:ext>
            </a:extLst>
          </p:cNvPr>
          <p:cNvSpPr txBox="1"/>
          <p:nvPr/>
        </p:nvSpPr>
        <p:spPr>
          <a:xfrm>
            <a:off x="7962901" y="69691"/>
            <a:ext cx="6720114" cy="2092881"/>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Seguridad y</a:t>
            </a:r>
          </a:p>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Costos</a:t>
            </a:r>
          </a:p>
        </p:txBody>
      </p:sp>
      <p:sp>
        <p:nvSpPr>
          <p:cNvPr id="92" name="CuadroTexto 91">
            <a:extLst>
              <a:ext uri="{FF2B5EF4-FFF2-40B4-BE49-F238E27FC236}">
                <a16:creationId xmlns:a16="http://schemas.microsoft.com/office/drawing/2014/main" id="{3086A0A1-E036-81EC-71FB-404F11FAA95F}"/>
              </a:ext>
            </a:extLst>
          </p:cNvPr>
          <p:cNvSpPr txBox="1"/>
          <p:nvPr/>
        </p:nvSpPr>
        <p:spPr>
          <a:xfrm>
            <a:off x="8775134" y="5722898"/>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bg1">
                    <a:lumMod val="85000"/>
                  </a:schemeClr>
                </a:solidFill>
                <a:latin typeface="Montserrat Bold"/>
                <a:ea typeface="Montserrat Bold"/>
                <a:cs typeface="Montserrat Bold"/>
                <a:sym typeface="Montserrat Bold"/>
              </a:rPr>
              <a:t>Fut.Ai</a:t>
            </a:r>
          </a:p>
        </p:txBody>
      </p:sp>
      <p:pic>
        <p:nvPicPr>
          <p:cNvPr id="94" name="Imagen 93">
            <a:extLst>
              <a:ext uri="{FF2B5EF4-FFF2-40B4-BE49-F238E27FC236}">
                <a16:creationId xmlns:a16="http://schemas.microsoft.com/office/drawing/2014/main" id="{69D36F9D-7B40-8766-76C3-F718F6308642}"/>
              </a:ext>
            </a:extLst>
          </p:cNvPr>
          <p:cNvPicPr>
            <a:picLocks noChangeAspect="1"/>
          </p:cNvPicPr>
          <p:nvPr/>
        </p:nvPicPr>
        <p:blipFill>
          <a:blip r:embed="rId5"/>
          <a:srcRect/>
          <a:stretch>
            <a:fillRect/>
          </a:stretch>
        </p:blipFill>
        <p:spPr>
          <a:xfrm>
            <a:off x="10586247" y="5924772"/>
            <a:ext cx="996664" cy="863537"/>
          </a:xfrm>
          <a:prstGeom prst="rect">
            <a:avLst/>
          </a:prstGeom>
        </p:spPr>
      </p:pic>
      <p:grpSp>
        <p:nvGrpSpPr>
          <p:cNvPr id="120" name="Grupo 119">
            <a:extLst>
              <a:ext uri="{FF2B5EF4-FFF2-40B4-BE49-F238E27FC236}">
                <a16:creationId xmlns:a16="http://schemas.microsoft.com/office/drawing/2014/main" id="{46866A00-EC88-9B0D-429D-A61325BDA1BD}"/>
              </a:ext>
            </a:extLst>
          </p:cNvPr>
          <p:cNvGrpSpPr/>
          <p:nvPr/>
        </p:nvGrpSpPr>
        <p:grpSpPr>
          <a:xfrm>
            <a:off x="23220" y="69691"/>
            <a:ext cx="7692781" cy="6496307"/>
            <a:chOff x="23220" y="69691"/>
            <a:chExt cx="7692781" cy="6496307"/>
          </a:xfrm>
        </p:grpSpPr>
        <p:grpSp>
          <p:nvGrpSpPr>
            <p:cNvPr id="111" name="Grupo 110">
              <a:extLst>
                <a:ext uri="{FF2B5EF4-FFF2-40B4-BE49-F238E27FC236}">
                  <a16:creationId xmlns:a16="http://schemas.microsoft.com/office/drawing/2014/main" id="{D9CE17D2-9E28-1D08-90EA-2577BFBCDF98}"/>
                </a:ext>
              </a:extLst>
            </p:cNvPr>
            <p:cNvGrpSpPr/>
            <p:nvPr/>
          </p:nvGrpSpPr>
          <p:grpSpPr>
            <a:xfrm>
              <a:off x="609088" y="69691"/>
              <a:ext cx="7106913" cy="6496307"/>
              <a:chOff x="560098" y="1019696"/>
              <a:chExt cx="7182719" cy="4810068"/>
            </a:xfrm>
          </p:grpSpPr>
          <p:sp>
            <p:nvSpPr>
              <p:cNvPr id="96" name="TextBox 5">
                <a:extLst>
                  <a:ext uri="{FF2B5EF4-FFF2-40B4-BE49-F238E27FC236}">
                    <a16:creationId xmlns:a16="http://schemas.microsoft.com/office/drawing/2014/main" id="{A1EA0B25-F155-2509-2484-F3A06618F0FC}"/>
                  </a:ext>
                </a:extLst>
              </p:cNvPr>
              <p:cNvSpPr txBox="1"/>
              <p:nvPr/>
            </p:nvSpPr>
            <p:spPr>
              <a:xfrm>
                <a:off x="586913" y="1019696"/>
                <a:ext cx="7132320" cy="317523"/>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panose="00000800000000000000" pitchFamily="2" charset="0"/>
                    <a:ea typeface="Montserrat Bold"/>
                    <a:cs typeface="Montserrat Bold"/>
                    <a:sym typeface="Montserrat Bold"/>
                  </a:rPr>
                  <a:t>MÍNIMO PRIVILEGIO</a:t>
                </a:r>
              </a:p>
            </p:txBody>
          </p:sp>
          <p:sp>
            <p:nvSpPr>
              <p:cNvPr id="98" name="TextBox 6">
                <a:extLst>
                  <a:ext uri="{FF2B5EF4-FFF2-40B4-BE49-F238E27FC236}">
                    <a16:creationId xmlns:a16="http://schemas.microsoft.com/office/drawing/2014/main" id="{DD99087E-D35C-4325-AF66-884BFB3C98C4}"/>
                  </a:ext>
                </a:extLst>
              </p:cNvPr>
              <p:cNvSpPr txBox="1"/>
              <p:nvPr/>
            </p:nvSpPr>
            <p:spPr>
              <a:xfrm>
                <a:off x="586913" y="2294376"/>
                <a:ext cx="7132320" cy="317523"/>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panose="00000800000000000000" pitchFamily="2" charset="0"/>
                    <a:ea typeface="Montserrat Bold"/>
                    <a:cs typeface="Montserrat Bold"/>
                    <a:sym typeface="Montserrat Bold"/>
                  </a:rPr>
                  <a:t>SECRETOS PROTEGIDOS</a:t>
                </a:r>
              </a:p>
            </p:txBody>
          </p:sp>
          <p:sp>
            <p:nvSpPr>
              <p:cNvPr id="100" name="TextBox 7">
                <a:extLst>
                  <a:ext uri="{FF2B5EF4-FFF2-40B4-BE49-F238E27FC236}">
                    <a16:creationId xmlns:a16="http://schemas.microsoft.com/office/drawing/2014/main" id="{BD8C5114-E7BF-4BEB-1CC1-59FF59719755}"/>
                  </a:ext>
                </a:extLst>
              </p:cNvPr>
              <p:cNvSpPr txBox="1"/>
              <p:nvPr/>
            </p:nvSpPr>
            <p:spPr>
              <a:xfrm>
                <a:off x="586913" y="3612881"/>
                <a:ext cx="7132320" cy="317523"/>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panose="00000800000000000000" pitchFamily="2" charset="0"/>
                    <a:ea typeface="Montserrat Bold"/>
                    <a:cs typeface="Montserrat Bold"/>
                    <a:sym typeface="Montserrat Bold"/>
                  </a:rPr>
                  <a:t>DATOS PRIVADOS</a:t>
                </a:r>
              </a:p>
            </p:txBody>
          </p:sp>
          <p:sp>
            <p:nvSpPr>
              <p:cNvPr id="102" name="TextBox 8">
                <a:extLst>
                  <a:ext uri="{FF2B5EF4-FFF2-40B4-BE49-F238E27FC236}">
                    <a16:creationId xmlns:a16="http://schemas.microsoft.com/office/drawing/2014/main" id="{748D86EB-B24E-0F66-D1AA-C4A5D3660DF5}"/>
                  </a:ext>
                </a:extLst>
              </p:cNvPr>
              <p:cNvSpPr txBox="1"/>
              <p:nvPr/>
            </p:nvSpPr>
            <p:spPr>
              <a:xfrm>
                <a:off x="586913" y="4931386"/>
                <a:ext cx="7132320" cy="317523"/>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panose="00000800000000000000" pitchFamily="2" charset="0"/>
                    <a:ea typeface="Montserrat Bold"/>
                    <a:cs typeface="Montserrat Bold"/>
                    <a:sym typeface="Montserrat Bold"/>
                  </a:rPr>
                  <a:t>COSTOS BAJO CONTROL</a:t>
                </a:r>
              </a:p>
            </p:txBody>
          </p:sp>
          <p:sp>
            <p:nvSpPr>
              <p:cNvPr id="104" name="TextBox 9">
                <a:extLst>
                  <a:ext uri="{FF2B5EF4-FFF2-40B4-BE49-F238E27FC236}">
                    <a16:creationId xmlns:a16="http://schemas.microsoft.com/office/drawing/2014/main" id="{98FB722D-008E-2541-775C-FB476A6BB78A}"/>
                  </a:ext>
                </a:extLst>
              </p:cNvPr>
              <p:cNvSpPr txBox="1"/>
              <p:nvPr/>
            </p:nvSpPr>
            <p:spPr>
              <a:xfrm>
                <a:off x="586913" y="1564028"/>
                <a:ext cx="7155904" cy="469543"/>
              </a:xfrm>
              <a:prstGeom prst="rect">
                <a:avLst/>
              </a:prstGeom>
            </p:spPr>
            <p:txBody>
              <a:bodyPr lIns="0" tIns="0" rIns="0" bIns="0" rtlCol="0" anchor="t">
                <a:spAutoFit/>
              </a:bodyPr>
              <a:lstStyle/>
              <a:p>
                <a:pPr marL="0" lvl="0" indent="0" algn="just">
                  <a:lnSpc>
                    <a:spcPts val="2564"/>
                  </a:lnSpc>
                  <a:spcBef>
                    <a:spcPct val="0"/>
                  </a:spcBef>
                </a:pPr>
                <a:r>
                  <a:rPr lang="es-CL" sz="1600" u="none" strike="noStrike" noProof="0" dirty="0" err="1">
                    <a:latin typeface="Montserrat" panose="00000500000000000000" pitchFamily="2" charset="0"/>
                    <a:ea typeface="Montserrat"/>
                    <a:cs typeface="Montserrat"/>
                    <a:sym typeface="Montserrat"/>
                  </a:rPr>
                  <a:t>Tres cuentas de servicio (worker, API y entrenamiento), cada una solo con los permisos que usa.</a:t>
                </a:r>
              </a:p>
            </p:txBody>
          </p:sp>
          <p:sp>
            <p:nvSpPr>
              <p:cNvPr id="106" name="TextBox 10">
                <a:extLst>
                  <a:ext uri="{FF2B5EF4-FFF2-40B4-BE49-F238E27FC236}">
                    <a16:creationId xmlns:a16="http://schemas.microsoft.com/office/drawing/2014/main" id="{D1A2728E-C24B-0DE9-A783-CFD54E293D4E}"/>
                  </a:ext>
                </a:extLst>
              </p:cNvPr>
              <p:cNvSpPr txBox="1"/>
              <p:nvPr/>
            </p:nvSpPr>
            <p:spPr>
              <a:xfrm>
                <a:off x="586913" y="2770183"/>
                <a:ext cx="7155904" cy="469543"/>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panose="00000500000000000000" pitchFamily="2" charset="0"/>
                    <a:ea typeface="Montserrat"/>
                    <a:cs typeface="Montserrat"/>
                    <a:sym typeface="Montserrat"/>
                  </a:rPr>
                  <a:t>La contraseña de la base vive solo en Secret Manager. No hay llaves descargadas ni claves en el código.</a:t>
                </a:r>
              </a:p>
            </p:txBody>
          </p:sp>
          <p:sp>
            <p:nvSpPr>
              <p:cNvPr id="108" name="TextBox 11">
                <a:extLst>
                  <a:ext uri="{FF2B5EF4-FFF2-40B4-BE49-F238E27FC236}">
                    <a16:creationId xmlns:a16="http://schemas.microsoft.com/office/drawing/2014/main" id="{EBE27F75-FFFF-B86D-DE68-6D3ADF02D4E4}"/>
                  </a:ext>
                </a:extLst>
              </p:cNvPr>
              <p:cNvSpPr txBox="1"/>
              <p:nvPr/>
            </p:nvSpPr>
            <p:spPr>
              <a:xfrm>
                <a:off x="586913" y="4091441"/>
                <a:ext cx="7155904" cy="469543"/>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panose="00000500000000000000" pitchFamily="2" charset="0"/>
                    <a:ea typeface="Montserrat"/>
                    <a:cs typeface="Montserrat"/>
                    <a:sym typeface="Montserrat"/>
                  </a:rPr>
                  <a:t>Buckets sin acceso público y base sin redes autorizadas: solo entra el conector de Cloud SQL.</a:t>
                </a:r>
              </a:p>
            </p:txBody>
          </p:sp>
          <p:sp>
            <p:nvSpPr>
              <p:cNvPr id="110" name="TextBox 12">
                <a:extLst>
                  <a:ext uri="{FF2B5EF4-FFF2-40B4-BE49-F238E27FC236}">
                    <a16:creationId xmlns:a16="http://schemas.microsoft.com/office/drawing/2014/main" id="{BE3D3AC8-87A0-4845-76DF-40F5E0CA6978}"/>
                  </a:ext>
                </a:extLst>
              </p:cNvPr>
              <p:cNvSpPr txBox="1"/>
              <p:nvPr/>
            </p:nvSpPr>
            <p:spPr>
              <a:xfrm>
                <a:off x="560098" y="5360221"/>
                <a:ext cx="7155904" cy="469543"/>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panose="00000500000000000000" pitchFamily="2" charset="0"/>
                    <a:ea typeface="Montserrat"/>
                    <a:cs typeface="Montserrat"/>
                    <a:sym typeface="Montserrat"/>
                  </a:rPr>
                  <a:t>Todo corre sobre el crédito gratuito (290.923 CLP), con alerta por correo si el gasto real llega a 10.000 CLP.</a:t>
                </a:r>
              </a:p>
            </p:txBody>
          </p:sp>
        </p:grpSp>
        <p:pic>
          <p:nvPicPr>
            <p:cNvPr id="113" name="Imagen 112">
              <a:extLst>
                <a:ext uri="{FF2B5EF4-FFF2-40B4-BE49-F238E27FC236}">
                  <a16:creationId xmlns:a16="http://schemas.microsoft.com/office/drawing/2014/main" id="{EC9A673F-3689-ADB2-87B9-866BFC0CA5C9}"/>
                </a:ext>
              </a:extLst>
            </p:cNvPr>
            <p:cNvPicPr>
              <a:picLocks noChangeAspect="1"/>
            </p:cNvPicPr>
            <p:nvPr/>
          </p:nvPicPr>
          <p:blipFill>
            <a:blip r:embed="rId4"/>
            <a:stretch>
              <a:fillRect/>
            </a:stretch>
          </p:blipFill>
          <p:spPr>
            <a:xfrm>
              <a:off x="23220" y="171034"/>
              <a:ext cx="533400" cy="285750"/>
            </a:xfrm>
            <a:prstGeom prst="rect">
              <a:avLst/>
            </a:prstGeom>
          </p:spPr>
        </p:pic>
        <p:pic>
          <p:nvPicPr>
            <p:cNvPr id="115" name="Imagen 114">
              <a:extLst>
                <a:ext uri="{FF2B5EF4-FFF2-40B4-BE49-F238E27FC236}">
                  <a16:creationId xmlns:a16="http://schemas.microsoft.com/office/drawing/2014/main" id="{E972E7F3-79F3-C0C7-68AF-2AC87D9A1713}"/>
                </a:ext>
              </a:extLst>
            </p:cNvPr>
            <p:cNvPicPr>
              <a:picLocks noChangeAspect="1"/>
            </p:cNvPicPr>
            <p:nvPr/>
          </p:nvPicPr>
          <p:blipFill>
            <a:blip r:embed="rId4"/>
            <a:stretch>
              <a:fillRect/>
            </a:stretch>
          </p:blipFill>
          <p:spPr>
            <a:xfrm>
              <a:off x="75688" y="1937938"/>
              <a:ext cx="533400" cy="285750"/>
            </a:xfrm>
            <a:prstGeom prst="rect">
              <a:avLst/>
            </a:prstGeom>
          </p:spPr>
        </p:pic>
        <p:pic>
          <p:nvPicPr>
            <p:cNvPr id="117" name="Imagen 116">
              <a:extLst>
                <a:ext uri="{FF2B5EF4-FFF2-40B4-BE49-F238E27FC236}">
                  <a16:creationId xmlns:a16="http://schemas.microsoft.com/office/drawing/2014/main" id="{07EAF613-E7F2-5F57-CB05-44D9FC239A47}"/>
                </a:ext>
              </a:extLst>
            </p:cNvPr>
            <p:cNvPicPr>
              <a:picLocks noChangeAspect="1"/>
            </p:cNvPicPr>
            <p:nvPr/>
          </p:nvPicPr>
          <p:blipFill>
            <a:blip r:embed="rId4"/>
            <a:stretch>
              <a:fillRect/>
            </a:stretch>
          </p:blipFill>
          <p:spPr>
            <a:xfrm>
              <a:off x="75688" y="3662688"/>
              <a:ext cx="533400" cy="285750"/>
            </a:xfrm>
            <a:prstGeom prst="rect">
              <a:avLst/>
            </a:prstGeom>
          </p:spPr>
        </p:pic>
        <p:pic>
          <p:nvPicPr>
            <p:cNvPr id="119" name="Imagen 118">
              <a:extLst>
                <a:ext uri="{FF2B5EF4-FFF2-40B4-BE49-F238E27FC236}">
                  <a16:creationId xmlns:a16="http://schemas.microsoft.com/office/drawing/2014/main" id="{D583672B-9E14-9CF8-6B06-8A74B000906F}"/>
                </a:ext>
              </a:extLst>
            </p:cNvPr>
            <p:cNvPicPr>
              <a:picLocks noChangeAspect="1"/>
            </p:cNvPicPr>
            <p:nvPr/>
          </p:nvPicPr>
          <p:blipFill>
            <a:blip r:embed="rId4"/>
            <a:stretch>
              <a:fillRect/>
            </a:stretch>
          </p:blipFill>
          <p:spPr>
            <a:xfrm>
              <a:off x="75688" y="5499390"/>
              <a:ext cx="533400" cy="285750"/>
            </a:xfrm>
            <a:prstGeom prst="rect">
              <a:avLst/>
            </a:prstGeom>
          </p:spPr>
        </p:pic>
      </p:grpSp>
      <mc:AlternateContent xmlns:mc="http://schemas.openxmlformats.org/markup-compatibility/2006">
        <mc:Choice xmlns:am3d="http://schemas.microsoft.com/office/drawing/2017/model3d" Requires="am3d">
          <p:graphicFrame>
            <p:nvGraphicFramePr>
              <p:cNvPr id="88" name="Modelo 3D 87">
                <a:extLst>
                  <a:ext uri="{FF2B5EF4-FFF2-40B4-BE49-F238E27FC236}">
                    <a16:creationId xmlns:a16="http://schemas.microsoft.com/office/drawing/2014/main" id="{F6E48E21-374D-F63F-BAD9-17C5EB09ECC5}"/>
                  </a:ext>
                </a:extLst>
              </p:cNvPr>
              <p:cNvGraphicFramePr>
                <a:graphicFrameLocks noChangeAspect="1"/>
              </p:cNvGraphicFramePr>
              <p:nvPr>
                <p:extLst>
                  <p:ext uri="{D42A27DB-BD31-4B8C-83A1-F6EECF244321}">
                    <p14:modId xmlns:p14="http://schemas.microsoft.com/office/powerpoint/2010/main" val="4082014553"/>
                  </p:ext>
                </p:extLst>
              </p:nvPr>
            </p:nvGraphicFramePr>
            <p:xfrm>
              <a:off x="8933130" y="3141436"/>
              <a:ext cx="2199739" cy="2218785"/>
            </p:xfrm>
            <a:graphic>
              <a:graphicData uri="http://schemas.microsoft.com/office/drawing/2017/model3d">
                <am3d:model3d r:embed="rId6">
                  <am3d:spPr>
                    <a:xfrm>
                      <a:off x="0" y="0"/>
                      <a:ext cx="2199739" cy="2218785"/>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8652101" ay="1837231" az="9589805"/>
                    <am3d:postTrans dx="0" dy="0" dz="0"/>
                  </am3d:trans>
                  <am3d:raster rName="Office3DRenderer" rVer="16.0.8326">
                    <am3d:blip r:embed="rId7"/>
                  </am3d:raster>
                  <am3d:objViewport viewportSz="58945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8" name="Modelo 3D 87">
                <a:extLst>
                  <a:ext uri="{FF2B5EF4-FFF2-40B4-BE49-F238E27FC236}">
                    <a16:creationId xmlns:a16="http://schemas.microsoft.com/office/drawing/2014/main" id="{F6E48E21-374D-F63F-BAD9-17C5EB09ECC5}"/>
                  </a:ext>
                </a:extLst>
              </p:cNvPr>
              <p:cNvPicPr>
                <a:picLocks noGrp="1" noRot="1" noChangeAspect="1" noMove="1" noResize="1" noEditPoints="1" noAdjustHandles="1" noChangeArrowheads="1" noChangeShapeType="1" noCrop="1"/>
              </p:cNvPicPr>
              <p:nvPr/>
            </p:nvPicPr>
            <p:blipFill>
              <a:blip r:embed="rId7"/>
              <a:stretch>
                <a:fillRect/>
              </a:stretch>
            </p:blipFill>
            <p:spPr>
              <a:xfrm>
                <a:off x="8933130" y="3141436"/>
                <a:ext cx="2199739" cy="2218785"/>
              </a:xfrm>
              <a:prstGeom prst="rect">
                <a:avLst/>
              </a:prstGeom>
            </p:spPr>
          </p:pic>
        </mc:Fallback>
      </mc:AlternateContent>
      <p:grpSp>
        <p:nvGrpSpPr>
          <p:cNvPr id="121" name="Grupo 120">
            <a:extLst>
              <a:ext uri="{FF2B5EF4-FFF2-40B4-BE49-F238E27FC236}">
                <a16:creationId xmlns:a16="http://schemas.microsoft.com/office/drawing/2014/main" id="{F7E4A06F-6FCC-9DFA-0EBF-EF96264101C0}"/>
              </a:ext>
            </a:extLst>
          </p:cNvPr>
          <p:cNvGrpSpPr/>
          <p:nvPr/>
        </p:nvGrpSpPr>
        <p:grpSpPr>
          <a:xfrm>
            <a:off x="12943982" y="-1356378"/>
            <a:ext cx="16712404" cy="8848725"/>
            <a:chOff x="-862805" y="-797468"/>
            <a:chExt cx="16920207" cy="8214201"/>
          </a:xfrm>
        </p:grpSpPr>
        <p:sp>
          <p:nvSpPr>
            <p:cNvPr id="122" name="Diagrama de flujo: conector 121">
              <a:extLst>
                <a:ext uri="{FF2B5EF4-FFF2-40B4-BE49-F238E27FC236}">
                  <a16:creationId xmlns:a16="http://schemas.microsoft.com/office/drawing/2014/main" id="{668E554D-BF9F-776A-6811-9B1B7F151130}"/>
                </a:ext>
              </a:extLst>
            </p:cNvPr>
            <p:cNvSpPr/>
            <p:nvPr/>
          </p:nvSpPr>
          <p:spPr>
            <a:xfrm>
              <a:off x="5533404" y="-797468"/>
              <a:ext cx="10523998" cy="8214201"/>
            </a:xfrm>
            <a:prstGeom prst="flowChartConnector">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23" name="Diagrama de flujo: conector 122">
              <a:extLst>
                <a:ext uri="{FF2B5EF4-FFF2-40B4-BE49-F238E27FC236}">
                  <a16:creationId xmlns:a16="http://schemas.microsoft.com/office/drawing/2014/main" id="{F5FF6F27-611F-70DB-D53F-20A8DE4E7C48}"/>
                </a:ext>
              </a:extLst>
            </p:cNvPr>
            <p:cNvSpPr/>
            <p:nvPr/>
          </p:nvSpPr>
          <p:spPr>
            <a:xfrm>
              <a:off x="2535069" y="-558734"/>
              <a:ext cx="9867263" cy="7975465"/>
            </a:xfrm>
            <a:prstGeom prst="flowChartConnector">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24" name="Diagrama de flujo: conector 123">
              <a:extLst>
                <a:ext uri="{FF2B5EF4-FFF2-40B4-BE49-F238E27FC236}">
                  <a16:creationId xmlns:a16="http://schemas.microsoft.com/office/drawing/2014/main" id="{29555E8E-0775-A102-EC35-6E61C0206365}"/>
                </a:ext>
              </a:extLst>
            </p:cNvPr>
            <p:cNvSpPr/>
            <p:nvPr/>
          </p:nvSpPr>
          <p:spPr>
            <a:xfrm>
              <a:off x="-862805" y="-558735"/>
              <a:ext cx="9706864" cy="7975465"/>
            </a:xfrm>
            <a:prstGeom prst="flowChartConnector">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solidFill>
                  <a:schemeClr val="accent6">
                    <a:lumMod val="75000"/>
                  </a:schemeClr>
                </a:solidFill>
              </a:endParaRPr>
            </a:p>
          </p:txBody>
        </p:sp>
      </p:grpSp>
      <p:sp>
        <p:nvSpPr>
          <p:cNvPr id="126" name="CuadroTexto 125">
            <a:extLst>
              <a:ext uri="{FF2B5EF4-FFF2-40B4-BE49-F238E27FC236}">
                <a16:creationId xmlns:a16="http://schemas.microsoft.com/office/drawing/2014/main" id="{1290277F-F4EA-7071-C84D-F2EFDC2D55F2}"/>
              </a:ext>
            </a:extLst>
          </p:cNvPr>
          <p:cNvSpPr txBox="1"/>
          <p:nvPr/>
        </p:nvSpPr>
        <p:spPr>
          <a:xfrm>
            <a:off x="-4157029" y="-145991"/>
            <a:ext cx="4313957" cy="3033203"/>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Modelo de Negocio SaaS</a:t>
            </a:r>
          </a:p>
        </p:txBody>
      </p:sp>
      <p:pic>
        <p:nvPicPr>
          <p:cNvPr id="127" name="Imagen 126">
            <a:extLst>
              <a:ext uri="{FF2B5EF4-FFF2-40B4-BE49-F238E27FC236}">
                <a16:creationId xmlns:a16="http://schemas.microsoft.com/office/drawing/2014/main" id="{D07F8F5B-72E2-C9CC-E311-C02D2DC81437}"/>
              </a:ext>
            </a:extLst>
          </p:cNvPr>
          <p:cNvPicPr preferRelativeResize="0">
            <a:picLocks noChangeAspect="1"/>
          </p:cNvPicPr>
          <p:nvPr/>
        </p:nvPicPr>
        <p:blipFill>
          <a:blip r:embed="rId8"/>
          <a:srcRect/>
          <a:stretch>
            <a:fillRect/>
          </a:stretch>
        </p:blipFill>
        <p:spPr>
          <a:xfrm rot="10962675">
            <a:off x="14622608" y="-1294228"/>
            <a:ext cx="6555916" cy="9913834"/>
          </a:xfrm>
          <a:prstGeom prst="rect">
            <a:avLst/>
          </a:prstGeom>
        </p:spPr>
      </p:pic>
      <p:sp>
        <p:nvSpPr>
          <p:cNvPr id="128" name="TextBox 19">
            <a:extLst>
              <a:ext uri="{FF2B5EF4-FFF2-40B4-BE49-F238E27FC236}">
                <a16:creationId xmlns:a16="http://schemas.microsoft.com/office/drawing/2014/main" id="{31A8FFDB-B584-5631-DC78-B7C30D89850C}"/>
              </a:ext>
            </a:extLst>
          </p:cNvPr>
          <p:cNvSpPr txBox="1"/>
          <p:nvPr/>
        </p:nvSpPr>
        <p:spPr>
          <a:xfrm>
            <a:off x="14474179" y="3003237"/>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sp>
        <p:nvSpPr>
          <p:cNvPr id="129" name="TextBox 19">
            <a:extLst>
              <a:ext uri="{FF2B5EF4-FFF2-40B4-BE49-F238E27FC236}">
                <a16:creationId xmlns:a16="http://schemas.microsoft.com/office/drawing/2014/main" id="{D5CE3069-07B2-879A-9851-42320C5869CB}"/>
              </a:ext>
            </a:extLst>
          </p:cNvPr>
          <p:cNvSpPr txBox="1"/>
          <p:nvPr/>
        </p:nvSpPr>
        <p:spPr>
          <a:xfrm>
            <a:off x="16704432" y="3003237"/>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grpSp>
        <p:nvGrpSpPr>
          <p:cNvPr id="130" name="Group 7">
            <a:extLst>
              <a:ext uri="{FF2B5EF4-FFF2-40B4-BE49-F238E27FC236}">
                <a16:creationId xmlns:a16="http://schemas.microsoft.com/office/drawing/2014/main" id="{82221325-A7AC-1D93-E02B-594FED0CCFB5}"/>
              </a:ext>
            </a:extLst>
          </p:cNvPr>
          <p:cNvGrpSpPr/>
          <p:nvPr/>
        </p:nvGrpSpPr>
        <p:grpSpPr>
          <a:xfrm>
            <a:off x="16464065" y="257905"/>
            <a:ext cx="2304978" cy="2304978"/>
            <a:chOff x="0" y="0"/>
            <a:chExt cx="812800" cy="812800"/>
          </a:xfrm>
        </p:grpSpPr>
        <p:sp>
          <p:nvSpPr>
            <p:cNvPr id="131" name="Freeform 8">
              <a:extLst>
                <a:ext uri="{FF2B5EF4-FFF2-40B4-BE49-F238E27FC236}">
                  <a16:creationId xmlns:a16="http://schemas.microsoft.com/office/drawing/2014/main" id="{1436B45D-442F-9893-46EA-94CD7E9A58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a:stretch>
            </a:blipFill>
          </p:spPr>
          <p:txBody>
            <a:bodyPr/>
            <a:lstStyle/>
            <a:p>
              <a:endParaRPr lang="es-CL" noProof="0" dirty="0"/>
            </a:p>
          </p:txBody>
        </p:sp>
      </p:grpSp>
      <p:sp>
        <p:nvSpPr>
          <p:cNvPr id="132" name="TextBox 15">
            <a:extLst>
              <a:ext uri="{FF2B5EF4-FFF2-40B4-BE49-F238E27FC236}">
                <a16:creationId xmlns:a16="http://schemas.microsoft.com/office/drawing/2014/main" id="{0430E71B-EA77-CEA5-0E9C-FDAA7050B457}"/>
              </a:ext>
            </a:extLst>
          </p:cNvPr>
          <p:cNvSpPr txBox="1"/>
          <p:nvPr/>
        </p:nvSpPr>
        <p:spPr>
          <a:xfrm>
            <a:off x="15429279" y="3627770"/>
            <a:ext cx="4374551" cy="1650003"/>
          </a:xfrm>
          <a:prstGeom prst="rect">
            <a:avLst/>
          </a:prstGeom>
        </p:spPr>
        <p:txBody>
          <a:bodyPr lIns="0" tIns="0" rIns="0" bIns="0" rtlCol="0" anchor="t">
            <a:spAutoFit/>
          </a:bodyPr>
          <a:lstStyle/>
          <a:p>
            <a:pPr marL="0" lvl="0" indent="0" algn="ctr">
              <a:lnSpc>
                <a:spcPts val="2550"/>
              </a:lnSpc>
              <a:spcBef>
                <a:spcPct val="0"/>
              </a:spcBef>
            </a:pPr>
            <a:r>
              <a:rPr lang="es-CL" sz="2090" noProof="0" dirty="0">
                <a:latin typeface="Montserrat"/>
                <a:ea typeface="Montserrat"/>
                <a:cs typeface="Montserrat"/>
                <a:sym typeface="Montserrat"/>
              </a:rPr>
              <a:t>Para academias y clubes formativos. Volumen bajo (~5 partidos/mes) con métricas MVP esenciales y acceso al </a:t>
            </a:r>
            <a:r>
              <a:rPr lang="es-CL" sz="2090" noProof="0" dirty="0" err="1">
                <a:latin typeface="Montserrat"/>
                <a:ea typeface="Montserrat"/>
                <a:cs typeface="Montserrat"/>
                <a:sym typeface="Montserrat"/>
              </a:rPr>
              <a:t>dashboard</a:t>
            </a:r>
            <a:r>
              <a:rPr lang="es-CL" sz="2090" noProof="0" dirty="0">
                <a:latin typeface="Montserrat"/>
                <a:ea typeface="Montserrat"/>
                <a:cs typeface="Montserrat"/>
                <a:sym typeface="Montserrat"/>
              </a:rPr>
              <a:t> básico.</a:t>
            </a:r>
          </a:p>
        </p:txBody>
      </p:sp>
      <p:sp>
        <p:nvSpPr>
          <p:cNvPr id="133" name="TextBox 17">
            <a:extLst>
              <a:ext uri="{FF2B5EF4-FFF2-40B4-BE49-F238E27FC236}">
                <a16:creationId xmlns:a16="http://schemas.microsoft.com/office/drawing/2014/main" id="{03BFEEE6-27A0-0265-C080-041B128239D0}"/>
              </a:ext>
            </a:extLst>
          </p:cNvPr>
          <p:cNvSpPr txBox="1"/>
          <p:nvPr/>
        </p:nvSpPr>
        <p:spPr>
          <a:xfrm>
            <a:off x="14474179" y="3090695"/>
            <a:ext cx="6284751" cy="393482"/>
          </a:xfrm>
          <a:prstGeom prst="rect">
            <a:avLst/>
          </a:prstGeom>
        </p:spPr>
        <p:txBody>
          <a:bodyPr lIns="0" tIns="0" rIns="0" bIns="0" rtlCol="0" anchor="t">
            <a:spAutoFit/>
          </a:bodyPr>
          <a:lstStyle/>
          <a:p>
            <a:pPr marL="0" lvl="0" indent="0" algn="ctr">
              <a:lnSpc>
                <a:spcPts val="3154"/>
              </a:lnSpc>
              <a:spcBef>
                <a:spcPct val="0"/>
              </a:spcBef>
            </a:pPr>
            <a:r>
              <a:rPr lang="es-CL" sz="2585" b="1" noProof="0" dirty="0">
                <a:latin typeface="Montserrat Bold"/>
                <a:ea typeface="Montserrat Bold"/>
                <a:cs typeface="Montserrat Bold"/>
                <a:sym typeface="Montserrat Bold"/>
              </a:rPr>
              <a:t>PLAN FORMATIVO</a:t>
            </a:r>
          </a:p>
        </p:txBody>
      </p:sp>
    </p:spTree>
    <p:extLst>
      <p:ext uri="{BB962C8B-B14F-4D97-AF65-F5344CB8AC3E}">
        <p14:creationId xmlns:p14="http://schemas.microsoft.com/office/powerpoint/2010/main" val="2959486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539EA-7F73-9BBD-DC04-9CD58CEE877E}"/>
            </a:ext>
          </a:extLst>
        </p:cNvPr>
        <p:cNvGrpSpPr/>
        <p:nvPr/>
      </p:nvGrpSpPr>
      <p:grpSpPr>
        <a:xfrm>
          <a:off x="0" y="0"/>
          <a:ext cx="0" cy="0"/>
          <a:chOff x="0" y="0"/>
          <a:chExt cx="0" cy="0"/>
        </a:xfrm>
      </p:grpSpPr>
      <p:pic>
        <p:nvPicPr>
          <p:cNvPr id="55" name="Imagen 54">
            <a:extLst>
              <a:ext uri="{FF2B5EF4-FFF2-40B4-BE49-F238E27FC236}">
                <a16:creationId xmlns:a16="http://schemas.microsoft.com/office/drawing/2014/main" id="{EF7B378D-EAF0-72A4-BDFC-12C791D1CE0B}"/>
              </a:ext>
            </a:extLst>
          </p:cNvPr>
          <p:cNvPicPr preferRelativeResize="0">
            <a:picLocks noChangeAspect="1"/>
          </p:cNvPicPr>
          <p:nvPr/>
        </p:nvPicPr>
        <p:blipFill>
          <a:blip r:embed="rId3"/>
          <a:srcRect/>
          <a:stretch>
            <a:fillRect/>
          </a:stretch>
        </p:blipFill>
        <p:spPr>
          <a:xfrm>
            <a:off x="10730054" y="-4235090"/>
            <a:ext cx="6555916" cy="15781136"/>
          </a:xfrm>
          <a:prstGeom prst="rect">
            <a:avLst/>
          </a:prstGeom>
        </p:spPr>
      </p:pic>
      <p:sp>
        <p:nvSpPr>
          <p:cNvPr id="11" name="TextBox 19">
            <a:extLst>
              <a:ext uri="{FF2B5EF4-FFF2-40B4-BE49-F238E27FC236}">
                <a16:creationId xmlns:a16="http://schemas.microsoft.com/office/drawing/2014/main" id="{EB0AAB6B-1293-09FD-6374-0EADFD4AB7A0}"/>
              </a:ext>
            </a:extLst>
          </p:cNvPr>
          <p:cNvSpPr txBox="1"/>
          <p:nvPr/>
        </p:nvSpPr>
        <p:spPr>
          <a:xfrm>
            <a:off x="5025943" y="3099885"/>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sp>
        <p:nvSpPr>
          <p:cNvPr id="90" name="Rectángulo 89">
            <a:extLst>
              <a:ext uri="{FF2B5EF4-FFF2-40B4-BE49-F238E27FC236}">
                <a16:creationId xmlns:a16="http://schemas.microsoft.com/office/drawing/2014/main" id="{F97FF9FE-11D6-F2C8-B2E6-3C7F31856165}"/>
              </a:ext>
            </a:extLst>
          </p:cNvPr>
          <p:cNvSpPr/>
          <p:nvPr/>
        </p:nvSpPr>
        <p:spPr>
          <a:xfrm>
            <a:off x="20287" y="-76541"/>
            <a:ext cx="4318000" cy="68580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9B27C1C6-26CE-C825-84B5-6D795E2A7D51}"/>
              </a:ext>
            </a:extLst>
          </p:cNvPr>
          <p:cNvSpPr txBox="1"/>
          <p:nvPr/>
        </p:nvSpPr>
        <p:spPr>
          <a:xfrm>
            <a:off x="0" y="0"/>
            <a:ext cx="4313957" cy="2032929"/>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Evidencias </a:t>
            </a:r>
          </a:p>
          <a:p>
            <a:pPr lvl="0">
              <a:lnSpc>
                <a:spcPts val="7791"/>
              </a:lnSpc>
              <a:spcBef>
                <a:spcPct val="0"/>
              </a:spcBef>
            </a:pPr>
            <a:r>
              <a:rPr lang="es-CL" sz="6000" b="1" spc="-557" dirty="0">
                <a:solidFill>
                  <a:schemeClr val="bg1">
                    <a:lumMod val="85000"/>
                  </a:schemeClr>
                </a:solidFill>
                <a:latin typeface="Montserrat Bold"/>
                <a:ea typeface="Montserrat Bold"/>
                <a:cs typeface="Montserrat Bold"/>
                <a:sym typeface="Montserrat Bold"/>
              </a:rPr>
              <a:t>(video)</a:t>
            </a:r>
          </a:p>
        </p:txBody>
      </p:sp>
      <p:sp>
        <p:nvSpPr>
          <p:cNvPr id="92" name="CuadroTexto 91">
            <a:extLst>
              <a:ext uri="{FF2B5EF4-FFF2-40B4-BE49-F238E27FC236}">
                <a16:creationId xmlns:a16="http://schemas.microsoft.com/office/drawing/2014/main" id="{50472C3A-C0BF-EBAC-0BBA-DEEAEC34CFEB}"/>
              </a:ext>
            </a:extLst>
          </p:cNvPr>
          <p:cNvSpPr txBox="1"/>
          <p:nvPr/>
        </p:nvSpPr>
        <p:spPr>
          <a:xfrm>
            <a:off x="897091" y="5578759"/>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bg1">
                    <a:lumMod val="85000"/>
                  </a:schemeClr>
                </a:solidFill>
                <a:latin typeface="Montserrat Bold"/>
                <a:ea typeface="Montserrat Bold"/>
                <a:cs typeface="Montserrat Bold"/>
                <a:sym typeface="Montserrat Bold"/>
              </a:rPr>
              <a:t>Fut.Ai</a:t>
            </a:r>
          </a:p>
        </p:txBody>
      </p:sp>
      <p:pic>
        <p:nvPicPr>
          <p:cNvPr id="94" name="Imagen 93">
            <a:extLst>
              <a:ext uri="{FF2B5EF4-FFF2-40B4-BE49-F238E27FC236}">
                <a16:creationId xmlns:a16="http://schemas.microsoft.com/office/drawing/2014/main" id="{6EC34FF4-0ED1-A46D-B5DA-A93C8083D5C9}"/>
              </a:ext>
            </a:extLst>
          </p:cNvPr>
          <p:cNvPicPr>
            <a:picLocks noChangeAspect="1"/>
          </p:cNvPicPr>
          <p:nvPr/>
        </p:nvPicPr>
        <p:blipFill>
          <a:blip r:embed="rId4"/>
          <a:srcRect/>
          <a:stretch>
            <a:fillRect/>
          </a:stretch>
        </p:blipFill>
        <p:spPr>
          <a:xfrm>
            <a:off x="2708204" y="5780633"/>
            <a:ext cx="996664" cy="863537"/>
          </a:xfrm>
          <a:prstGeom prst="rect">
            <a:avLst/>
          </a:prstGeom>
        </p:spPr>
      </p:pic>
      <p:grpSp>
        <p:nvGrpSpPr>
          <p:cNvPr id="120" name="Grupo 119">
            <a:extLst>
              <a:ext uri="{FF2B5EF4-FFF2-40B4-BE49-F238E27FC236}">
                <a16:creationId xmlns:a16="http://schemas.microsoft.com/office/drawing/2014/main" id="{A99D1EF1-9D7C-4A14-A66C-F3A04E2AB8D6}"/>
              </a:ext>
            </a:extLst>
          </p:cNvPr>
          <p:cNvGrpSpPr/>
          <p:nvPr/>
        </p:nvGrpSpPr>
        <p:grpSpPr>
          <a:xfrm>
            <a:off x="-17998080" y="62481"/>
            <a:ext cx="7692781" cy="6718617"/>
            <a:chOff x="23220" y="69691"/>
            <a:chExt cx="7692781" cy="6718617"/>
          </a:xfrm>
        </p:grpSpPr>
        <p:grpSp>
          <p:nvGrpSpPr>
            <p:cNvPr id="111" name="Grupo 110">
              <a:extLst>
                <a:ext uri="{FF2B5EF4-FFF2-40B4-BE49-F238E27FC236}">
                  <a16:creationId xmlns:a16="http://schemas.microsoft.com/office/drawing/2014/main" id="{A86B03BD-52E9-309F-C5DD-75171BD92EFC}"/>
                </a:ext>
              </a:extLst>
            </p:cNvPr>
            <p:cNvGrpSpPr/>
            <p:nvPr/>
          </p:nvGrpSpPr>
          <p:grpSpPr>
            <a:xfrm>
              <a:off x="609088" y="69691"/>
              <a:ext cx="7106913" cy="6718617"/>
              <a:chOff x="560098" y="1019696"/>
              <a:chExt cx="7182719" cy="4974673"/>
            </a:xfrm>
          </p:grpSpPr>
          <p:sp>
            <p:nvSpPr>
              <p:cNvPr id="96" name="TextBox 5">
                <a:extLst>
                  <a:ext uri="{FF2B5EF4-FFF2-40B4-BE49-F238E27FC236}">
                    <a16:creationId xmlns:a16="http://schemas.microsoft.com/office/drawing/2014/main" id="{ECCFC643-69C3-9634-42D4-5CC0554E2FA9}"/>
                  </a:ext>
                </a:extLst>
              </p:cNvPr>
              <p:cNvSpPr txBox="1"/>
              <p:nvPr/>
            </p:nvSpPr>
            <p:spPr>
              <a:xfrm>
                <a:off x="586913" y="1019696"/>
                <a:ext cx="4459384" cy="428835"/>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a:ea typeface="Montserrat Bold"/>
                    <a:cs typeface="Montserrat Bold"/>
                    <a:sym typeface="Montserrat Bold"/>
                  </a:rPr>
                  <a:t>AISLAMIENTO MULTI-TENANT</a:t>
                </a:r>
              </a:p>
            </p:txBody>
          </p:sp>
          <p:sp>
            <p:nvSpPr>
              <p:cNvPr id="98" name="TextBox 6">
                <a:extLst>
                  <a:ext uri="{FF2B5EF4-FFF2-40B4-BE49-F238E27FC236}">
                    <a16:creationId xmlns:a16="http://schemas.microsoft.com/office/drawing/2014/main" id="{3E5C727B-A613-2DC4-706F-F3419B5576CE}"/>
                  </a:ext>
                </a:extLst>
              </p:cNvPr>
              <p:cNvSpPr txBox="1"/>
              <p:nvPr/>
            </p:nvSpPr>
            <p:spPr>
              <a:xfrm>
                <a:off x="586913" y="2294376"/>
                <a:ext cx="4355567" cy="428835"/>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a:ea typeface="Montserrat Bold"/>
                    <a:cs typeface="Montserrat Bold"/>
                    <a:sym typeface="Montserrat Bold"/>
                  </a:rPr>
                  <a:t>CIFRADO END-TO-END</a:t>
                </a:r>
              </a:p>
            </p:txBody>
          </p:sp>
          <p:sp>
            <p:nvSpPr>
              <p:cNvPr id="100" name="TextBox 7">
                <a:extLst>
                  <a:ext uri="{FF2B5EF4-FFF2-40B4-BE49-F238E27FC236}">
                    <a16:creationId xmlns:a16="http://schemas.microsoft.com/office/drawing/2014/main" id="{D8BE7BAB-74DD-2905-BA42-10A2A824CC35}"/>
                  </a:ext>
                </a:extLst>
              </p:cNvPr>
              <p:cNvSpPr txBox="1"/>
              <p:nvPr/>
            </p:nvSpPr>
            <p:spPr>
              <a:xfrm>
                <a:off x="586913" y="3612881"/>
                <a:ext cx="3657058" cy="428835"/>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a:ea typeface="Montserrat Bold"/>
                    <a:cs typeface="Montserrat Bold"/>
                    <a:sym typeface="Montserrat Bold"/>
                  </a:rPr>
                  <a:t>CUMPLIMIENTO GDPR</a:t>
                </a:r>
              </a:p>
            </p:txBody>
          </p:sp>
          <p:sp>
            <p:nvSpPr>
              <p:cNvPr id="102" name="TextBox 8">
                <a:extLst>
                  <a:ext uri="{FF2B5EF4-FFF2-40B4-BE49-F238E27FC236}">
                    <a16:creationId xmlns:a16="http://schemas.microsoft.com/office/drawing/2014/main" id="{DAB206E6-F78C-8556-BA64-80F185F0DD30}"/>
                  </a:ext>
                </a:extLst>
              </p:cNvPr>
              <p:cNvSpPr txBox="1"/>
              <p:nvPr/>
            </p:nvSpPr>
            <p:spPr>
              <a:xfrm>
                <a:off x="586913" y="4931386"/>
                <a:ext cx="5261711" cy="428835"/>
              </a:xfrm>
              <a:prstGeom prst="rect">
                <a:avLst/>
              </a:prstGeom>
            </p:spPr>
            <p:txBody>
              <a:bodyPr wrap="square" lIns="0" tIns="0" rIns="0" bIns="0" rtlCol="0" anchor="t">
                <a:spAutoFit/>
              </a:bodyPr>
              <a:lstStyle/>
              <a:p>
                <a:pPr marL="0" lvl="0" indent="0" algn="l">
                  <a:lnSpc>
                    <a:spcPts val="3764"/>
                  </a:lnSpc>
                  <a:spcBef>
                    <a:spcPct val="0"/>
                  </a:spcBef>
                </a:pPr>
                <a:r>
                  <a:rPr lang="es-CL" sz="2000" b="1" noProof="0" dirty="0">
                    <a:latin typeface="Montserrat Bold"/>
                    <a:ea typeface="Montserrat Bold"/>
                    <a:cs typeface="Montserrat Bold"/>
                    <a:sym typeface="Montserrat Bold"/>
                  </a:rPr>
                  <a:t>LOGS INMUTABLES DE AUDITORÍA</a:t>
                </a:r>
              </a:p>
            </p:txBody>
          </p:sp>
          <p:sp>
            <p:nvSpPr>
              <p:cNvPr id="104" name="TextBox 9">
                <a:extLst>
                  <a:ext uri="{FF2B5EF4-FFF2-40B4-BE49-F238E27FC236}">
                    <a16:creationId xmlns:a16="http://schemas.microsoft.com/office/drawing/2014/main" id="{0AEC798A-47DD-4887-23C1-68AA16F28553}"/>
                  </a:ext>
                </a:extLst>
              </p:cNvPr>
              <p:cNvSpPr txBox="1"/>
              <p:nvPr/>
            </p:nvSpPr>
            <p:spPr>
              <a:xfrm>
                <a:off x="586913" y="1564028"/>
                <a:ext cx="7155904" cy="634148"/>
              </a:xfrm>
              <a:prstGeom prst="rect">
                <a:avLst/>
              </a:prstGeom>
            </p:spPr>
            <p:txBody>
              <a:bodyPr lIns="0" tIns="0" rIns="0" bIns="0" rtlCol="0" anchor="t">
                <a:spAutoFit/>
              </a:bodyPr>
              <a:lstStyle/>
              <a:p>
                <a:pPr marL="0" lvl="0" indent="0" algn="just">
                  <a:lnSpc>
                    <a:spcPts val="2564"/>
                  </a:lnSpc>
                  <a:spcBef>
                    <a:spcPct val="0"/>
                  </a:spcBef>
                </a:pPr>
                <a:r>
                  <a:rPr lang="es-CL" sz="1600" u="none" strike="noStrike" noProof="0" dirty="0" err="1">
                    <a:latin typeface="Montserrat"/>
                    <a:ea typeface="Montserrat"/>
                    <a:cs typeface="Montserrat"/>
                    <a:sym typeface="Montserrat"/>
                  </a:rPr>
                  <a:t>Namespaces</a:t>
                </a:r>
                <a:r>
                  <a:rPr lang="es-CL" sz="1600" u="none" strike="noStrike" noProof="0" dirty="0">
                    <a:latin typeface="Montserrat"/>
                    <a:ea typeface="Montserrat"/>
                    <a:cs typeface="Montserrat"/>
                    <a:sym typeface="Montserrat"/>
                  </a:rPr>
                  <a:t> separados por club garantizan aislamiento total de datos entre </a:t>
                </a:r>
                <a:r>
                  <a:rPr lang="es-CL" sz="1600" u="none" strike="noStrike" noProof="0" dirty="0" err="1">
                    <a:latin typeface="Montserrat"/>
                    <a:ea typeface="Montserrat"/>
                    <a:cs typeface="Montserrat"/>
                    <a:sym typeface="Montserrat"/>
                  </a:rPr>
                  <a:t>tenants</a:t>
                </a:r>
                <a:r>
                  <a:rPr lang="es-CL" sz="1600" u="none" strike="noStrike" noProof="0" dirty="0">
                    <a:latin typeface="Montserrat"/>
                    <a:ea typeface="Montserrat"/>
                    <a:cs typeface="Montserrat"/>
                    <a:sym typeface="Montserrat"/>
                  </a:rPr>
                  <a:t>, eliminando riesgos de filtración cruzada.</a:t>
                </a:r>
              </a:p>
            </p:txBody>
          </p:sp>
          <p:sp>
            <p:nvSpPr>
              <p:cNvPr id="106" name="TextBox 10">
                <a:extLst>
                  <a:ext uri="{FF2B5EF4-FFF2-40B4-BE49-F238E27FC236}">
                    <a16:creationId xmlns:a16="http://schemas.microsoft.com/office/drawing/2014/main" id="{2848F280-24B6-3144-F11E-D0E5A0F21467}"/>
                  </a:ext>
                </a:extLst>
              </p:cNvPr>
              <p:cNvSpPr txBox="1"/>
              <p:nvPr/>
            </p:nvSpPr>
            <p:spPr>
              <a:xfrm>
                <a:off x="586913" y="2770183"/>
                <a:ext cx="7155904" cy="634148"/>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a:ea typeface="Montserrat"/>
                    <a:cs typeface="Montserrat"/>
                    <a:sym typeface="Montserrat"/>
                  </a:rPr>
                  <a:t>TLS 1.3 en tránsito y AES-256 en reposo. Toda la información táctica y biomecánica viaja y se almacena completamente cifrada.</a:t>
                </a:r>
              </a:p>
            </p:txBody>
          </p:sp>
          <p:sp>
            <p:nvSpPr>
              <p:cNvPr id="108" name="TextBox 11">
                <a:extLst>
                  <a:ext uri="{FF2B5EF4-FFF2-40B4-BE49-F238E27FC236}">
                    <a16:creationId xmlns:a16="http://schemas.microsoft.com/office/drawing/2014/main" id="{44F955B0-C3A9-D320-26D7-230A16041BCC}"/>
                  </a:ext>
                </a:extLst>
              </p:cNvPr>
              <p:cNvSpPr txBox="1"/>
              <p:nvPr/>
            </p:nvSpPr>
            <p:spPr>
              <a:xfrm>
                <a:off x="586913" y="4091441"/>
                <a:ext cx="7155904" cy="634148"/>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a:ea typeface="Montserrat"/>
                    <a:cs typeface="Montserrat"/>
                    <a:sym typeface="Montserrat"/>
                  </a:rPr>
                  <a:t>Derecho al olvido, portabilidad de datos y consentimiento expreso. Arquitectura diseñada desde cero para cumplir normativa europea.</a:t>
                </a:r>
              </a:p>
            </p:txBody>
          </p:sp>
          <p:sp>
            <p:nvSpPr>
              <p:cNvPr id="110" name="TextBox 12">
                <a:extLst>
                  <a:ext uri="{FF2B5EF4-FFF2-40B4-BE49-F238E27FC236}">
                    <a16:creationId xmlns:a16="http://schemas.microsoft.com/office/drawing/2014/main" id="{75DAEFD9-87AC-EC3B-E9AC-AB48CA88BEA4}"/>
                  </a:ext>
                </a:extLst>
              </p:cNvPr>
              <p:cNvSpPr txBox="1"/>
              <p:nvPr/>
            </p:nvSpPr>
            <p:spPr>
              <a:xfrm>
                <a:off x="560098" y="5360221"/>
                <a:ext cx="7155904" cy="634148"/>
              </a:xfrm>
              <a:prstGeom prst="rect">
                <a:avLst/>
              </a:prstGeom>
            </p:spPr>
            <p:txBody>
              <a:bodyPr lIns="0" tIns="0" rIns="0" bIns="0" rtlCol="0" anchor="t">
                <a:spAutoFit/>
              </a:bodyPr>
              <a:lstStyle/>
              <a:p>
                <a:pPr marL="0" lvl="0" indent="0" algn="just">
                  <a:lnSpc>
                    <a:spcPts val="2564"/>
                  </a:lnSpc>
                  <a:spcBef>
                    <a:spcPct val="0"/>
                  </a:spcBef>
                </a:pPr>
                <a:r>
                  <a:rPr lang="es-CL" sz="1600" noProof="0" dirty="0">
                    <a:latin typeface="Montserrat"/>
                    <a:ea typeface="Montserrat"/>
                    <a:cs typeface="Montserrat"/>
                    <a:sym typeface="Montserrat"/>
                  </a:rPr>
                  <a:t>Registros inmutables de todas las operaciones para trazabilidad completa, auditoría interna y cumplimiento regulatorio continuo.</a:t>
                </a:r>
              </a:p>
            </p:txBody>
          </p:sp>
        </p:grpSp>
        <p:pic>
          <p:nvPicPr>
            <p:cNvPr id="113" name="Imagen 112">
              <a:extLst>
                <a:ext uri="{FF2B5EF4-FFF2-40B4-BE49-F238E27FC236}">
                  <a16:creationId xmlns:a16="http://schemas.microsoft.com/office/drawing/2014/main" id="{57992ADA-EBF8-AE21-01B6-D6B77D829B89}"/>
                </a:ext>
              </a:extLst>
            </p:cNvPr>
            <p:cNvPicPr>
              <a:picLocks noChangeAspect="1"/>
            </p:cNvPicPr>
            <p:nvPr/>
          </p:nvPicPr>
          <p:blipFill>
            <a:blip r:embed="rId5"/>
            <a:stretch>
              <a:fillRect/>
            </a:stretch>
          </p:blipFill>
          <p:spPr>
            <a:xfrm>
              <a:off x="23220" y="171034"/>
              <a:ext cx="533400" cy="285750"/>
            </a:xfrm>
            <a:prstGeom prst="rect">
              <a:avLst/>
            </a:prstGeom>
          </p:spPr>
        </p:pic>
        <p:pic>
          <p:nvPicPr>
            <p:cNvPr id="115" name="Imagen 114">
              <a:extLst>
                <a:ext uri="{FF2B5EF4-FFF2-40B4-BE49-F238E27FC236}">
                  <a16:creationId xmlns:a16="http://schemas.microsoft.com/office/drawing/2014/main" id="{0A10BFC8-003D-483E-DEFC-C38094F41BC1}"/>
                </a:ext>
              </a:extLst>
            </p:cNvPr>
            <p:cNvPicPr>
              <a:picLocks noChangeAspect="1"/>
            </p:cNvPicPr>
            <p:nvPr/>
          </p:nvPicPr>
          <p:blipFill>
            <a:blip r:embed="rId5"/>
            <a:stretch>
              <a:fillRect/>
            </a:stretch>
          </p:blipFill>
          <p:spPr>
            <a:xfrm>
              <a:off x="75688" y="1937938"/>
              <a:ext cx="533400" cy="285750"/>
            </a:xfrm>
            <a:prstGeom prst="rect">
              <a:avLst/>
            </a:prstGeom>
          </p:spPr>
        </p:pic>
        <p:pic>
          <p:nvPicPr>
            <p:cNvPr id="117" name="Imagen 116">
              <a:extLst>
                <a:ext uri="{FF2B5EF4-FFF2-40B4-BE49-F238E27FC236}">
                  <a16:creationId xmlns:a16="http://schemas.microsoft.com/office/drawing/2014/main" id="{3D8EB427-0DAE-337E-5C85-836C333E06BD}"/>
                </a:ext>
              </a:extLst>
            </p:cNvPr>
            <p:cNvPicPr>
              <a:picLocks noChangeAspect="1"/>
            </p:cNvPicPr>
            <p:nvPr/>
          </p:nvPicPr>
          <p:blipFill>
            <a:blip r:embed="rId5"/>
            <a:stretch>
              <a:fillRect/>
            </a:stretch>
          </p:blipFill>
          <p:spPr>
            <a:xfrm>
              <a:off x="75688" y="3662688"/>
              <a:ext cx="533400" cy="285750"/>
            </a:xfrm>
            <a:prstGeom prst="rect">
              <a:avLst/>
            </a:prstGeom>
          </p:spPr>
        </p:pic>
        <p:pic>
          <p:nvPicPr>
            <p:cNvPr id="119" name="Imagen 118">
              <a:extLst>
                <a:ext uri="{FF2B5EF4-FFF2-40B4-BE49-F238E27FC236}">
                  <a16:creationId xmlns:a16="http://schemas.microsoft.com/office/drawing/2014/main" id="{99B707EE-3D8F-0E43-DADF-33FC4ADA9716}"/>
                </a:ext>
              </a:extLst>
            </p:cNvPr>
            <p:cNvPicPr>
              <a:picLocks noChangeAspect="1"/>
            </p:cNvPicPr>
            <p:nvPr/>
          </p:nvPicPr>
          <p:blipFill>
            <a:blip r:embed="rId5"/>
            <a:stretch>
              <a:fillRect/>
            </a:stretch>
          </p:blipFill>
          <p:spPr>
            <a:xfrm>
              <a:off x="75688" y="5499390"/>
              <a:ext cx="533400" cy="285750"/>
            </a:xfrm>
            <a:prstGeom prst="rect">
              <a:avLst/>
            </a:prstGeom>
          </p:spPr>
        </p:pic>
      </p:grpSp>
      <mc:AlternateContent xmlns:mc="http://schemas.openxmlformats.org/markup-compatibility/2006">
        <mc:Choice xmlns:am3d="http://schemas.microsoft.com/office/drawing/2017/model3d" Requires="am3d">
          <p:graphicFrame>
            <p:nvGraphicFramePr>
              <p:cNvPr id="88" name="Modelo 3D 87">
                <a:extLst>
                  <a:ext uri="{FF2B5EF4-FFF2-40B4-BE49-F238E27FC236}">
                    <a16:creationId xmlns:a16="http://schemas.microsoft.com/office/drawing/2014/main" id="{ECDF3761-3F06-4CB5-DDD3-A40034BCE64E}"/>
                  </a:ext>
                </a:extLst>
              </p:cNvPr>
              <p:cNvGraphicFramePr>
                <a:graphicFrameLocks noChangeAspect="1"/>
              </p:cNvGraphicFramePr>
              <p:nvPr>
                <p:extLst>
                  <p:ext uri="{D42A27DB-BD31-4B8C-83A1-F6EECF244321}">
                    <p14:modId xmlns:p14="http://schemas.microsoft.com/office/powerpoint/2010/main" val="1196053313"/>
                  </p:ext>
                </p:extLst>
              </p:nvPr>
            </p:nvGraphicFramePr>
            <p:xfrm>
              <a:off x="1429509" y="4236976"/>
              <a:ext cx="1341784" cy="1341783"/>
            </p:xfrm>
            <a:graphic>
              <a:graphicData uri="http://schemas.microsoft.com/office/drawing/2017/model3d">
                <am3d:model3d r:embed="rId6">
                  <am3d:spPr>
                    <a:xfrm>
                      <a:off x="0" y="0"/>
                      <a:ext cx="1341784" cy="1341783"/>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1058254" ay="-1314827" az="-406021"/>
                    <am3d:postTrans dx="0" dy="0" dz="0"/>
                  </am3d:trans>
                  <am3d:raster rName="Office3DRenderer" rVer="16.0.8326">
                    <am3d:blip r:embed="rId7"/>
                  </am3d:raster>
                  <am3d:objViewport viewportSz="345437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8" name="Modelo 3D 87">
                <a:extLst>
                  <a:ext uri="{FF2B5EF4-FFF2-40B4-BE49-F238E27FC236}">
                    <a16:creationId xmlns:a16="http://schemas.microsoft.com/office/drawing/2014/main" id="{ECDF3761-3F06-4CB5-DDD3-A40034BCE64E}"/>
                  </a:ext>
                </a:extLst>
              </p:cNvPr>
              <p:cNvPicPr>
                <a:picLocks noGrp="1" noRot="1" noChangeAspect="1" noMove="1" noResize="1" noEditPoints="1" noAdjustHandles="1" noChangeArrowheads="1" noChangeShapeType="1" noCrop="1"/>
              </p:cNvPicPr>
              <p:nvPr/>
            </p:nvPicPr>
            <p:blipFill>
              <a:blip r:embed="rId7"/>
              <a:stretch>
                <a:fillRect/>
              </a:stretch>
            </p:blipFill>
            <p:spPr>
              <a:xfrm>
                <a:off x="1429509" y="4236976"/>
                <a:ext cx="1341784" cy="1341783"/>
              </a:xfrm>
              <a:prstGeom prst="rect">
                <a:avLst/>
              </a:prstGeom>
            </p:spPr>
          </p:pic>
        </mc:Fallback>
      </mc:AlternateContent>
      <p:sp>
        <p:nvSpPr>
          <p:cNvPr id="36" name="TextBox 19">
            <a:extLst>
              <a:ext uri="{FF2B5EF4-FFF2-40B4-BE49-F238E27FC236}">
                <a16:creationId xmlns:a16="http://schemas.microsoft.com/office/drawing/2014/main" id="{62BD9067-5EAD-1097-F494-345290B79AB4}"/>
              </a:ext>
            </a:extLst>
          </p:cNvPr>
          <p:cNvSpPr txBox="1"/>
          <p:nvPr/>
        </p:nvSpPr>
        <p:spPr>
          <a:xfrm>
            <a:off x="7256196" y="3099885"/>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sp>
        <p:nvSpPr>
          <p:cNvPr id="52" name="TextBox 15">
            <a:extLst>
              <a:ext uri="{FF2B5EF4-FFF2-40B4-BE49-F238E27FC236}">
                <a16:creationId xmlns:a16="http://schemas.microsoft.com/office/drawing/2014/main" id="{9F27F4C5-5003-C0B6-AE4D-8A0FFBE599B5}"/>
              </a:ext>
            </a:extLst>
          </p:cNvPr>
          <p:cNvSpPr txBox="1"/>
          <p:nvPr/>
        </p:nvSpPr>
        <p:spPr>
          <a:xfrm>
            <a:off x="5981043" y="3724418"/>
            <a:ext cx="4374551" cy="316305"/>
          </a:xfrm>
          <a:prstGeom prst="rect">
            <a:avLst/>
          </a:prstGeom>
        </p:spPr>
        <p:txBody>
          <a:bodyPr lIns="0" tIns="0" rIns="0" bIns="0" rtlCol="0" anchor="t">
            <a:spAutoFit/>
          </a:bodyPr>
          <a:lstStyle/>
          <a:p>
            <a:pPr marL="0" lvl="0" indent="0" algn="ctr">
              <a:lnSpc>
                <a:spcPts val="2550"/>
              </a:lnSpc>
              <a:spcBef>
                <a:spcPct val="0"/>
              </a:spcBef>
            </a:pPr>
            <a:endParaRPr lang="es-CL" sz="2090" noProof="0" dirty="0">
              <a:latin typeface="Montserrat"/>
              <a:ea typeface="Montserrat"/>
              <a:cs typeface="Montserrat"/>
              <a:sym typeface="Montserrat"/>
            </a:endParaRPr>
          </a:p>
        </p:txBody>
      </p:sp>
      <p:sp>
        <p:nvSpPr>
          <p:cNvPr id="53" name="TextBox 17">
            <a:extLst>
              <a:ext uri="{FF2B5EF4-FFF2-40B4-BE49-F238E27FC236}">
                <a16:creationId xmlns:a16="http://schemas.microsoft.com/office/drawing/2014/main" id="{8BFCCA89-98F7-FA3B-8838-CBAD93FEF3A5}"/>
              </a:ext>
            </a:extLst>
          </p:cNvPr>
          <p:cNvSpPr txBox="1"/>
          <p:nvPr/>
        </p:nvSpPr>
        <p:spPr>
          <a:xfrm>
            <a:off x="5025943" y="3187343"/>
            <a:ext cx="6284751" cy="393482"/>
          </a:xfrm>
          <a:prstGeom prst="rect">
            <a:avLst/>
          </a:prstGeom>
        </p:spPr>
        <p:txBody>
          <a:bodyPr lIns="0" tIns="0" rIns="0" bIns="0" rtlCol="0" anchor="t">
            <a:spAutoFit/>
          </a:bodyPr>
          <a:lstStyle/>
          <a:p>
            <a:pPr marL="0" lvl="0" indent="0" algn="ctr">
              <a:lnSpc>
                <a:spcPts val="3154"/>
              </a:lnSpc>
              <a:spcBef>
                <a:spcPct val="0"/>
              </a:spcBef>
            </a:pPr>
            <a:r>
              <a:rPr lang="es-CL" sz="2585" b="1" noProof="0" dirty="0">
                <a:latin typeface="Montserrat Bold"/>
                <a:ea typeface="Montserrat Bold"/>
                <a:cs typeface="Montserrat Bold"/>
                <a:sym typeface="Montserrat Bold"/>
              </a:rPr>
              <a:t>PLAN FORMATIVO</a:t>
            </a:r>
          </a:p>
        </p:txBody>
      </p:sp>
      <p:pic>
        <p:nvPicPr>
          <p:cNvPr id="58" name="Imagen 57">
            <a:extLst>
              <a:ext uri="{FF2B5EF4-FFF2-40B4-BE49-F238E27FC236}">
                <a16:creationId xmlns:a16="http://schemas.microsoft.com/office/drawing/2014/main" id="{82E6E7DD-3FC1-84B6-110F-A07F2ECF1A52}"/>
              </a:ext>
            </a:extLst>
          </p:cNvPr>
          <p:cNvPicPr>
            <a:picLocks noChangeAspect="1"/>
          </p:cNvPicPr>
          <p:nvPr/>
        </p:nvPicPr>
        <p:blipFill>
          <a:blip r:embed="rId8"/>
          <a:srcRect/>
          <a:stretch>
            <a:fillRect/>
          </a:stretch>
        </p:blipFill>
        <p:spPr>
          <a:xfrm rot="17809176" flipV="1">
            <a:off x="-24950412" y="-1188515"/>
            <a:ext cx="24266498" cy="11655629"/>
          </a:xfrm>
          <a:prstGeom prst="rect">
            <a:avLst/>
          </a:prstGeom>
        </p:spPr>
      </p:pic>
      <p:grpSp>
        <p:nvGrpSpPr>
          <p:cNvPr id="59" name="Group 9">
            <a:extLst>
              <a:ext uri="{FF2B5EF4-FFF2-40B4-BE49-F238E27FC236}">
                <a16:creationId xmlns:a16="http://schemas.microsoft.com/office/drawing/2014/main" id="{ABFE0F03-CC23-C685-2EB4-E739A6498B71}"/>
              </a:ext>
            </a:extLst>
          </p:cNvPr>
          <p:cNvGrpSpPr/>
          <p:nvPr/>
        </p:nvGrpSpPr>
        <p:grpSpPr>
          <a:xfrm>
            <a:off x="-4169172" y="1047481"/>
            <a:ext cx="2304978" cy="2304978"/>
            <a:chOff x="0" y="0"/>
            <a:chExt cx="812800" cy="812800"/>
          </a:xfrm>
        </p:grpSpPr>
        <p:sp>
          <p:nvSpPr>
            <p:cNvPr id="60" name="Freeform 10">
              <a:extLst>
                <a:ext uri="{FF2B5EF4-FFF2-40B4-BE49-F238E27FC236}">
                  <a16:creationId xmlns:a16="http://schemas.microsoft.com/office/drawing/2014/main" id="{FB017AB9-2A0F-5E7F-9586-6BF349F3E52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a:stretch>
            </a:blipFill>
          </p:spPr>
          <p:txBody>
            <a:bodyPr/>
            <a:lstStyle/>
            <a:p>
              <a:endParaRPr lang="es-CL" noProof="0" dirty="0"/>
            </a:p>
          </p:txBody>
        </p:sp>
      </p:grpSp>
      <p:sp>
        <p:nvSpPr>
          <p:cNvPr id="61" name="TextBox 14">
            <a:extLst>
              <a:ext uri="{FF2B5EF4-FFF2-40B4-BE49-F238E27FC236}">
                <a16:creationId xmlns:a16="http://schemas.microsoft.com/office/drawing/2014/main" id="{E4869515-9C76-EC18-466E-1BE735947B09}"/>
              </a:ext>
            </a:extLst>
          </p:cNvPr>
          <p:cNvSpPr txBox="1"/>
          <p:nvPr/>
        </p:nvSpPr>
        <p:spPr>
          <a:xfrm>
            <a:off x="-5107363" y="4487042"/>
            <a:ext cx="4181361" cy="1650003"/>
          </a:xfrm>
          <a:prstGeom prst="rect">
            <a:avLst/>
          </a:prstGeom>
        </p:spPr>
        <p:txBody>
          <a:bodyPr lIns="0" tIns="0" rIns="0" bIns="0" rtlCol="0" anchor="t">
            <a:spAutoFit/>
          </a:bodyPr>
          <a:lstStyle/>
          <a:p>
            <a:pPr marL="0" lvl="0" indent="0" algn="ctr">
              <a:lnSpc>
                <a:spcPts val="2550"/>
              </a:lnSpc>
              <a:spcBef>
                <a:spcPct val="0"/>
              </a:spcBef>
            </a:pPr>
            <a:r>
              <a:rPr lang="es-CL" sz="2090" noProof="0" dirty="0">
                <a:solidFill>
                  <a:schemeClr val="bg2">
                    <a:lumMod val="25000"/>
                  </a:schemeClr>
                </a:solidFill>
                <a:latin typeface="Montserrat"/>
                <a:ea typeface="Montserrat"/>
                <a:cs typeface="Montserrat"/>
                <a:sym typeface="Montserrat"/>
              </a:rPr>
              <a:t>Para Primera y Segunda División. Alto volumen de partidos, historial completo en nube y módulos Fantasma Táctico + Huella de Fatiga.</a:t>
            </a:r>
          </a:p>
        </p:txBody>
      </p:sp>
      <p:sp>
        <p:nvSpPr>
          <p:cNvPr id="62" name="TextBox 18">
            <a:extLst>
              <a:ext uri="{FF2B5EF4-FFF2-40B4-BE49-F238E27FC236}">
                <a16:creationId xmlns:a16="http://schemas.microsoft.com/office/drawing/2014/main" id="{DCFF8A26-87C4-B1D4-3616-32D59324CF81}"/>
              </a:ext>
            </a:extLst>
          </p:cNvPr>
          <p:cNvSpPr txBox="1"/>
          <p:nvPr/>
        </p:nvSpPr>
        <p:spPr>
          <a:xfrm>
            <a:off x="-6159058" y="3949967"/>
            <a:ext cx="6284751" cy="393482"/>
          </a:xfrm>
          <a:prstGeom prst="rect">
            <a:avLst/>
          </a:prstGeom>
        </p:spPr>
        <p:txBody>
          <a:bodyPr lIns="0" tIns="0" rIns="0" bIns="0" rtlCol="0" anchor="t">
            <a:spAutoFit/>
          </a:bodyPr>
          <a:lstStyle/>
          <a:p>
            <a:pPr marL="0" lvl="0" indent="0" algn="ctr">
              <a:lnSpc>
                <a:spcPts val="3154"/>
              </a:lnSpc>
              <a:spcBef>
                <a:spcPct val="0"/>
              </a:spcBef>
            </a:pPr>
            <a:r>
              <a:rPr lang="es-CL" sz="2585" b="1" noProof="0" dirty="0">
                <a:solidFill>
                  <a:schemeClr val="tx1">
                    <a:lumMod val="95000"/>
                    <a:lumOff val="5000"/>
                  </a:schemeClr>
                </a:solidFill>
                <a:latin typeface="Montserrat Bold"/>
                <a:ea typeface="Montserrat Bold"/>
                <a:cs typeface="Montserrat Bold"/>
                <a:sym typeface="Montserrat Bold"/>
              </a:rPr>
              <a:t>PLAN PROFESIONAL</a:t>
            </a:r>
          </a:p>
        </p:txBody>
      </p:sp>
      <p:pic>
        <p:nvPicPr>
          <p:cNvPr id="3" name="Imagen 2">
            <a:extLst>
              <a:ext uri="{FF2B5EF4-FFF2-40B4-BE49-F238E27FC236}">
                <a16:creationId xmlns:a16="http://schemas.microsoft.com/office/drawing/2014/main" id="{578F95AB-812C-B674-BC39-0155C5929E52}"/>
              </a:ext>
            </a:extLst>
          </p:cNvPr>
          <p:cNvPicPr>
            <a:picLocks noChangeAspect="1"/>
          </p:cNvPicPr>
          <p:nvPr/>
        </p:nvPicPr>
        <p:blipFill>
          <a:blip r:embed="rId10"/>
          <a:stretch>
            <a:fillRect/>
          </a:stretch>
        </p:blipFill>
        <p:spPr>
          <a:xfrm>
            <a:off x="4409540" y="797636"/>
            <a:ext cx="7904380" cy="4980293"/>
          </a:xfrm>
          <a:prstGeom prst="rect">
            <a:avLst/>
          </a:prstGeom>
        </p:spPr>
      </p:pic>
    </p:spTree>
    <p:extLst>
      <p:ext uri="{BB962C8B-B14F-4D97-AF65-F5344CB8AC3E}">
        <p14:creationId xmlns:p14="http://schemas.microsoft.com/office/powerpoint/2010/main" val="829014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B2DA1-39FF-46C4-0F7E-A676551EFEF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34E500A4-C289-AD3F-2FB5-42B9CCA1BF60}"/>
              </a:ext>
            </a:extLst>
          </p:cNvPr>
          <p:cNvPicPr>
            <a:picLocks noChangeAspect="1"/>
          </p:cNvPicPr>
          <p:nvPr/>
        </p:nvPicPr>
        <p:blipFill>
          <a:blip r:embed="rId3"/>
          <a:srcRect/>
          <a:stretch>
            <a:fillRect/>
          </a:stretch>
        </p:blipFill>
        <p:spPr>
          <a:xfrm rot="5400000" flipV="1">
            <a:off x="-15182941" y="-2972960"/>
            <a:ext cx="24266498" cy="11655629"/>
          </a:xfrm>
          <a:prstGeom prst="rect">
            <a:avLst/>
          </a:prstGeom>
        </p:spPr>
      </p:pic>
      <p:pic>
        <p:nvPicPr>
          <p:cNvPr id="55" name="Imagen 54">
            <a:extLst>
              <a:ext uri="{FF2B5EF4-FFF2-40B4-BE49-F238E27FC236}">
                <a16:creationId xmlns:a16="http://schemas.microsoft.com/office/drawing/2014/main" id="{28BD720B-493B-A232-1A30-239B42CDB985}"/>
              </a:ext>
            </a:extLst>
          </p:cNvPr>
          <p:cNvPicPr preferRelativeResize="0">
            <a:picLocks noChangeAspect="1"/>
          </p:cNvPicPr>
          <p:nvPr/>
        </p:nvPicPr>
        <p:blipFill>
          <a:blip r:embed="rId4"/>
          <a:srcRect/>
          <a:stretch>
            <a:fillRect/>
          </a:stretch>
        </p:blipFill>
        <p:spPr>
          <a:xfrm rot="10800000">
            <a:off x="11191664" y="-3851497"/>
            <a:ext cx="6555916" cy="15781136"/>
          </a:xfrm>
          <a:prstGeom prst="rect">
            <a:avLst/>
          </a:prstGeom>
        </p:spPr>
      </p:pic>
      <p:sp>
        <p:nvSpPr>
          <p:cNvPr id="11" name="TextBox 19">
            <a:extLst>
              <a:ext uri="{FF2B5EF4-FFF2-40B4-BE49-F238E27FC236}">
                <a16:creationId xmlns:a16="http://schemas.microsoft.com/office/drawing/2014/main" id="{FA31EA26-F8A4-32FD-BA29-7BD2D90C9C71}"/>
              </a:ext>
            </a:extLst>
          </p:cNvPr>
          <p:cNvSpPr txBox="1"/>
          <p:nvPr/>
        </p:nvSpPr>
        <p:spPr>
          <a:xfrm>
            <a:off x="5255064" y="3283085"/>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sp>
        <p:nvSpPr>
          <p:cNvPr id="90" name="Rectángulo 89">
            <a:extLst>
              <a:ext uri="{FF2B5EF4-FFF2-40B4-BE49-F238E27FC236}">
                <a16:creationId xmlns:a16="http://schemas.microsoft.com/office/drawing/2014/main" id="{7708EBED-A891-177C-A47F-A3D248E438BC}"/>
              </a:ext>
            </a:extLst>
          </p:cNvPr>
          <p:cNvSpPr/>
          <p:nvPr/>
        </p:nvSpPr>
        <p:spPr>
          <a:xfrm>
            <a:off x="7874000" y="-22620"/>
            <a:ext cx="4318000" cy="6880619"/>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F0B8932D-3849-0A17-6C9D-52A0E548EE10}"/>
              </a:ext>
            </a:extLst>
          </p:cNvPr>
          <p:cNvSpPr txBox="1"/>
          <p:nvPr/>
        </p:nvSpPr>
        <p:spPr>
          <a:xfrm>
            <a:off x="7873489" y="-22619"/>
            <a:ext cx="4313957" cy="2032929"/>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Evidencias </a:t>
            </a:r>
          </a:p>
          <a:p>
            <a:pPr lvl="0">
              <a:lnSpc>
                <a:spcPts val="7791"/>
              </a:lnSpc>
              <a:spcBef>
                <a:spcPct val="0"/>
              </a:spcBef>
            </a:pPr>
            <a:r>
              <a:rPr lang="es-CL" sz="6000" b="1" spc="-557" dirty="0">
                <a:solidFill>
                  <a:schemeClr val="bg1">
                    <a:lumMod val="85000"/>
                  </a:schemeClr>
                </a:solidFill>
                <a:latin typeface="Montserrat Bold"/>
                <a:ea typeface="Montserrat Bold"/>
                <a:cs typeface="Montserrat Bold"/>
                <a:sym typeface="Montserrat Bold"/>
              </a:rPr>
              <a:t>(Mapa calor)</a:t>
            </a:r>
          </a:p>
        </p:txBody>
      </p:sp>
      <p:sp>
        <p:nvSpPr>
          <p:cNvPr id="92" name="CuadroTexto 91">
            <a:extLst>
              <a:ext uri="{FF2B5EF4-FFF2-40B4-BE49-F238E27FC236}">
                <a16:creationId xmlns:a16="http://schemas.microsoft.com/office/drawing/2014/main" id="{DD232495-5117-3F96-FB9F-CCBFF1A9FDF5}"/>
              </a:ext>
            </a:extLst>
          </p:cNvPr>
          <p:cNvSpPr txBox="1"/>
          <p:nvPr/>
        </p:nvSpPr>
        <p:spPr>
          <a:xfrm>
            <a:off x="8770580" y="5556140"/>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bg1">
                    <a:lumMod val="85000"/>
                  </a:schemeClr>
                </a:solidFill>
                <a:latin typeface="Montserrat Bold"/>
                <a:ea typeface="Montserrat Bold"/>
                <a:cs typeface="Montserrat Bold"/>
                <a:sym typeface="Montserrat Bold"/>
              </a:rPr>
              <a:t>Fut.Ai</a:t>
            </a:r>
          </a:p>
        </p:txBody>
      </p:sp>
      <p:pic>
        <p:nvPicPr>
          <p:cNvPr id="94" name="Imagen 93">
            <a:extLst>
              <a:ext uri="{FF2B5EF4-FFF2-40B4-BE49-F238E27FC236}">
                <a16:creationId xmlns:a16="http://schemas.microsoft.com/office/drawing/2014/main" id="{648AA2CA-8678-DD58-F973-E253B655445E}"/>
              </a:ext>
            </a:extLst>
          </p:cNvPr>
          <p:cNvPicPr>
            <a:picLocks noChangeAspect="1"/>
          </p:cNvPicPr>
          <p:nvPr/>
        </p:nvPicPr>
        <p:blipFill>
          <a:blip r:embed="rId5"/>
          <a:srcRect/>
          <a:stretch>
            <a:fillRect/>
          </a:stretch>
        </p:blipFill>
        <p:spPr>
          <a:xfrm>
            <a:off x="10581693" y="5758014"/>
            <a:ext cx="996664" cy="863537"/>
          </a:xfrm>
          <a:prstGeom prst="rect">
            <a:avLst/>
          </a:prstGeom>
        </p:spPr>
      </p:pic>
      <mc:AlternateContent xmlns:mc="http://schemas.openxmlformats.org/markup-compatibility/2006">
        <mc:Choice xmlns:am3d="http://schemas.microsoft.com/office/drawing/2017/model3d" Requires="am3d">
          <p:graphicFrame>
            <p:nvGraphicFramePr>
              <p:cNvPr id="88" name="Modelo 3D 87">
                <a:extLst>
                  <a:ext uri="{FF2B5EF4-FFF2-40B4-BE49-F238E27FC236}">
                    <a16:creationId xmlns:a16="http://schemas.microsoft.com/office/drawing/2014/main" id="{1E526A1B-84DA-CBBD-2E70-EC1CC71D6F8C}"/>
                  </a:ext>
                </a:extLst>
              </p:cNvPr>
              <p:cNvGraphicFramePr>
                <a:graphicFrameLocks noChangeAspect="1"/>
              </p:cNvGraphicFramePr>
              <p:nvPr>
                <p:extLst>
                  <p:ext uri="{D42A27DB-BD31-4B8C-83A1-F6EECF244321}">
                    <p14:modId xmlns:p14="http://schemas.microsoft.com/office/powerpoint/2010/main" val="3978088543"/>
                  </p:ext>
                </p:extLst>
              </p:nvPr>
            </p:nvGraphicFramePr>
            <p:xfrm>
              <a:off x="9359575" y="3644403"/>
              <a:ext cx="1341784" cy="1341783"/>
            </p:xfrm>
            <a:graphic>
              <a:graphicData uri="http://schemas.microsoft.com/office/drawing/2017/model3d">
                <am3d:model3d r:embed="rId6">
                  <am3d:spPr>
                    <a:xfrm>
                      <a:off x="0" y="0"/>
                      <a:ext cx="1341784" cy="1341783"/>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5400002" ay="3600002" az="-5400003"/>
                    <am3d:postTrans dx="0" dy="0" dz="0"/>
                  </am3d:trans>
                  <am3d:raster rName="Office3DRenderer" rVer="16.0.8326">
                    <am3d:blip r:embed="rId7"/>
                  </am3d:raster>
                  <am3d:objViewport viewportSz="345437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8" name="Modelo 3D 87">
                <a:extLst>
                  <a:ext uri="{FF2B5EF4-FFF2-40B4-BE49-F238E27FC236}">
                    <a16:creationId xmlns:a16="http://schemas.microsoft.com/office/drawing/2014/main" id="{1E526A1B-84DA-CBBD-2E70-EC1CC71D6F8C}"/>
                  </a:ext>
                </a:extLst>
              </p:cNvPr>
              <p:cNvPicPr>
                <a:picLocks noGrp="1" noRot="1" noChangeAspect="1" noMove="1" noResize="1" noEditPoints="1" noAdjustHandles="1" noChangeArrowheads="1" noChangeShapeType="1" noCrop="1"/>
              </p:cNvPicPr>
              <p:nvPr/>
            </p:nvPicPr>
            <p:blipFill>
              <a:blip r:embed="rId7"/>
              <a:stretch>
                <a:fillRect/>
              </a:stretch>
            </p:blipFill>
            <p:spPr>
              <a:xfrm>
                <a:off x="9359575" y="3644403"/>
                <a:ext cx="1341784" cy="1341783"/>
              </a:xfrm>
              <a:prstGeom prst="rect">
                <a:avLst/>
              </a:prstGeom>
            </p:spPr>
          </p:pic>
        </mc:Fallback>
      </mc:AlternateContent>
      <p:sp>
        <p:nvSpPr>
          <p:cNvPr id="36" name="TextBox 19">
            <a:extLst>
              <a:ext uri="{FF2B5EF4-FFF2-40B4-BE49-F238E27FC236}">
                <a16:creationId xmlns:a16="http://schemas.microsoft.com/office/drawing/2014/main" id="{89D6325A-F26A-C9B5-9F27-7BB0CF674114}"/>
              </a:ext>
            </a:extLst>
          </p:cNvPr>
          <p:cNvSpPr txBox="1"/>
          <p:nvPr/>
        </p:nvSpPr>
        <p:spPr>
          <a:xfrm>
            <a:off x="15273712" y="3483478"/>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grpSp>
        <p:nvGrpSpPr>
          <p:cNvPr id="50" name="Group 7">
            <a:extLst>
              <a:ext uri="{FF2B5EF4-FFF2-40B4-BE49-F238E27FC236}">
                <a16:creationId xmlns:a16="http://schemas.microsoft.com/office/drawing/2014/main" id="{3566C3F8-1EA9-AF72-C0EF-D7F7E80D15E8}"/>
              </a:ext>
            </a:extLst>
          </p:cNvPr>
          <p:cNvGrpSpPr/>
          <p:nvPr/>
        </p:nvGrpSpPr>
        <p:grpSpPr>
          <a:xfrm>
            <a:off x="15033345" y="738146"/>
            <a:ext cx="2304978" cy="2304978"/>
            <a:chOff x="0" y="0"/>
            <a:chExt cx="812800" cy="812800"/>
          </a:xfrm>
        </p:grpSpPr>
        <p:sp>
          <p:nvSpPr>
            <p:cNvPr id="51" name="Freeform 8">
              <a:extLst>
                <a:ext uri="{FF2B5EF4-FFF2-40B4-BE49-F238E27FC236}">
                  <a16:creationId xmlns:a16="http://schemas.microsoft.com/office/drawing/2014/main" id="{059CCFA8-81D2-B002-EB10-CCEE6D60CA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a:stretch>
            </a:blipFill>
          </p:spPr>
          <p:txBody>
            <a:bodyPr/>
            <a:lstStyle/>
            <a:p>
              <a:endParaRPr lang="es-CL" noProof="0" dirty="0"/>
            </a:p>
          </p:txBody>
        </p:sp>
      </p:grpSp>
      <p:sp>
        <p:nvSpPr>
          <p:cNvPr id="52" name="TextBox 15">
            <a:extLst>
              <a:ext uri="{FF2B5EF4-FFF2-40B4-BE49-F238E27FC236}">
                <a16:creationId xmlns:a16="http://schemas.microsoft.com/office/drawing/2014/main" id="{00DCF540-47E4-0B93-89E2-EBC8C4BCE592}"/>
              </a:ext>
            </a:extLst>
          </p:cNvPr>
          <p:cNvSpPr txBox="1"/>
          <p:nvPr/>
        </p:nvSpPr>
        <p:spPr>
          <a:xfrm>
            <a:off x="13998559" y="4108011"/>
            <a:ext cx="4374551" cy="1650003"/>
          </a:xfrm>
          <a:prstGeom prst="rect">
            <a:avLst/>
          </a:prstGeom>
        </p:spPr>
        <p:txBody>
          <a:bodyPr lIns="0" tIns="0" rIns="0" bIns="0" rtlCol="0" anchor="t">
            <a:spAutoFit/>
          </a:bodyPr>
          <a:lstStyle/>
          <a:p>
            <a:pPr marL="0" lvl="0" indent="0" algn="ctr">
              <a:lnSpc>
                <a:spcPts val="2550"/>
              </a:lnSpc>
              <a:spcBef>
                <a:spcPct val="0"/>
              </a:spcBef>
            </a:pPr>
            <a:r>
              <a:rPr lang="es-CL" sz="2090" noProof="0" dirty="0">
                <a:latin typeface="Montserrat"/>
                <a:ea typeface="Montserrat"/>
                <a:cs typeface="Montserrat"/>
                <a:sym typeface="Montserrat"/>
              </a:rPr>
              <a:t>Para academias y clubes formativos. Volumen bajo (~5 partidos/mes) con métricas MVP esenciales y acceso al </a:t>
            </a:r>
            <a:r>
              <a:rPr lang="es-CL" sz="2090" noProof="0" dirty="0" err="1">
                <a:latin typeface="Montserrat"/>
                <a:ea typeface="Montserrat"/>
                <a:cs typeface="Montserrat"/>
                <a:sym typeface="Montserrat"/>
              </a:rPr>
              <a:t>dashboard</a:t>
            </a:r>
            <a:r>
              <a:rPr lang="es-CL" sz="2090" noProof="0" dirty="0">
                <a:latin typeface="Montserrat"/>
                <a:ea typeface="Montserrat"/>
                <a:cs typeface="Montserrat"/>
                <a:sym typeface="Montserrat"/>
              </a:rPr>
              <a:t> básico.</a:t>
            </a:r>
          </a:p>
        </p:txBody>
      </p:sp>
      <p:sp>
        <p:nvSpPr>
          <p:cNvPr id="6" name="TextBox 14">
            <a:extLst>
              <a:ext uri="{FF2B5EF4-FFF2-40B4-BE49-F238E27FC236}">
                <a16:creationId xmlns:a16="http://schemas.microsoft.com/office/drawing/2014/main" id="{91BE9F61-98A3-108E-6507-1C7E8CD304FD}"/>
              </a:ext>
            </a:extLst>
          </p:cNvPr>
          <p:cNvSpPr txBox="1"/>
          <p:nvPr/>
        </p:nvSpPr>
        <p:spPr>
          <a:xfrm>
            <a:off x="2181977" y="4161184"/>
            <a:ext cx="4181361" cy="1650003"/>
          </a:xfrm>
          <a:prstGeom prst="rect">
            <a:avLst/>
          </a:prstGeom>
        </p:spPr>
        <p:txBody>
          <a:bodyPr lIns="0" tIns="0" rIns="0" bIns="0" rtlCol="0" anchor="t">
            <a:spAutoFit/>
          </a:bodyPr>
          <a:lstStyle/>
          <a:p>
            <a:pPr marL="0" lvl="0" indent="0" algn="ctr">
              <a:lnSpc>
                <a:spcPts val="2550"/>
              </a:lnSpc>
              <a:spcBef>
                <a:spcPct val="0"/>
              </a:spcBef>
            </a:pPr>
            <a:r>
              <a:rPr lang="es-CL" sz="2090" noProof="0" dirty="0">
                <a:solidFill>
                  <a:schemeClr val="bg2">
                    <a:lumMod val="25000"/>
                  </a:schemeClr>
                </a:solidFill>
                <a:latin typeface="Montserrat"/>
                <a:ea typeface="Montserrat"/>
                <a:cs typeface="Montserrat"/>
                <a:sym typeface="Montserrat"/>
              </a:rPr>
              <a:t>Para Primera y Segunda División. Alto volumen de partidos, historial completo en nube y módulos Fantasma Táctico + Huella de Fatiga.</a:t>
            </a:r>
          </a:p>
        </p:txBody>
      </p:sp>
      <p:sp>
        <p:nvSpPr>
          <p:cNvPr id="8" name="TextBox 18">
            <a:extLst>
              <a:ext uri="{FF2B5EF4-FFF2-40B4-BE49-F238E27FC236}">
                <a16:creationId xmlns:a16="http://schemas.microsoft.com/office/drawing/2014/main" id="{6F8B2568-E119-3E02-E0A2-0D8D39B24750}"/>
              </a:ext>
            </a:extLst>
          </p:cNvPr>
          <p:cNvSpPr txBox="1"/>
          <p:nvPr/>
        </p:nvSpPr>
        <p:spPr>
          <a:xfrm>
            <a:off x="1343585" y="541405"/>
            <a:ext cx="6284751" cy="393482"/>
          </a:xfrm>
          <a:prstGeom prst="rect">
            <a:avLst/>
          </a:prstGeom>
        </p:spPr>
        <p:txBody>
          <a:bodyPr lIns="0" tIns="0" rIns="0" bIns="0" rtlCol="0" anchor="t">
            <a:spAutoFit/>
          </a:bodyPr>
          <a:lstStyle/>
          <a:p>
            <a:pPr marL="0" lvl="0" indent="0" algn="ctr">
              <a:lnSpc>
                <a:spcPts val="3154"/>
              </a:lnSpc>
              <a:spcBef>
                <a:spcPct val="0"/>
              </a:spcBef>
            </a:pPr>
            <a:r>
              <a:rPr lang="es-CL" sz="2585" b="1" noProof="0" dirty="0">
                <a:solidFill>
                  <a:schemeClr val="tx1">
                    <a:lumMod val="95000"/>
                    <a:lumOff val="5000"/>
                  </a:schemeClr>
                </a:solidFill>
                <a:latin typeface="Montserrat Bold"/>
                <a:ea typeface="Montserrat Bold"/>
                <a:cs typeface="Montserrat Bold"/>
                <a:sym typeface="Montserrat Bold"/>
              </a:rPr>
              <a:t>Equipo 1 </a:t>
            </a:r>
          </a:p>
        </p:txBody>
      </p:sp>
      <p:pic>
        <p:nvPicPr>
          <p:cNvPr id="9" name="Imagen 8">
            <a:extLst>
              <a:ext uri="{FF2B5EF4-FFF2-40B4-BE49-F238E27FC236}">
                <a16:creationId xmlns:a16="http://schemas.microsoft.com/office/drawing/2014/main" id="{4251F050-72F9-E0A0-6277-3F89BE02E110}"/>
              </a:ext>
            </a:extLst>
          </p:cNvPr>
          <p:cNvPicPr>
            <a:picLocks noChangeAspect="1"/>
          </p:cNvPicPr>
          <p:nvPr/>
        </p:nvPicPr>
        <p:blipFill>
          <a:blip r:embed="rId9"/>
          <a:stretch>
            <a:fillRect/>
          </a:stretch>
        </p:blipFill>
        <p:spPr>
          <a:xfrm>
            <a:off x="613643" y="1450944"/>
            <a:ext cx="7103333" cy="5087196"/>
          </a:xfrm>
          <a:prstGeom prst="rect">
            <a:avLst/>
          </a:prstGeom>
        </p:spPr>
      </p:pic>
    </p:spTree>
    <p:extLst>
      <p:ext uri="{BB962C8B-B14F-4D97-AF65-F5344CB8AC3E}">
        <p14:creationId xmlns:p14="http://schemas.microsoft.com/office/powerpoint/2010/main" val="2283339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C47EC-C16A-48CD-AC47-51F81DE25083}"/>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3202F56-B2EA-884C-317E-1BAB049531A5}"/>
              </a:ext>
            </a:extLst>
          </p:cNvPr>
          <p:cNvPicPr>
            <a:picLocks noChangeAspect="1"/>
          </p:cNvPicPr>
          <p:nvPr/>
        </p:nvPicPr>
        <p:blipFill>
          <a:blip r:embed="rId3"/>
          <a:srcRect/>
          <a:stretch>
            <a:fillRect/>
          </a:stretch>
        </p:blipFill>
        <p:spPr>
          <a:xfrm rot="5400000" flipV="1">
            <a:off x="-10744342" y="16229018"/>
            <a:ext cx="24266498" cy="11655629"/>
          </a:xfrm>
          <a:prstGeom prst="rect">
            <a:avLst/>
          </a:prstGeom>
        </p:spPr>
      </p:pic>
      <p:pic>
        <p:nvPicPr>
          <p:cNvPr id="55" name="Imagen 54">
            <a:extLst>
              <a:ext uri="{FF2B5EF4-FFF2-40B4-BE49-F238E27FC236}">
                <a16:creationId xmlns:a16="http://schemas.microsoft.com/office/drawing/2014/main" id="{8EE9076A-0069-38C3-4302-C73D2B7DE263}"/>
              </a:ext>
            </a:extLst>
          </p:cNvPr>
          <p:cNvPicPr preferRelativeResize="0">
            <a:picLocks noChangeAspect="1"/>
          </p:cNvPicPr>
          <p:nvPr/>
        </p:nvPicPr>
        <p:blipFill>
          <a:blip r:embed="rId4"/>
          <a:srcRect/>
          <a:stretch>
            <a:fillRect/>
          </a:stretch>
        </p:blipFill>
        <p:spPr>
          <a:xfrm>
            <a:off x="10136343" y="-4879983"/>
            <a:ext cx="6555916" cy="15781136"/>
          </a:xfrm>
          <a:prstGeom prst="rect">
            <a:avLst/>
          </a:prstGeom>
        </p:spPr>
      </p:pic>
      <p:sp>
        <p:nvSpPr>
          <p:cNvPr id="11" name="TextBox 19">
            <a:extLst>
              <a:ext uri="{FF2B5EF4-FFF2-40B4-BE49-F238E27FC236}">
                <a16:creationId xmlns:a16="http://schemas.microsoft.com/office/drawing/2014/main" id="{36BE5C8D-36D7-FDB0-C1F2-CE47E139E052}"/>
              </a:ext>
            </a:extLst>
          </p:cNvPr>
          <p:cNvSpPr txBox="1"/>
          <p:nvPr/>
        </p:nvSpPr>
        <p:spPr>
          <a:xfrm>
            <a:off x="5255064" y="3283085"/>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sp>
        <p:nvSpPr>
          <p:cNvPr id="90" name="Rectángulo 89">
            <a:extLst>
              <a:ext uri="{FF2B5EF4-FFF2-40B4-BE49-F238E27FC236}">
                <a16:creationId xmlns:a16="http://schemas.microsoft.com/office/drawing/2014/main" id="{82B2A340-502D-1FBB-21B0-D1D20EB23BB9}"/>
              </a:ext>
            </a:extLst>
          </p:cNvPr>
          <p:cNvSpPr/>
          <p:nvPr/>
        </p:nvSpPr>
        <p:spPr>
          <a:xfrm>
            <a:off x="-158464" y="-22619"/>
            <a:ext cx="4318000" cy="6880619"/>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6EC4F7BD-16C2-9B45-2EE4-0B9262350FF6}"/>
              </a:ext>
            </a:extLst>
          </p:cNvPr>
          <p:cNvSpPr txBox="1"/>
          <p:nvPr/>
        </p:nvSpPr>
        <p:spPr>
          <a:xfrm>
            <a:off x="-97179" y="-22618"/>
            <a:ext cx="4313957" cy="2032929"/>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Evidencias</a:t>
            </a:r>
          </a:p>
          <a:p>
            <a:pPr lvl="0">
              <a:lnSpc>
                <a:spcPts val="7791"/>
              </a:lnSpc>
              <a:spcBef>
                <a:spcPct val="0"/>
              </a:spcBef>
            </a:pPr>
            <a:r>
              <a:rPr lang="es-CL" sz="6000" b="1" spc="-557" dirty="0">
                <a:solidFill>
                  <a:schemeClr val="bg1">
                    <a:lumMod val="85000"/>
                  </a:schemeClr>
                </a:solidFill>
                <a:latin typeface="Montserrat Bold"/>
                <a:ea typeface="Montserrat Bold"/>
                <a:cs typeface="Montserrat Bold"/>
                <a:sym typeface="Montserrat Bold"/>
              </a:rPr>
              <a:t>(Mapa calor)</a:t>
            </a:r>
            <a:endParaRPr lang="es-CL" sz="6000" b="1" spc="-557" noProof="0" dirty="0">
              <a:solidFill>
                <a:schemeClr val="bg1">
                  <a:lumMod val="85000"/>
                </a:schemeClr>
              </a:solidFill>
              <a:latin typeface="Montserrat Bold"/>
              <a:ea typeface="Montserrat Bold"/>
              <a:cs typeface="Montserrat Bold"/>
              <a:sym typeface="Montserrat Bold"/>
            </a:endParaRPr>
          </a:p>
        </p:txBody>
      </p:sp>
      <p:sp>
        <p:nvSpPr>
          <p:cNvPr id="92" name="CuadroTexto 91">
            <a:extLst>
              <a:ext uri="{FF2B5EF4-FFF2-40B4-BE49-F238E27FC236}">
                <a16:creationId xmlns:a16="http://schemas.microsoft.com/office/drawing/2014/main" id="{B07B279E-F69B-263F-504C-6683A2F11F94}"/>
              </a:ext>
            </a:extLst>
          </p:cNvPr>
          <p:cNvSpPr txBox="1"/>
          <p:nvPr/>
        </p:nvSpPr>
        <p:spPr>
          <a:xfrm>
            <a:off x="799912" y="5639074"/>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bg1">
                    <a:lumMod val="85000"/>
                  </a:schemeClr>
                </a:solidFill>
                <a:latin typeface="Montserrat Bold"/>
                <a:ea typeface="Montserrat Bold"/>
                <a:cs typeface="Montserrat Bold"/>
                <a:sym typeface="Montserrat Bold"/>
              </a:rPr>
              <a:t>Fut.Ai</a:t>
            </a:r>
          </a:p>
        </p:txBody>
      </p:sp>
      <p:pic>
        <p:nvPicPr>
          <p:cNvPr id="94" name="Imagen 93">
            <a:extLst>
              <a:ext uri="{FF2B5EF4-FFF2-40B4-BE49-F238E27FC236}">
                <a16:creationId xmlns:a16="http://schemas.microsoft.com/office/drawing/2014/main" id="{023E232F-7A31-845E-243C-C15AD2081D85}"/>
              </a:ext>
            </a:extLst>
          </p:cNvPr>
          <p:cNvPicPr>
            <a:picLocks noChangeAspect="1"/>
          </p:cNvPicPr>
          <p:nvPr/>
        </p:nvPicPr>
        <p:blipFill>
          <a:blip r:embed="rId5"/>
          <a:srcRect/>
          <a:stretch>
            <a:fillRect/>
          </a:stretch>
        </p:blipFill>
        <p:spPr>
          <a:xfrm>
            <a:off x="2611025" y="5840948"/>
            <a:ext cx="996664" cy="863537"/>
          </a:xfrm>
          <a:prstGeom prst="rect">
            <a:avLst/>
          </a:prstGeom>
        </p:spPr>
      </p:pic>
      <mc:AlternateContent xmlns:mc="http://schemas.openxmlformats.org/markup-compatibility/2006">
        <mc:Choice xmlns:am3d="http://schemas.microsoft.com/office/drawing/2017/model3d" Requires="am3d">
          <p:graphicFrame>
            <p:nvGraphicFramePr>
              <p:cNvPr id="88" name="Modelo 3D 87">
                <a:extLst>
                  <a:ext uri="{FF2B5EF4-FFF2-40B4-BE49-F238E27FC236}">
                    <a16:creationId xmlns:a16="http://schemas.microsoft.com/office/drawing/2014/main" id="{76A3463E-7373-7D91-34C5-2AC9F1386A77}"/>
                  </a:ext>
                </a:extLst>
              </p:cNvPr>
              <p:cNvGraphicFramePr>
                <a:graphicFrameLocks noChangeAspect="1"/>
              </p:cNvGraphicFramePr>
              <p:nvPr>
                <p:extLst>
                  <p:ext uri="{D42A27DB-BD31-4B8C-83A1-F6EECF244321}">
                    <p14:modId xmlns:p14="http://schemas.microsoft.com/office/powerpoint/2010/main" val="272641266"/>
                  </p:ext>
                </p:extLst>
              </p:nvPr>
            </p:nvGraphicFramePr>
            <p:xfrm>
              <a:off x="1388906" y="3727336"/>
              <a:ext cx="1341784" cy="1341783"/>
            </p:xfrm>
            <a:graphic>
              <a:graphicData uri="http://schemas.microsoft.com/office/drawing/2017/model3d">
                <am3d:model3d r:embed="rId6">
                  <am3d:spPr>
                    <a:xfrm>
                      <a:off x="0" y="0"/>
                      <a:ext cx="1341784" cy="1341783"/>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5400000" ay="3600000" az="5400000"/>
                    <am3d:postTrans dx="0" dy="0" dz="0"/>
                  </am3d:trans>
                  <am3d:raster rName="Office3DRenderer" rVer="16.0.8326">
                    <am3d:blip r:embed="rId7"/>
                  </am3d:raster>
                  <am3d:objViewport viewportSz="345437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8" name="Modelo 3D 87">
                <a:extLst>
                  <a:ext uri="{FF2B5EF4-FFF2-40B4-BE49-F238E27FC236}">
                    <a16:creationId xmlns:a16="http://schemas.microsoft.com/office/drawing/2014/main" id="{76A3463E-7373-7D91-34C5-2AC9F1386A77}"/>
                  </a:ext>
                </a:extLst>
              </p:cNvPr>
              <p:cNvPicPr>
                <a:picLocks noGrp="1" noRot="1" noChangeAspect="1" noMove="1" noResize="1" noEditPoints="1" noAdjustHandles="1" noChangeArrowheads="1" noChangeShapeType="1" noCrop="1"/>
              </p:cNvPicPr>
              <p:nvPr/>
            </p:nvPicPr>
            <p:blipFill>
              <a:blip r:embed="rId7"/>
              <a:stretch>
                <a:fillRect/>
              </a:stretch>
            </p:blipFill>
            <p:spPr>
              <a:xfrm>
                <a:off x="1388906" y="3727336"/>
                <a:ext cx="1341784" cy="1341783"/>
              </a:xfrm>
              <a:prstGeom prst="rect">
                <a:avLst/>
              </a:prstGeom>
            </p:spPr>
          </p:pic>
        </mc:Fallback>
      </mc:AlternateContent>
      <p:grpSp>
        <p:nvGrpSpPr>
          <p:cNvPr id="4" name="Group 9">
            <a:extLst>
              <a:ext uri="{FF2B5EF4-FFF2-40B4-BE49-F238E27FC236}">
                <a16:creationId xmlns:a16="http://schemas.microsoft.com/office/drawing/2014/main" id="{03FC1E2F-3784-6B48-C5D9-A47F61351498}"/>
              </a:ext>
            </a:extLst>
          </p:cNvPr>
          <p:cNvGrpSpPr/>
          <p:nvPr/>
        </p:nvGrpSpPr>
        <p:grpSpPr>
          <a:xfrm>
            <a:off x="-6037494" y="462342"/>
            <a:ext cx="2304978" cy="2304978"/>
            <a:chOff x="0" y="0"/>
            <a:chExt cx="812800" cy="812800"/>
          </a:xfrm>
        </p:grpSpPr>
        <p:sp>
          <p:nvSpPr>
            <p:cNvPr id="5" name="Freeform 10">
              <a:extLst>
                <a:ext uri="{FF2B5EF4-FFF2-40B4-BE49-F238E27FC236}">
                  <a16:creationId xmlns:a16="http://schemas.microsoft.com/office/drawing/2014/main" id="{FB2D0C5A-2DE6-61A6-C5B7-F91675E4330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a:stretch>
            </a:blipFill>
          </p:spPr>
          <p:txBody>
            <a:bodyPr/>
            <a:lstStyle/>
            <a:p>
              <a:endParaRPr lang="es-CL" noProof="0" dirty="0"/>
            </a:p>
          </p:txBody>
        </p:sp>
      </p:grpSp>
      <p:sp>
        <p:nvSpPr>
          <p:cNvPr id="6" name="TextBox 14">
            <a:extLst>
              <a:ext uri="{FF2B5EF4-FFF2-40B4-BE49-F238E27FC236}">
                <a16:creationId xmlns:a16="http://schemas.microsoft.com/office/drawing/2014/main" id="{A6214A41-E21E-542F-2132-FF98045A8126}"/>
              </a:ext>
            </a:extLst>
          </p:cNvPr>
          <p:cNvSpPr txBox="1"/>
          <p:nvPr/>
        </p:nvSpPr>
        <p:spPr>
          <a:xfrm>
            <a:off x="-6975685" y="3901903"/>
            <a:ext cx="4181361" cy="1650003"/>
          </a:xfrm>
          <a:prstGeom prst="rect">
            <a:avLst/>
          </a:prstGeom>
        </p:spPr>
        <p:txBody>
          <a:bodyPr lIns="0" tIns="0" rIns="0" bIns="0" rtlCol="0" anchor="t">
            <a:spAutoFit/>
          </a:bodyPr>
          <a:lstStyle/>
          <a:p>
            <a:pPr marL="0" lvl="0" indent="0" algn="ctr">
              <a:lnSpc>
                <a:spcPts val="2550"/>
              </a:lnSpc>
              <a:spcBef>
                <a:spcPct val="0"/>
              </a:spcBef>
            </a:pPr>
            <a:r>
              <a:rPr lang="es-CL" sz="2090" noProof="0" dirty="0">
                <a:solidFill>
                  <a:schemeClr val="bg2">
                    <a:lumMod val="25000"/>
                  </a:schemeClr>
                </a:solidFill>
                <a:latin typeface="Montserrat"/>
                <a:ea typeface="Montserrat"/>
                <a:cs typeface="Montserrat"/>
                <a:sym typeface="Montserrat"/>
              </a:rPr>
              <a:t>Para Primera y Segunda División. Alto volumen de partidos, historial completo en nube y módulos Fantasma Táctico + Huella de Fatiga.</a:t>
            </a:r>
          </a:p>
        </p:txBody>
      </p:sp>
      <p:sp>
        <p:nvSpPr>
          <p:cNvPr id="8" name="TextBox 18">
            <a:extLst>
              <a:ext uri="{FF2B5EF4-FFF2-40B4-BE49-F238E27FC236}">
                <a16:creationId xmlns:a16="http://schemas.microsoft.com/office/drawing/2014/main" id="{FA316D71-BD5E-ABF1-144E-0955FB7EE300}"/>
              </a:ext>
            </a:extLst>
          </p:cNvPr>
          <p:cNvSpPr txBox="1"/>
          <p:nvPr/>
        </p:nvSpPr>
        <p:spPr>
          <a:xfrm>
            <a:off x="-8027380" y="3364828"/>
            <a:ext cx="6284751" cy="393482"/>
          </a:xfrm>
          <a:prstGeom prst="rect">
            <a:avLst/>
          </a:prstGeom>
        </p:spPr>
        <p:txBody>
          <a:bodyPr lIns="0" tIns="0" rIns="0" bIns="0" rtlCol="0" anchor="t">
            <a:spAutoFit/>
          </a:bodyPr>
          <a:lstStyle/>
          <a:p>
            <a:pPr marL="0" lvl="0" indent="0" algn="ctr">
              <a:lnSpc>
                <a:spcPts val="3154"/>
              </a:lnSpc>
              <a:spcBef>
                <a:spcPct val="0"/>
              </a:spcBef>
            </a:pPr>
            <a:r>
              <a:rPr lang="es-CL" sz="2585" b="1" noProof="0" dirty="0">
                <a:solidFill>
                  <a:schemeClr val="tx1">
                    <a:lumMod val="95000"/>
                    <a:lumOff val="5000"/>
                  </a:schemeClr>
                </a:solidFill>
                <a:latin typeface="Montserrat Bold"/>
                <a:ea typeface="Montserrat Bold"/>
                <a:cs typeface="Montserrat Bold"/>
                <a:sym typeface="Montserrat Bold"/>
              </a:rPr>
              <a:t>PLAN PROFESIONAL</a:t>
            </a:r>
          </a:p>
        </p:txBody>
      </p:sp>
      <p:sp>
        <p:nvSpPr>
          <p:cNvPr id="10" name="TextBox 16">
            <a:extLst>
              <a:ext uri="{FF2B5EF4-FFF2-40B4-BE49-F238E27FC236}">
                <a16:creationId xmlns:a16="http://schemas.microsoft.com/office/drawing/2014/main" id="{AB955B11-9925-669E-B917-6452CED7E296}"/>
              </a:ext>
            </a:extLst>
          </p:cNvPr>
          <p:cNvSpPr txBox="1"/>
          <p:nvPr/>
        </p:nvSpPr>
        <p:spPr>
          <a:xfrm>
            <a:off x="5703362" y="4003472"/>
            <a:ext cx="4248910" cy="316305"/>
          </a:xfrm>
          <a:prstGeom prst="rect">
            <a:avLst/>
          </a:prstGeom>
        </p:spPr>
        <p:txBody>
          <a:bodyPr lIns="0" tIns="0" rIns="0" bIns="0" rtlCol="0" anchor="t">
            <a:spAutoFit/>
          </a:bodyPr>
          <a:lstStyle/>
          <a:p>
            <a:pPr marL="0" lvl="0" indent="0" algn="ctr">
              <a:lnSpc>
                <a:spcPts val="2550"/>
              </a:lnSpc>
              <a:spcBef>
                <a:spcPct val="0"/>
              </a:spcBef>
            </a:pPr>
            <a:endParaRPr lang="es-CL" sz="2090" noProof="0" dirty="0">
              <a:solidFill>
                <a:schemeClr val="tx1">
                  <a:lumMod val="95000"/>
                  <a:lumOff val="5000"/>
                </a:schemeClr>
              </a:solidFill>
              <a:latin typeface="Montserrat"/>
              <a:ea typeface="Montserrat"/>
              <a:cs typeface="Montserrat"/>
              <a:sym typeface="Montserrat"/>
            </a:endParaRPr>
          </a:p>
        </p:txBody>
      </p:sp>
      <p:sp>
        <p:nvSpPr>
          <p:cNvPr id="12" name="TextBox 19">
            <a:extLst>
              <a:ext uri="{FF2B5EF4-FFF2-40B4-BE49-F238E27FC236}">
                <a16:creationId xmlns:a16="http://schemas.microsoft.com/office/drawing/2014/main" id="{E88A90A9-918D-2E39-D3A9-5EA823CBA49B}"/>
              </a:ext>
            </a:extLst>
          </p:cNvPr>
          <p:cNvSpPr txBox="1"/>
          <p:nvPr/>
        </p:nvSpPr>
        <p:spPr>
          <a:xfrm>
            <a:off x="4400849" y="217596"/>
            <a:ext cx="6284751" cy="393482"/>
          </a:xfrm>
          <a:prstGeom prst="rect">
            <a:avLst/>
          </a:prstGeom>
        </p:spPr>
        <p:txBody>
          <a:bodyPr lIns="0" tIns="0" rIns="0" bIns="0" rtlCol="0" anchor="t">
            <a:spAutoFit/>
          </a:bodyPr>
          <a:lstStyle/>
          <a:p>
            <a:pPr marL="0" lvl="0" indent="0" algn="ctr">
              <a:lnSpc>
                <a:spcPts val="3154"/>
              </a:lnSpc>
              <a:spcBef>
                <a:spcPct val="0"/>
              </a:spcBef>
            </a:pPr>
            <a:r>
              <a:rPr lang="es-CL" sz="2585" b="1" noProof="0" dirty="0">
                <a:solidFill>
                  <a:schemeClr val="tx1">
                    <a:lumMod val="95000"/>
                    <a:lumOff val="5000"/>
                  </a:schemeClr>
                </a:solidFill>
                <a:latin typeface="Montserrat Bold"/>
                <a:ea typeface="Montserrat Bold"/>
                <a:cs typeface="Montserrat Bold"/>
                <a:sym typeface="Montserrat Bold"/>
              </a:rPr>
              <a:t>Equipo 2</a:t>
            </a:r>
          </a:p>
        </p:txBody>
      </p:sp>
      <p:sp>
        <p:nvSpPr>
          <p:cNvPr id="14" name="Rectángulo 13">
            <a:extLst>
              <a:ext uri="{FF2B5EF4-FFF2-40B4-BE49-F238E27FC236}">
                <a16:creationId xmlns:a16="http://schemas.microsoft.com/office/drawing/2014/main" id="{21E61532-0D0E-2635-8925-9CD7CF3FE360}"/>
              </a:ext>
            </a:extLst>
          </p:cNvPr>
          <p:cNvSpPr/>
          <p:nvPr/>
        </p:nvSpPr>
        <p:spPr>
          <a:xfrm>
            <a:off x="-158464" y="-7125336"/>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6" name="TextBox 19">
            <a:extLst>
              <a:ext uri="{FF2B5EF4-FFF2-40B4-BE49-F238E27FC236}">
                <a16:creationId xmlns:a16="http://schemas.microsoft.com/office/drawing/2014/main" id="{02F37103-C31B-660D-2B38-135FF6FDC190}"/>
              </a:ext>
            </a:extLst>
          </p:cNvPr>
          <p:cNvSpPr txBox="1"/>
          <p:nvPr/>
        </p:nvSpPr>
        <p:spPr>
          <a:xfrm>
            <a:off x="5096600" y="-3842251"/>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sp>
        <p:nvSpPr>
          <p:cNvPr id="18" name="Freeform 5">
            <a:extLst>
              <a:ext uri="{FF2B5EF4-FFF2-40B4-BE49-F238E27FC236}">
                <a16:creationId xmlns:a16="http://schemas.microsoft.com/office/drawing/2014/main" id="{2CD6AB9E-8E93-1CB3-1AD8-381438879CE3}"/>
              </a:ext>
            </a:extLst>
          </p:cNvPr>
          <p:cNvSpPr/>
          <p:nvPr/>
        </p:nvSpPr>
        <p:spPr>
          <a:xfrm rot="10800000">
            <a:off x="-2370187" y="-10601466"/>
            <a:ext cx="9140587" cy="7929459"/>
          </a:xfrm>
          <a:custGeom>
            <a:avLst/>
            <a:gdLst/>
            <a:ahLst/>
            <a:cxnLst/>
            <a:rect l="l" t="t" r="r" b="b"/>
            <a:pathLst>
              <a:path w="9140587" h="7929459">
                <a:moveTo>
                  <a:pt x="0" y="0"/>
                </a:moveTo>
                <a:lnTo>
                  <a:pt x="9140587" y="0"/>
                </a:lnTo>
                <a:lnTo>
                  <a:pt x="9140587" y="7929459"/>
                </a:lnTo>
                <a:lnTo>
                  <a:pt x="0" y="7929459"/>
                </a:lnTo>
                <a:lnTo>
                  <a:pt x="0" y="0"/>
                </a:lnTo>
                <a:close/>
              </a:path>
            </a:pathLst>
          </a:custGeom>
          <a:blipFill>
            <a:blip r:embed="rId9"/>
            <a:stretch>
              <a:fillRect/>
            </a:stretch>
          </a:blipFill>
        </p:spPr>
        <p:txBody>
          <a:bodyPr/>
          <a:lstStyle/>
          <a:p>
            <a:endParaRPr lang="es-CL" noProof="0" dirty="0"/>
          </a:p>
        </p:txBody>
      </p:sp>
      <p:sp>
        <p:nvSpPr>
          <p:cNvPr id="20" name="Freeform 6">
            <a:extLst>
              <a:ext uri="{FF2B5EF4-FFF2-40B4-BE49-F238E27FC236}">
                <a16:creationId xmlns:a16="http://schemas.microsoft.com/office/drawing/2014/main" id="{C1D7437A-4723-3B50-1041-7EC8380CDE22}"/>
              </a:ext>
            </a:extLst>
          </p:cNvPr>
          <p:cNvSpPr/>
          <p:nvPr/>
        </p:nvSpPr>
        <p:spPr>
          <a:xfrm>
            <a:off x="14937401" y="2060730"/>
            <a:ext cx="5821790" cy="3480290"/>
          </a:xfrm>
          <a:custGeom>
            <a:avLst/>
            <a:gdLst/>
            <a:ahLst/>
            <a:cxnLst/>
            <a:rect l="l" t="t" r="r" b="b"/>
            <a:pathLst>
              <a:path w="10069020" h="6884692">
                <a:moveTo>
                  <a:pt x="0" y="0"/>
                </a:moveTo>
                <a:lnTo>
                  <a:pt x="10069020" y="0"/>
                </a:lnTo>
                <a:lnTo>
                  <a:pt x="10069020" y="6884693"/>
                </a:lnTo>
                <a:lnTo>
                  <a:pt x="0" y="6884693"/>
                </a:lnTo>
                <a:lnTo>
                  <a:pt x="0" y="0"/>
                </a:lnTo>
                <a:close/>
              </a:path>
            </a:pathLst>
          </a:custGeom>
          <a:blipFill>
            <a:blip r:embed="rId10"/>
            <a:stretch>
              <a:fillRect/>
            </a:stretch>
          </a:blipFill>
        </p:spPr>
        <p:txBody>
          <a:bodyPr/>
          <a:lstStyle/>
          <a:p>
            <a:endParaRPr lang="es-CL" noProof="0" dirty="0"/>
          </a:p>
        </p:txBody>
      </p:sp>
      <p:sp>
        <p:nvSpPr>
          <p:cNvPr id="22" name="TextBox 7">
            <a:extLst>
              <a:ext uri="{FF2B5EF4-FFF2-40B4-BE49-F238E27FC236}">
                <a16:creationId xmlns:a16="http://schemas.microsoft.com/office/drawing/2014/main" id="{4F238991-5F1F-ECB5-11CB-9B6079AE6A41}"/>
              </a:ext>
            </a:extLst>
          </p:cNvPr>
          <p:cNvSpPr txBox="1"/>
          <p:nvPr/>
        </p:nvSpPr>
        <p:spPr>
          <a:xfrm>
            <a:off x="1" y="-5532365"/>
            <a:ext cx="5389738" cy="2766371"/>
          </a:xfrm>
          <a:prstGeom prst="rect">
            <a:avLst/>
          </a:prstGeom>
        </p:spPr>
        <p:txBody>
          <a:bodyPr wrap="square" lIns="0" tIns="0" rIns="0" bIns="0" rtlCol="0" anchor="t">
            <a:spAutoFit/>
          </a:bodyPr>
          <a:lstStyle/>
          <a:p>
            <a:pPr marL="0" lvl="0" indent="0" algn="l">
              <a:lnSpc>
                <a:spcPts val="7101"/>
              </a:lnSpc>
            </a:pPr>
            <a:r>
              <a:rPr lang="es-CL" sz="8070" b="1" spc="-508" noProof="0" dirty="0">
                <a:solidFill>
                  <a:srgbClr val="FFFFFF"/>
                </a:solidFill>
                <a:latin typeface="Montserrat Bold"/>
                <a:ea typeface="Montserrat Bold"/>
                <a:cs typeface="Montserrat Bold"/>
                <a:sym typeface="Montserrat Bold"/>
              </a:rPr>
              <a:t>Conclusión</a:t>
            </a:r>
          </a:p>
          <a:p>
            <a:pPr marL="0" lvl="0" indent="0" algn="l">
              <a:lnSpc>
                <a:spcPts val="7101"/>
              </a:lnSpc>
            </a:pPr>
            <a:r>
              <a:rPr lang="es-CL" sz="8070" b="1" spc="-508" noProof="0" dirty="0">
                <a:solidFill>
                  <a:srgbClr val="FFFFFF"/>
                </a:solidFill>
                <a:latin typeface="Montserrat Bold"/>
                <a:ea typeface="Montserrat Bold"/>
                <a:cs typeface="Montserrat Bold"/>
                <a:sym typeface="Montserrat Bold"/>
              </a:rPr>
              <a:t>y Próximos Pasos</a:t>
            </a:r>
          </a:p>
        </p:txBody>
      </p:sp>
      <p:sp>
        <p:nvSpPr>
          <p:cNvPr id="24" name="TextBox 8">
            <a:extLst>
              <a:ext uri="{FF2B5EF4-FFF2-40B4-BE49-F238E27FC236}">
                <a16:creationId xmlns:a16="http://schemas.microsoft.com/office/drawing/2014/main" id="{B3C3994A-8215-6E1B-EEF3-8227166AD792}"/>
              </a:ext>
            </a:extLst>
          </p:cNvPr>
          <p:cNvSpPr txBox="1"/>
          <p:nvPr/>
        </p:nvSpPr>
        <p:spPr>
          <a:xfrm>
            <a:off x="0" y="-2740360"/>
            <a:ext cx="5532841" cy="2243306"/>
          </a:xfrm>
          <a:prstGeom prst="rect">
            <a:avLst/>
          </a:prstGeom>
        </p:spPr>
        <p:txBody>
          <a:bodyPr wrap="square" lIns="0" tIns="0" rIns="0" bIns="0" rtlCol="0" anchor="t">
            <a:spAutoFit/>
          </a:bodyPr>
          <a:lstStyle/>
          <a:p>
            <a:pPr marL="0" lvl="0" indent="0" algn="just">
              <a:lnSpc>
                <a:spcPts val="2187"/>
              </a:lnSpc>
            </a:pPr>
            <a:r>
              <a:rPr lang="es-CL" sz="1793" noProof="0" dirty="0">
                <a:solidFill>
                  <a:srgbClr val="FFFFFF"/>
                </a:solidFill>
                <a:latin typeface="Montserrat"/>
                <a:ea typeface="Montserrat"/>
                <a:cs typeface="Montserrat"/>
                <a:sym typeface="Montserrat"/>
              </a:rPr>
              <a:t>UX simple: sube tu video MP4 → procesamiento automático con IA → </a:t>
            </a:r>
            <a:r>
              <a:rPr lang="es-CL" sz="1793" noProof="0" dirty="0" err="1">
                <a:solidFill>
                  <a:srgbClr val="FFFFFF"/>
                </a:solidFill>
                <a:latin typeface="Montserrat"/>
                <a:ea typeface="Montserrat"/>
                <a:cs typeface="Montserrat"/>
                <a:sym typeface="Montserrat"/>
              </a:rPr>
              <a:t>dashboard</a:t>
            </a:r>
            <a:r>
              <a:rPr lang="es-CL" sz="1793" noProof="0" dirty="0">
                <a:solidFill>
                  <a:srgbClr val="FFFFFF"/>
                </a:solidFill>
                <a:latin typeface="Montserrat"/>
                <a:ea typeface="Montserrat"/>
                <a:cs typeface="Montserrat"/>
                <a:sym typeface="Montserrat"/>
              </a:rPr>
              <a:t> con métricas tácticas y biomecánicas en menos de 24 horas. MVP funcional en 18 semanas, con piloto gratuito para club partner. Impacto real: democratizar la inteligencia deportiva avanzada para más de 15,000 clubes sub-élite a nivel global.</a:t>
            </a:r>
          </a:p>
        </p:txBody>
      </p:sp>
      <p:pic>
        <p:nvPicPr>
          <p:cNvPr id="19" name="Imagen 18">
            <a:extLst>
              <a:ext uri="{FF2B5EF4-FFF2-40B4-BE49-F238E27FC236}">
                <a16:creationId xmlns:a16="http://schemas.microsoft.com/office/drawing/2014/main" id="{FD647787-2961-722B-3B4B-442E77CB38B1}"/>
              </a:ext>
            </a:extLst>
          </p:cNvPr>
          <p:cNvPicPr>
            <a:picLocks noChangeAspect="1"/>
          </p:cNvPicPr>
          <p:nvPr/>
        </p:nvPicPr>
        <p:blipFill>
          <a:blip r:embed="rId11"/>
          <a:stretch>
            <a:fillRect/>
          </a:stretch>
        </p:blipFill>
        <p:spPr>
          <a:xfrm>
            <a:off x="4541803" y="929837"/>
            <a:ext cx="7314917" cy="5391902"/>
          </a:xfrm>
          <a:prstGeom prst="rect">
            <a:avLst/>
          </a:prstGeom>
        </p:spPr>
      </p:pic>
    </p:spTree>
    <p:extLst>
      <p:ext uri="{BB962C8B-B14F-4D97-AF65-F5344CB8AC3E}">
        <p14:creationId xmlns:p14="http://schemas.microsoft.com/office/powerpoint/2010/main" val="1401433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22B0-D860-2399-2377-BFECA235B076}"/>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63952BC-6D4F-998E-DF40-A73E68D38ECE}"/>
              </a:ext>
            </a:extLst>
          </p:cNvPr>
          <p:cNvPicPr preferRelativeResize="0">
            <a:picLocks noChangeAspect="1"/>
          </p:cNvPicPr>
          <p:nvPr/>
        </p:nvPicPr>
        <p:blipFill>
          <a:blip r:embed="rId3"/>
          <a:srcRect/>
          <a:stretch>
            <a:fillRect/>
          </a:stretch>
        </p:blipFill>
        <p:spPr>
          <a:xfrm rot="15893212">
            <a:off x="7447404" y="-10082687"/>
            <a:ext cx="4810883" cy="12321824"/>
          </a:xfrm>
          <a:prstGeom prst="rect">
            <a:avLst/>
          </a:prstGeom>
        </p:spPr>
      </p:pic>
      <p:pic>
        <p:nvPicPr>
          <p:cNvPr id="12" name="Imagen 11">
            <a:extLst>
              <a:ext uri="{FF2B5EF4-FFF2-40B4-BE49-F238E27FC236}">
                <a16:creationId xmlns:a16="http://schemas.microsoft.com/office/drawing/2014/main" id="{691C29EF-E738-E933-E0D9-F1336EA6D76A}"/>
              </a:ext>
            </a:extLst>
          </p:cNvPr>
          <p:cNvPicPr>
            <a:picLocks noChangeAspect="1"/>
          </p:cNvPicPr>
          <p:nvPr/>
        </p:nvPicPr>
        <p:blipFill>
          <a:blip r:embed="rId4"/>
          <a:srcRect/>
          <a:stretch>
            <a:fillRect/>
          </a:stretch>
        </p:blipFill>
        <p:spPr>
          <a:xfrm rot="15974694" flipV="1">
            <a:off x="-721971" y="-2518538"/>
            <a:ext cx="14049299" cy="11472289"/>
          </a:xfrm>
          <a:prstGeom prst="rect">
            <a:avLst/>
          </a:prstGeom>
        </p:spPr>
      </p:pic>
      <p:sp>
        <p:nvSpPr>
          <p:cNvPr id="4" name="Rectángulo 3">
            <a:extLst>
              <a:ext uri="{FF2B5EF4-FFF2-40B4-BE49-F238E27FC236}">
                <a16:creationId xmlns:a16="http://schemas.microsoft.com/office/drawing/2014/main" id="{12AD2AB8-8617-EFC6-E025-79D556E9E92E}"/>
              </a:ext>
            </a:extLst>
          </p:cNvPr>
          <p:cNvSpPr/>
          <p:nvPr/>
        </p:nvSpPr>
        <p:spPr>
          <a:xfrm>
            <a:off x="12910872" y="0"/>
            <a:ext cx="8481513" cy="68580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DD178022-0ECA-DE2A-592C-603E2B2CA389}"/>
              </a:ext>
            </a:extLst>
          </p:cNvPr>
          <p:cNvSpPr txBox="1"/>
          <p:nvPr/>
        </p:nvSpPr>
        <p:spPr>
          <a:xfrm>
            <a:off x="4424737" y="5792395"/>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tx1">
                    <a:lumMod val="85000"/>
                    <a:lumOff val="15000"/>
                  </a:schemeClr>
                </a:solidFill>
                <a:latin typeface="Montserrat Bold"/>
                <a:ea typeface="Montserrat Bold"/>
                <a:cs typeface="Montserrat Bold"/>
                <a:sym typeface="Montserrat Bold"/>
              </a:rPr>
              <a:t>Fut.Ai</a:t>
            </a:r>
          </a:p>
        </p:txBody>
      </p:sp>
      <p:pic>
        <p:nvPicPr>
          <p:cNvPr id="6" name="Imagen 5">
            <a:extLst>
              <a:ext uri="{FF2B5EF4-FFF2-40B4-BE49-F238E27FC236}">
                <a16:creationId xmlns:a16="http://schemas.microsoft.com/office/drawing/2014/main" id="{62FFD085-DE4B-B940-75DD-DCC46FBA07FC}"/>
              </a:ext>
            </a:extLst>
          </p:cNvPr>
          <p:cNvPicPr>
            <a:picLocks noChangeAspect="1"/>
          </p:cNvPicPr>
          <p:nvPr/>
        </p:nvPicPr>
        <p:blipFill>
          <a:blip r:embed="rId5"/>
          <a:srcRect/>
          <a:stretch>
            <a:fillRect/>
          </a:stretch>
        </p:blipFill>
        <p:spPr>
          <a:xfrm>
            <a:off x="6282488" y="5996899"/>
            <a:ext cx="996664" cy="863537"/>
          </a:xfrm>
          <a:prstGeom prst="rect">
            <a:avLst/>
          </a:prstGeom>
        </p:spPr>
      </p:pic>
      <p:sp>
        <p:nvSpPr>
          <p:cNvPr id="10" name="CuadroTexto 9">
            <a:extLst>
              <a:ext uri="{FF2B5EF4-FFF2-40B4-BE49-F238E27FC236}">
                <a16:creationId xmlns:a16="http://schemas.microsoft.com/office/drawing/2014/main" id="{98934A37-414B-99A0-528B-1E12CDED7B03}"/>
              </a:ext>
            </a:extLst>
          </p:cNvPr>
          <p:cNvSpPr txBox="1"/>
          <p:nvPr/>
        </p:nvSpPr>
        <p:spPr>
          <a:xfrm>
            <a:off x="2674161" y="233967"/>
            <a:ext cx="6843679" cy="1092607"/>
          </a:xfrm>
          <a:prstGeom prst="rect">
            <a:avLst/>
          </a:prstGeom>
          <a:noFill/>
        </p:spPr>
        <p:txBody>
          <a:bodyPr wrap="square">
            <a:spAutoFit/>
          </a:bodyPr>
          <a:lstStyle/>
          <a:p>
            <a:pPr marL="0" lvl="0" indent="0" algn="ctr">
              <a:lnSpc>
                <a:spcPts val="7791"/>
              </a:lnSpc>
              <a:spcBef>
                <a:spcPct val="0"/>
              </a:spcBef>
            </a:pPr>
            <a:r>
              <a:rPr lang="es-CL" sz="6600" b="1" spc="-557" noProof="0" dirty="0">
                <a:solidFill>
                  <a:schemeClr val="bg1">
                    <a:lumMod val="85000"/>
                  </a:schemeClr>
                </a:solidFill>
                <a:latin typeface="Montserrat Bold"/>
                <a:ea typeface="Montserrat Bold"/>
                <a:cs typeface="Montserrat Bold"/>
                <a:sym typeface="Montserrat Bold"/>
              </a:rPr>
              <a:t>Resultados</a:t>
            </a:r>
          </a:p>
        </p:txBody>
      </p:sp>
      <p:sp>
        <p:nvSpPr>
          <p:cNvPr id="8" name="TextBox 5">
            <a:extLst>
              <a:ext uri="{FF2B5EF4-FFF2-40B4-BE49-F238E27FC236}">
                <a16:creationId xmlns:a16="http://schemas.microsoft.com/office/drawing/2014/main" id="{323572A6-FB9E-D706-D111-DB03EDA3A6B3}"/>
              </a:ext>
            </a:extLst>
          </p:cNvPr>
          <p:cNvSpPr txBox="1"/>
          <p:nvPr/>
        </p:nvSpPr>
        <p:spPr>
          <a:xfrm>
            <a:off x="14241734" y="700761"/>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EVALUACIÓN SUBJETIVA</a:t>
            </a:r>
          </a:p>
        </p:txBody>
      </p:sp>
      <p:sp>
        <p:nvSpPr>
          <p:cNvPr id="13" name="TextBox 6">
            <a:extLst>
              <a:ext uri="{FF2B5EF4-FFF2-40B4-BE49-F238E27FC236}">
                <a16:creationId xmlns:a16="http://schemas.microsoft.com/office/drawing/2014/main" id="{57869608-99DC-0CB0-6291-11A36E120321}"/>
              </a:ext>
            </a:extLst>
          </p:cNvPr>
          <p:cNvSpPr txBox="1"/>
          <p:nvPr/>
        </p:nvSpPr>
        <p:spPr>
          <a:xfrm>
            <a:off x="14241733" y="2207122"/>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LESIONES PREVENIBLES</a:t>
            </a:r>
          </a:p>
        </p:txBody>
      </p:sp>
      <p:sp>
        <p:nvSpPr>
          <p:cNvPr id="15" name="TextBox 7">
            <a:extLst>
              <a:ext uri="{FF2B5EF4-FFF2-40B4-BE49-F238E27FC236}">
                <a16:creationId xmlns:a16="http://schemas.microsoft.com/office/drawing/2014/main" id="{E3B45EBD-330D-5B0E-655B-E6EB02C49CC3}"/>
              </a:ext>
            </a:extLst>
          </p:cNvPr>
          <p:cNvSpPr txBox="1"/>
          <p:nvPr/>
        </p:nvSpPr>
        <p:spPr>
          <a:xfrm>
            <a:off x="14241732" y="3498037"/>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HARDWARE COSTOSO</a:t>
            </a:r>
          </a:p>
        </p:txBody>
      </p:sp>
      <p:sp>
        <p:nvSpPr>
          <p:cNvPr id="17" name="TextBox 8">
            <a:extLst>
              <a:ext uri="{FF2B5EF4-FFF2-40B4-BE49-F238E27FC236}">
                <a16:creationId xmlns:a16="http://schemas.microsoft.com/office/drawing/2014/main" id="{DE226833-B038-B81A-BB5C-700FFCA9AB74}"/>
              </a:ext>
            </a:extLst>
          </p:cNvPr>
          <p:cNvSpPr txBox="1"/>
          <p:nvPr/>
        </p:nvSpPr>
        <p:spPr>
          <a:xfrm>
            <a:off x="14241731" y="4772510"/>
            <a:ext cx="7804675" cy="428835"/>
          </a:xfrm>
          <a:prstGeom prst="rect">
            <a:avLst/>
          </a:prstGeom>
        </p:spPr>
        <p:txBody>
          <a:bodyPr lIns="0" tIns="0" rIns="0" bIns="0" rtlCol="0" anchor="t">
            <a:spAutoFit/>
          </a:bodyPr>
          <a:lstStyle/>
          <a:p>
            <a:pPr marL="0" lvl="0" indent="0" algn="l">
              <a:lnSpc>
                <a:spcPts val="3764"/>
              </a:lnSpc>
              <a:spcBef>
                <a:spcPct val="0"/>
              </a:spcBef>
            </a:pPr>
            <a:r>
              <a:rPr lang="es-CL" sz="1600" b="1" noProof="0" dirty="0">
                <a:solidFill>
                  <a:srgbClr val="FFFFFF"/>
                </a:solidFill>
                <a:latin typeface="Montserrat Bold"/>
                <a:ea typeface="Montserrat Bold"/>
                <a:cs typeface="Montserrat Bold"/>
                <a:sym typeface="Montserrat Bold"/>
              </a:rPr>
              <a:t>PÉRDIDA DE COMPETITIVIDAD</a:t>
            </a:r>
          </a:p>
        </p:txBody>
      </p:sp>
      <p:sp>
        <p:nvSpPr>
          <p:cNvPr id="19" name="TextBox 9">
            <a:extLst>
              <a:ext uri="{FF2B5EF4-FFF2-40B4-BE49-F238E27FC236}">
                <a16:creationId xmlns:a16="http://schemas.microsoft.com/office/drawing/2014/main" id="{20F13B84-EB70-A72D-E370-A7FB08A52EED}"/>
              </a:ext>
            </a:extLst>
          </p:cNvPr>
          <p:cNvSpPr txBox="1"/>
          <p:nvPr/>
        </p:nvSpPr>
        <p:spPr>
          <a:xfrm>
            <a:off x="14241734" y="1235568"/>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u="none" strike="noStrike" noProof="0" dirty="0">
                <a:solidFill>
                  <a:srgbClr val="FFFFFF"/>
                </a:solidFill>
                <a:latin typeface="Montserrat"/>
                <a:ea typeface="Montserrat"/>
                <a:cs typeface="Montserrat"/>
                <a:sym typeface="Montserrat"/>
              </a:rPr>
              <a:t>Los cuerpos técnicos toman decisiones tácticas y de rendimiento sin datos objetivos, basándose únicamente en percepción subjetiva y observación visual limitada.</a:t>
            </a:r>
          </a:p>
        </p:txBody>
      </p:sp>
      <p:sp>
        <p:nvSpPr>
          <p:cNvPr id="21" name="TextBox 10">
            <a:extLst>
              <a:ext uri="{FF2B5EF4-FFF2-40B4-BE49-F238E27FC236}">
                <a16:creationId xmlns:a16="http://schemas.microsoft.com/office/drawing/2014/main" id="{ADC70A18-B378-F9E4-74D7-6B377EFC1853}"/>
              </a:ext>
            </a:extLst>
          </p:cNvPr>
          <p:cNvSpPr txBox="1"/>
          <p:nvPr/>
        </p:nvSpPr>
        <p:spPr>
          <a:xfrm>
            <a:off x="14241734" y="2635957"/>
            <a:ext cx="6545626" cy="550985"/>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La ausencia de monitoreo biomecánico continuo impide detectar asimetrías y sobrecargas a tiempo, dejando lesiones musculares completamente prevenibles sin atención.</a:t>
            </a:r>
          </a:p>
        </p:txBody>
      </p:sp>
      <p:sp>
        <p:nvSpPr>
          <p:cNvPr id="23" name="TextBox 11">
            <a:extLst>
              <a:ext uri="{FF2B5EF4-FFF2-40B4-BE49-F238E27FC236}">
                <a16:creationId xmlns:a16="http://schemas.microsoft.com/office/drawing/2014/main" id="{E8F6D8A7-C9C7-0155-ADC0-446ACF3A7502}"/>
              </a:ext>
            </a:extLst>
          </p:cNvPr>
          <p:cNvSpPr txBox="1"/>
          <p:nvPr/>
        </p:nvSpPr>
        <p:spPr>
          <a:xfrm>
            <a:off x="14241734" y="3910430"/>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Sistemas de tracking propietarios requieren cámaras y GPS especializados con costos superiores a USD 10,000, inaccesibles para clubes de segunda división y academias.</a:t>
            </a:r>
          </a:p>
        </p:txBody>
      </p:sp>
      <p:sp>
        <p:nvSpPr>
          <p:cNvPr id="25" name="TextBox 12">
            <a:extLst>
              <a:ext uri="{FF2B5EF4-FFF2-40B4-BE49-F238E27FC236}">
                <a16:creationId xmlns:a16="http://schemas.microsoft.com/office/drawing/2014/main" id="{B74E15CA-2BC8-D003-C5F8-FADF6A653737}"/>
              </a:ext>
            </a:extLst>
          </p:cNvPr>
          <p:cNvSpPr txBox="1"/>
          <p:nvPr/>
        </p:nvSpPr>
        <p:spPr>
          <a:xfrm>
            <a:off x="14241734" y="5201345"/>
            <a:ext cx="6545626" cy="554191"/>
          </a:xfrm>
          <a:prstGeom prst="rect">
            <a:avLst/>
          </a:prstGeom>
        </p:spPr>
        <p:txBody>
          <a:bodyPr wrap="square" lIns="0" tIns="0" rIns="0" bIns="0" rtlCol="0" anchor="t">
            <a:spAutoFit/>
          </a:bodyPr>
          <a:lstStyle/>
          <a:p>
            <a:pPr marL="0" lvl="0" indent="0" algn="just">
              <a:lnSpc>
                <a:spcPts val="2255"/>
              </a:lnSpc>
              <a:spcBef>
                <a:spcPct val="0"/>
              </a:spcBef>
            </a:pPr>
            <a:r>
              <a:rPr lang="es-CL" sz="1100" noProof="0" dirty="0">
                <a:solidFill>
                  <a:srgbClr val="FFFFFF"/>
                </a:solidFill>
                <a:latin typeface="Montserrat"/>
                <a:ea typeface="Montserrat"/>
                <a:cs typeface="Montserrat"/>
                <a:sym typeface="Montserrat"/>
              </a:rPr>
              <a:t>Los clubes formativos y sub-élite operan "a ciegas", perdiendo talento y competitividad frente a élites con acceso a inteligencia deportiva avanzada.</a:t>
            </a:r>
          </a:p>
        </p:txBody>
      </p:sp>
      <p:grpSp>
        <p:nvGrpSpPr>
          <p:cNvPr id="26" name="Group 13">
            <a:extLst>
              <a:ext uri="{FF2B5EF4-FFF2-40B4-BE49-F238E27FC236}">
                <a16:creationId xmlns:a16="http://schemas.microsoft.com/office/drawing/2014/main" id="{686424C6-AA48-2082-E692-DA22D8ADFA6B}"/>
              </a:ext>
            </a:extLst>
          </p:cNvPr>
          <p:cNvGrpSpPr/>
          <p:nvPr/>
        </p:nvGrpSpPr>
        <p:grpSpPr>
          <a:xfrm>
            <a:off x="13555433" y="908858"/>
            <a:ext cx="516267" cy="220738"/>
            <a:chOff x="0" y="0"/>
            <a:chExt cx="349533" cy="158342"/>
          </a:xfrm>
        </p:grpSpPr>
        <p:sp>
          <p:nvSpPr>
            <p:cNvPr id="27" name="Freeform 14">
              <a:extLst>
                <a:ext uri="{FF2B5EF4-FFF2-40B4-BE49-F238E27FC236}">
                  <a16:creationId xmlns:a16="http://schemas.microsoft.com/office/drawing/2014/main" id="{29F8CC9B-17E5-DE1A-4030-73972B7A2D6B}"/>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28" name="TextBox 15">
              <a:extLst>
                <a:ext uri="{FF2B5EF4-FFF2-40B4-BE49-F238E27FC236}">
                  <a16:creationId xmlns:a16="http://schemas.microsoft.com/office/drawing/2014/main" id="{184037FC-1AA5-6217-D8E6-6549FE5D67C3}"/>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29" name="Freeform 25">
            <a:extLst>
              <a:ext uri="{FF2B5EF4-FFF2-40B4-BE49-F238E27FC236}">
                <a16:creationId xmlns:a16="http://schemas.microsoft.com/office/drawing/2014/main" id="{D8402379-BAEC-6FE9-BE5A-9105663D9D03}"/>
              </a:ext>
            </a:extLst>
          </p:cNvPr>
          <p:cNvSpPr/>
          <p:nvPr/>
        </p:nvSpPr>
        <p:spPr>
          <a:xfrm>
            <a:off x="13688521" y="937598"/>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6"/>
            <a:stretch>
              <a:fillRect/>
            </a:stretch>
          </a:blipFill>
        </p:spPr>
        <p:txBody>
          <a:bodyPr/>
          <a:lstStyle/>
          <a:p>
            <a:endParaRPr lang="es-CL" noProof="0" dirty="0"/>
          </a:p>
        </p:txBody>
      </p:sp>
      <p:grpSp>
        <p:nvGrpSpPr>
          <p:cNvPr id="30" name="Group 13">
            <a:extLst>
              <a:ext uri="{FF2B5EF4-FFF2-40B4-BE49-F238E27FC236}">
                <a16:creationId xmlns:a16="http://schemas.microsoft.com/office/drawing/2014/main" id="{B37311E7-343B-2EE8-CE36-D9BC784D8B7B}"/>
              </a:ext>
            </a:extLst>
          </p:cNvPr>
          <p:cNvGrpSpPr/>
          <p:nvPr/>
        </p:nvGrpSpPr>
        <p:grpSpPr>
          <a:xfrm>
            <a:off x="13555433" y="2415219"/>
            <a:ext cx="516267" cy="220738"/>
            <a:chOff x="0" y="0"/>
            <a:chExt cx="349533" cy="158342"/>
          </a:xfrm>
        </p:grpSpPr>
        <p:sp>
          <p:nvSpPr>
            <p:cNvPr id="31" name="Freeform 14">
              <a:extLst>
                <a:ext uri="{FF2B5EF4-FFF2-40B4-BE49-F238E27FC236}">
                  <a16:creationId xmlns:a16="http://schemas.microsoft.com/office/drawing/2014/main" id="{326CBEAA-BD96-F35F-6036-92CD626C73D4}"/>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32" name="TextBox 15">
              <a:extLst>
                <a:ext uri="{FF2B5EF4-FFF2-40B4-BE49-F238E27FC236}">
                  <a16:creationId xmlns:a16="http://schemas.microsoft.com/office/drawing/2014/main" id="{6337E44C-0112-0240-0FE7-0D150F803309}"/>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33" name="Freeform 25">
            <a:extLst>
              <a:ext uri="{FF2B5EF4-FFF2-40B4-BE49-F238E27FC236}">
                <a16:creationId xmlns:a16="http://schemas.microsoft.com/office/drawing/2014/main" id="{BA9DB787-713F-E5BE-3FE4-E7E6824A55CC}"/>
              </a:ext>
            </a:extLst>
          </p:cNvPr>
          <p:cNvSpPr/>
          <p:nvPr/>
        </p:nvSpPr>
        <p:spPr>
          <a:xfrm>
            <a:off x="13688521" y="2443959"/>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6"/>
            <a:stretch>
              <a:fillRect/>
            </a:stretch>
          </a:blipFill>
        </p:spPr>
        <p:txBody>
          <a:bodyPr/>
          <a:lstStyle/>
          <a:p>
            <a:endParaRPr lang="es-CL" noProof="0" dirty="0"/>
          </a:p>
        </p:txBody>
      </p:sp>
      <p:grpSp>
        <p:nvGrpSpPr>
          <p:cNvPr id="34" name="Group 13">
            <a:extLst>
              <a:ext uri="{FF2B5EF4-FFF2-40B4-BE49-F238E27FC236}">
                <a16:creationId xmlns:a16="http://schemas.microsoft.com/office/drawing/2014/main" id="{ED31D2D7-9E11-DE6B-6DBF-9A41797212E0}"/>
              </a:ext>
            </a:extLst>
          </p:cNvPr>
          <p:cNvGrpSpPr/>
          <p:nvPr/>
        </p:nvGrpSpPr>
        <p:grpSpPr>
          <a:xfrm>
            <a:off x="13555433" y="3706134"/>
            <a:ext cx="516267" cy="220738"/>
            <a:chOff x="0" y="0"/>
            <a:chExt cx="349533" cy="158342"/>
          </a:xfrm>
        </p:grpSpPr>
        <p:sp>
          <p:nvSpPr>
            <p:cNvPr id="35" name="Freeform 14">
              <a:extLst>
                <a:ext uri="{FF2B5EF4-FFF2-40B4-BE49-F238E27FC236}">
                  <a16:creationId xmlns:a16="http://schemas.microsoft.com/office/drawing/2014/main" id="{7D58A61E-742F-5AF3-FE8D-31FB0EFC3E51}"/>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36" name="TextBox 15">
              <a:extLst>
                <a:ext uri="{FF2B5EF4-FFF2-40B4-BE49-F238E27FC236}">
                  <a16:creationId xmlns:a16="http://schemas.microsoft.com/office/drawing/2014/main" id="{F304C2C3-6C70-4552-F9CE-EFDA85F20479}"/>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37" name="Freeform 25">
            <a:extLst>
              <a:ext uri="{FF2B5EF4-FFF2-40B4-BE49-F238E27FC236}">
                <a16:creationId xmlns:a16="http://schemas.microsoft.com/office/drawing/2014/main" id="{E0D663A9-BCE1-C442-242B-7616C8CBEDE1}"/>
              </a:ext>
            </a:extLst>
          </p:cNvPr>
          <p:cNvSpPr/>
          <p:nvPr/>
        </p:nvSpPr>
        <p:spPr>
          <a:xfrm>
            <a:off x="13688521" y="3734874"/>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6"/>
            <a:stretch>
              <a:fillRect/>
            </a:stretch>
          </a:blipFill>
        </p:spPr>
        <p:txBody>
          <a:bodyPr/>
          <a:lstStyle/>
          <a:p>
            <a:endParaRPr lang="es-CL" noProof="0" dirty="0"/>
          </a:p>
        </p:txBody>
      </p:sp>
      <p:grpSp>
        <p:nvGrpSpPr>
          <p:cNvPr id="38" name="Group 13">
            <a:extLst>
              <a:ext uri="{FF2B5EF4-FFF2-40B4-BE49-F238E27FC236}">
                <a16:creationId xmlns:a16="http://schemas.microsoft.com/office/drawing/2014/main" id="{D0174EBC-A386-5250-E769-44A18D8B644A}"/>
              </a:ext>
            </a:extLst>
          </p:cNvPr>
          <p:cNvGrpSpPr/>
          <p:nvPr/>
        </p:nvGrpSpPr>
        <p:grpSpPr>
          <a:xfrm>
            <a:off x="13555433" y="4980607"/>
            <a:ext cx="516267" cy="220738"/>
            <a:chOff x="0" y="0"/>
            <a:chExt cx="349533" cy="158342"/>
          </a:xfrm>
        </p:grpSpPr>
        <p:sp>
          <p:nvSpPr>
            <p:cNvPr id="39" name="Freeform 14">
              <a:extLst>
                <a:ext uri="{FF2B5EF4-FFF2-40B4-BE49-F238E27FC236}">
                  <a16:creationId xmlns:a16="http://schemas.microsoft.com/office/drawing/2014/main" id="{0816D120-7236-88C7-2688-F7DBD50C666F}"/>
                </a:ext>
              </a:extLst>
            </p:cNvPr>
            <p:cNvSpPr/>
            <p:nvPr/>
          </p:nvSpPr>
          <p:spPr>
            <a:xfrm>
              <a:off x="0" y="0"/>
              <a:ext cx="349533" cy="158342"/>
            </a:xfrm>
            <a:custGeom>
              <a:avLst/>
              <a:gdLst/>
              <a:ahLst/>
              <a:cxnLst/>
              <a:rect l="l" t="t" r="r" b="b"/>
              <a:pathLst>
                <a:path w="349533" h="158342">
                  <a:moveTo>
                    <a:pt x="79171" y="0"/>
                  </a:moveTo>
                  <a:lnTo>
                    <a:pt x="270362" y="0"/>
                  </a:lnTo>
                  <a:cubicBezTo>
                    <a:pt x="314087" y="0"/>
                    <a:pt x="349533" y="35446"/>
                    <a:pt x="349533" y="79171"/>
                  </a:cubicBezTo>
                  <a:lnTo>
                    <a:pt x="349533" y="79171"/>
                  </a:lnTo>
                  <a:cubicBezTo>
                    <a:pt x="349533" y="100169"/>
                    <a:pt x="341191" y="120306"/>
                    <a:pt x="326344" y="135154"/>
                  </a:cubicBezTo>
                  <a:cubicBezTo>
                    <a:pt x="311496" y="150001"/>
                    <a:pt x="291359" y="158342"/>
                    <a:pt x="270362" y="158342"/>
                  </a:cubicBezTo>
                  <a:lnTo>
                    <a:pt x="79171" y="158342"/>
                  </a:lnTo>
                  <a:cubicBezTo>
                    <a:pt x="58174" y="158342"/>
                    <a:pt x="38036" y="150001"/>
                    <a:pt x="23189" y="135154"/>
                  </a:cubicBezTo>
                  <a:cubicBezTo>
                    <a:pt x="8341" y="120306"/>
                    <a:pt x="0" y="100169"/>
                    <a:pt x="0" y="79171"/>
                  </a:cubicBezTo>
                  <a:lnTo>
                    <a:pt x="0" y="79171"/>
                  </a:lnTo>
                  <a:cubicBezTo>
                    <a:pt x="0" y="58174"/>
                    <a:pt x="8341" y="38036"/>
                    <a:pt x="23189" y="23189"/>
                  </a:cubicBezTo>
                  <a:cubicBezTo>
                    <a:pt x="38036" y="8341"/>
                    <a:pt x="58174" y="0"/>
                    <a:pt x="79171" y="0"/>
                  </a:cubicBezTo>
                  <a:close/>
                </a:path>
              </a:pathLst>
            </a:custGeom>
            <a:solidFill>
              <a:srgbClr val="FF00AB"/>
            </a:solidFill>
            <a:ln w="19050" cap="rnd">
              <a:solidFill>
                <a:srgbClr val="FFFFFF"/>
              </a:solidFill>
              <a:prstDash val="solid"/>
              <a:round/>
            </a:ln>
          </p:spPr>
          <p:txBody>
            <a:bodyPr/>
            <a:lstStyle/>
            <a:p>
              <a:endParaRPr lang="es-CL" noProof="0" dirty="0"/>
            </a:p>
          </p:txBody>
        </p:sp>
        <p:sp>
          <p:nvSpPr>
            <p:cNvPr id="40" name="TextBox 15">
              <a:extLst>
                <a:ext uri="{FF2B5EF4-FFF2-40B4-BE49-F238E27FC236}">
                  <a16:creationId xmlns:a16="http://schemas.microsoft.com/office/drawing/2014/main" id="{7DED8A17-0CD2-B3C0-2CAC-DE98586B2DD5}"/>
                </a:ext>
              </a:extLst>
            </p:cNvPr>
            <p:cNvSpPr txBox="1"/>
            <p:nvPr/>
          </p:nvSpPr>
          <p:spPr>
            <a:xfrm>
              <a:off x="0" y="-38100"/>
              <a:ext cx="349533" cy="196442"/>
            </a:xfrm>
            <a:prstGeom prst="rect">
              <a:avLst/>
            </a:prstGeom>
          </p:spPr>
          <p:txBody>
            <a:bodyPr lIns="50800" tIns="50800" rIns="50800" bIns="50800" rtlCol="0" anchor="ctr"/>
            <a:lstStyle/>
            <a:p>
              <a:pPr marL="0" lvl="0" indent="0" algn="ctr">
                <a:lnSpc>
                  <a:spcPts val="2659"/>
                </a:lnSpc>
              </a:pPr>
              <a:endParaRPr lang="es-CL" noProof="0" dirty="0"/>
            </a:p>
          </p:txBody>
        </p:sp>
      </p:grpSp>
      <p:sp>
        <p:nvSpPr>
          <p:cNvPr id="41" name="Freeform 25">
            <a:extLst>
              <a:ext uri="{FF2B5EF4-FFF2-40B4-BE49-F238E27FC236}">
                <a16:creationId xmlns:a16="http://schemas.microsoft.com/office/drawing/2014/main" id="{95C9DBC5-366C-455C-18BC-71BD77972D61}"/>
              </a:ext>
            </a:extLst>
          </p:cNvPr>
          <p:cNvSpPr/>
          <p:nvPr/>
        </p:nvSpPr>
        <p:spPr>
          <a:xfrm>
            <a:off x="13688521" y="5009347"/>
            <a:ext cx="250090" cy="163258"/>
          </a:xfrm>
          <a:custGeom>
            <a:avLst/>
            <a:gdLst/>
            <a:ahLst/>
            <a:cxnLst/>
            <a:rect l="l" t="t" r="r" b="b"/>
            <a:pathLst>
              <a:path w="851819" h="819858">
                <a:moveTo>
                  <a:pt x="0" y="0"/>
                </a:moveTo>
                <a:lnTo>
                  <a:pt x="851818" y="0"/>
                </a:lnTo>
                <a:lnTo>
                  <a:pt x="851818" y="819858"/>
                </a:lnTo>
                <a:lnTo>
                  <a:pt x="0" y="819858"/>
                </a:lnTo>
                <a:lnTo>
                  <a:pt x="0" y="0"/>
                </a:lnTo>
                <a:close/>
              </a:path>
            </a:pathLst>
          </a:custGeom>
          <a:blipFill>
            <a:blip r:embed="rId6"/>
            <a:stretch>
              <a:fillRect/>
            </a:stretch>
          </a:blipFill>
        </p:spPr>
        <p:txBody>
          <a:bodyPr/>
          <a:lstStyle/>
          <a:p>
            <a:endParaRPr lang="es-CL" noProof="0" dirty="0"/>
          </a:p>
        </p:txBody>
      </p:sp>
      <p:sp>
        <p:nvSpPr>
          <p:cNvPr id="42" name="TextBox 13">
            <a:extLst>
              <a:ext uri="{FF2B5EF4-FFF2-40B4-BE49-F238E27FC236}">
                <a16:creationId xmlns:a16="http://schemas.microsoft.com/office/drawing/2014/main" id="{3C06A321-00FA-A5B1-CB58-0EE1EDAA7BE7}"/>
              </a:ext>
            </a:extLst>
          </p:cNvPr>
          <p:cNvSpPr txBox="1"/>
          <p:nvPr/>
        </p:nvSpPr>
        <p:spPr>
          <a:xfrm>
            <a:off x="7863840" y="1783080"/>
            <a:ext cx="4114800" cy="767277"/>
          </a:xfrm>
          <a:prstGeom prst="rect">
            <a:avLst/>
          </a:prstGeom>
        </p:spPr>
        <p:txBody>
          <a:bodyPr lIns="0" tIns="0" rIns="0" bIns="0" rtlCol="0" anchor="t">
            <a:spAutoFit/>
          </a:bodyPr>
          <a:lstStyle/>
          <a:p>
            <a:pPr marL="0" lvl="0" indent="0" algn="l">
              <a:lnSpc>
                <a:spcPts val="2040"/>
              </a:lnSpc>
            </a:pPr>
            <a:r>
              <a:rPr lang="es-CL" sz="4400" b="1" noProof="0" dirty="0">
                <a:solidFill>
                  <a:srgbClr val="0E0C0B"/>
                </a:solidFill>
                <a:latin typeface="Montserrat Bold" panose="00000800000000000000" charset="0"/>
                <a:ea typeface="Montserrat"/>
                <a:cs typeface="Montserrat"/>
                <a:sym typeface="Montserrat"/>
              </a:rPr>
              <a:t>94 %</a:t>
            </a:r>
          </a:p>
          <a:p>
            <a:pPr marL="0" lvl="0" indent="0" algn="l">
              <a:lnSpc>
                <a:spcPts val="2040"/>
              </a:lnSpc>
            </a:pPr>
            <a:r>
              <a:rPr lang="es-CL" sz="1672" noProof="0" dirty="0">
                <a:solidFill>
                  <a:schemeClr val="tx1">
                    <a:lumMod val="85000"/>
                    <a:lumOff val="15000"/>
                  </a:schemeClr>
                </a:solidFill>
                <a:latin typeface="Montserrat Bold" panose="00000800000000000000" charset="0"/>
                <a:ea typeface="Montserrat"/>
                <a:cs typeface="Montserrat"/>
                <a:sym typeface="Montserrat"/>
              </a:rPr>
              <a:t>de los jugadores con pose detectada</a:t>
            </a:r>
          </a:p>
        </p:txBody>
      </p:sp>
      <p:sp>
        <p:nvSpPr>
          <p:cNvPr id="44" name="TextBox 14">
            <a:extLst>
              <a:ext uri="{FF2B5EF4-FFF2-40B4-BE49-F238E27FC236}">
                <a16:creationId xmlns:a16="http://schemas.microsoft.com/office/drawing/2014/main" id="{4856DE8B-50D7-BA43-8703-73155692D893}"/>
              </a:ext>
            </a:extLst>
          </p:cNvPr>
          <p:cNvSpPr txBox="1"/>
          <p:nvPr/>
        </p:nvSpPr>
        <p:spPr>
          <a:xfrm>
            <a:off x="7863840" y="4251960"/>
            <a:ext cx="4114800" cy="1024452"/>
          </a:xfrm>
          <a:prstGeom prst="rect">
            <a:avLst/>
          </a:prstGeom>
        </p:spPr>
        <p:txBody>
          <a:bodyPr lIns="0" tIns="0" rIns="0" bIns="0" rtlCol="0" anchor="t">
            <a:spAutoFit/>
          </a:bodyPr>
          <a:lstStyle/>
          <a:p>
            <a:pPr marL="0" lvl="0" indent="0" algn="l">
              <a:lnSpc>
                <a:spcPts val="2040"/>
              </a:lnSpc>
              <a:spcBef>
                <a:spcPct val="0"/>
              </a:spcBef>
            </a:pPr>
            <a:r>
              <a:rPr lang="es-CL" sz="4400" b="1" noProof="0" dirty="0">
                <a:solidFill>
                  <a:srgbClr val="0E0C0B"/>
                </a:solidFill>
                <a:latin typeface="Montserrat Bold" panose="00000800000000000000" charset="0"/>
                <a:ea typeface="Montserrat"/>
                <a:cs typeface="Montserrat"/>
                <a:sym typeface="Montserrat"/>
              </a:rPr>
              <a:t>23 km/h</a:t>
            </a:r>
          </a:p>
          <a:p>
            <a:pPr marL="0" lvl="0" indent="0" algn="l">
              <a:lnSpc>
                <a:spcPts val="2040"/>
              </a:lnSpc>
              <a:spcBef>
                <a:spcPct val="0"/>
              </a:spcBef>
            </a:pPr>
            <a:r>
              <a:rPr lang="es-CL" sz="1672" noProof="0" dirty="0">
                <a:solidFill>
                  <a:schemeClr val="tx1">
                    <a:lumMod val="85000"/>
                    <a:lumOff val="15000"/>
                  </a:schemeClr>
                </a:solidFill>
                <a:latin typeface="Montserrat Bold" panose="00000800000000000000" charset="0"/>
                <a:ea typeface="Montserrat"/>
                <a:cs typeface="Montserrat"/>
                <a:sym typeface="Montserrat"/>
              </a:rPr>
              <a:t>velocidad máxima mediana en un minuto de juego</a:t>
            </a:r>
          </a:p>
        </p:txBody>
      </p:sp>
      <p:sp>
        <p:nvSpPr>
          <p:cNvPr id="46" name="TextBox 15">
            <a:extLst>
              <a:ext uri="{FF2B5EF4-FFF2-40B4-BE49-F238E27FC236}">
                <a16:creationId xmlns:a16="http://schemas.microsoft.com/office/drawing/2014/main" id="{3B1168A2-12C0-EDD7-E392-75EE40349C74}"/>
              </a:ext>
            </a:extLst>
          </p:cNvPr>
          <p:cNvSpPr txBox="1"/>
          <p:nvPr/>
        </p:nvSpPr>
        <p:spPr>
          <a:xfrm>
            <a:off x="548640" y="4251960"/>
            <a:ext cx="4114800" cy="1024452"/>
          </a:xfrm>
          <a:prstGeom prst="rect">
            <a:avLst/>
          </a:prstGeom>
        </p:spPr>
        <p:txBody>
          <a:bodyPr lIns="0" tIns="0" rIns="0" bIns="0" rtlCol="0" anchor="t">
            <a:spAutoFit/>
          </a:bodyPr>
          <a:lstStyle/>
          <a:p>
            <a:pPr marL="0" lvl="0" indent="0" algn="l">
              <a:lnSpc>
                <a:spcPts val="2040"/>
              </a:lnSpc>
            </a:pPr>
            <a:r>
              <a:rPr lang="es-CL" sz="4400" b="1" noProof="0" dirty="0">
                <a:solidFill>
                  <a:srgbClr val="0E0C0B"/>
                </a:solidFill>
                <a:latin typeface="Montserrat Bold" panose="00000800000000000000" charset="0"/>
                <a:ea typeface="Montserrat"/>
                <a:cs typeface="Montserrat"/>
                <a:sym typeface="Montserrat"/>
              </a:rPr>
              <a:t>25 %</a:t>
            </a:r>
          </a:p>
          <a:p>
            <a:pPr marL="0" lvl="0" indent="0" algn="l">
              <a:lnSpc>
                <a:spcPts val="2040"/>
              </a:lnSpc>
            </a:pPr>
            <a:r>
              <a:rPr lang="es-CL" sz="1672" noProof="0" dirty="0">
                <a:solidFill>
                  <a:schemeClr val="tx1">
                    <a:lumMod val="85000"/>
                    <a:lumOff val="15000"/>
                  </a:schemeClr>
                </a:solidFill>
                <a:latin typeface="Montserrat Bold" panose="00000800000000000000" charset="0"/>
                <a:ea typeface="Montserrat"/>
                <a:cs typeface="Montserrat"/>
                <a:sym typeface="Montserrat"/>
              </a:rPr>
              <a:t>de las muestras con balón (antes 11 %)</a:t>
            </a:r>
          </a:p>
        </p:txBody>
      </p:sp>
      <p:sp>
        <p:nvSpPr>
          <p:cNvPr id="48" name="TextBox 16">
            <a:extLst>
              <a:ext uri="{FF2B5EF4-FFF2-40B4-BE49-F238E27FC236}">
                <a16:creationId xmlns:a16="http://schemas.microsoft.com/office/drawing/2014/main" id="{4BDE91C3-5917-626E-69EB-4665DAC94DA9}"/>
              </a:ext>
            </a:extLst>
          </p:cNvPr>
          <p:cNvSpPr txBox="1"/>
          <p:nvPr/>
        </p:nvSpPr>
        <p:spPr>
          <a:xfrm>
            <a:off x="548640" y="1783080"/>
            <a:ext cx="4114800" cy="1024452"/>
          </a:xfrm>
          <a:prstGeom prst="rect">
            <a:avLst/>
          </a:prstGeom>
        </p:spPr>
        <p:txBody>
          <a:bodyPr lIns="0" tIns="0" rIns="0" bIns="0" rtlCol="0" anchor="t">
            <a:spAutoFit/>
          </a:bodyPr>
          <a:lstStyle/>
          <a:p>
            <a:pPr marL="0" lvl="0" indent="0" algn="l">
              <a:lnSpc>
                <a:spcPts val="2040"/>
              </a:lnSpc>
              <a:spcBef>
                <a:spcPct val="0"/>
              </a:spcBef>
            </a:pPr>
            <a:r>
              <a:rPr lang="es-CL" sz="4400" b="1" noProof="0" dirty="0">
                <a:solidFill>
                  <a:srgbClr val="0E0C0B"/>
                </a:solidFill>
                <a:latin typeface="Montserrat Bold" panose="00000800000000000000" charset="0"/>
                <a:ea typeface="Montserrat"/>
                <a:cs typeface="Montserrat"/>
                <a:sym typeface="Montserrat"/>
              </a:rPr>
              <a:t>30 → 6</a:t>
            </a:r>
          </a:p>
          <a:p>
            <a:pPr marL="0" lvl="0" indent="0" algn="l">
              <a:lnSpc>
                <a:spcPts val="2040"/>
              </a:lnSpc>
              <a:spcBef>
                <a:spcPct val="0"/>
              </a:spcBef>
            </a:pPr>
            <a:r>
              <a:rPr lang="es-CL" sz="1672" noProof="0" dirty="0">
                <a:solidFill>
                  <a:schemeClr val="tx1">
                    <a:lumMod val="85000"/>
                    <a:lumOff val="15000"/>
                  </a:schemeClr>
                </a:solidFill>
                <a:latin typeface="Montserrat Bold" panose="00000800000000000000" charset="0"/>
                <a:ea typeface="Montserrat"/>
                <a:cs typeface="Montserrat"/>
                <a:sym typeface="Montserrat"/>
              </a:rPr>
              <a:t>fragmentos por jugador al ajustar el seguimiento</a:t>
            </a:r>
          </a:p>
        </p:txBody>
      </p:sp>
      <mc:AlternateContent xmlns:mc="http://schemas.openxmlformats.org/markup-compatibility/2006">
        <mc:Choice xmlns:am3d="http://schemas.microsoft.com/office/drawing/2017/model3d" Requires="am3d">
          <p:graphicFrame>
            <p:nvGraphicFramePr>
              <p:cNvPr id="50" name="Modelo 3D 49">
                <a:extLst>
                  <a:ext uri="{FF2B5EF4-FFF2-40B4-BE49-F238E27FC236}">
                    <a16:creationId xmlns:a16="http://schemas.microsoft.com/office/drawing/2014/main" id="{9FC5D2AE-19AF-5B9D-D900-D0ADEB082AC3}"/>
                  </a:ext>
                </a:extLst>
              </p:cNvPr>
              <p:cNvGraphicFramePr>
                <a:graphicFrameLocks noChangeAspect="1"/>
              </p:cNvGraphicFramePr>
              <p:nvPr>
                <p:extLst>
                  <p:ext uri="{D42A27DB-BD31-4B8C-83A1-F6EECF244321}">
                    <p14:modId xmlns:p14="http://schemas.microsoft.com/office/powerpoint/2010/main" val="609594676"/>
                  </p:ext>
                </p:extLst>
              </p:nvPr>
            </p:nvGraphicFramePr>
            <p:xfrm>
              <a:off x="5150448" y="2684463"/>
              <a:ext cx="2264078" cy="2264078"/>
            </p:xfrm>
            <a:graphic>
              <a:graphicData uri="http://schemas.microsoft.com/office/drawing/2017/model3d">
                <am3d:model3d r:embed="rId7">
                  <am3d:spPr>
                    <a:xfrm>
                      <a:off x="0" y="0"/>
                      <a:ext cx="2264078" cy="2264078"/>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5446883" ay="122802" az="-6657354"/>
                    <am3d:postTrans dx="0" dy="0" dz="0"/>
                  </am3d:trans>
                  <am3d:raster rName="Office3DRenderer" rVer="16.0.8326">
                    <am3d:blip r:embed="rId8"/>
                  </am3d:raster>
                  <am3d:objViewport viewportSz="601217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0" name="Modelo 3D 49">
                <a:extLst>
                  <a:ext uri="{FF2B5EF4-FFF2-40B4-BE49-F238E27FC236}">
                    <a16:creationId xmlns:a16="http://schemas.microsoft.com/office/drawing/2014/main" id="{9FC5D2AE-19AF-5B9D-D900-D0ADEB082AC3}"/>
                  </a:ext>
                </a:extLst>
              </p:cNvPr>
              <p:cNvPicPr>
                <a:picLocks noGrp="1" noRot="1" noChangeAspect="1" noMove="1" noResize="1" noEditPoints="1" noAdjustHandles="1" noChangeArrowheads="1" noChangeShapeType="1" noCrop="1"/>
              </p:cNvPicPr>
              <p:nvPr/>
            </p:nvPicPr>
            <p:blipFill>
              <a:blip r:embed="rId8"/>
              <a:stretch>
                <a:fillRect/>
              </a:stretch>
            </p:blipFill>
            <p:spPr>
              <a:xfrm>
                <a:off x="5150448" y="2684463"/>
                <a:ext cx="2264078" cy="2264078"/>
              </a:xfrm>
              <a:prstGeom prst="rect">
                <a:avLst/>
              </a:prstGeom>
            </p:spPr>
          </p:pic>
        </mc:Fallback>
      </mc:AlternateContent>
      <p:sp>
        <p:nvSpPr>
          <p:cNvPr id="52" name="CuadroTexto 51">
            <a:extLst>
              <a:ext uri="{FF2B5EF4-FFF2-40B4-BE49-F238E27FC236}">
                <a16:creationId xmlns:a16="http://schemas.microsoft.com/office/drawing/2014/main" id="{80E90C02-D87D-AE3D-EF3A-8E718D852295}"/>
              </a:ext>
            </a:extLst>
          </p:cNvPr>
          <p:cNvSpPr txBox="1"/>
          <p:nvPr/>
        </p:nvSpPr>
        <p:spPr>
          <a:xfrm>
            <a:off x="570847" y="-5758616"/>
            <a:ext cx="6843679" cy="2092881"/>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bg1">
                    <a:lumMod val="85000"/>
                  </a:schemeClr>
                </a:solidFill>
                <a:latin typeface="Montserrat Bold"/>
                <a:ea typeface="Montserrat Bold"/>
                <a:cs typeface="Montserrat Bold"/>
                <a:sym typeface="Montserrat Bold"/>
              </a:rPr>
              <a:t>Metodología</a:t>
            </a:r>
          </a:p>
          <a:p>
            <a:pPr marL="0" lvl="0" indent="0" algn="l">
              <a:lnSpc>
                <a:spcPts val="7791"/>
              </a:lnSpc>
              <a:spcBef>
                <a:spcPct val="0"/>
              </a:spcBef>
            </a:pPr>
            <a:r>
              <a:rPr lang="es-CL" sz="6600" b="1" spc="-557" noProof="0" dirty="0">
                <a:solidFill>
                  <a:schemeClr val="bg1">
                    <a:lumMod val="85000"/>
                  </a:schemeClr>
                </a:solidFill>
                <a:latin typeface="Montserrat Bold"/>
                <a:ea typeface="Montserrat Bold"/>
                <a:cs typeface="Montserrat Bold"/>
                <a:sym typeface="Montserrat Bold"/>
              </a:rPr>
              <a:t> y Equipo</a:t>
            </a:r>
            <a:endParaRPr lang="es-CL" sz="6600" b="1" spc="-557" noProof="0" dirty="0">
              <a:solidFill>
                <a:srgbClr val="4AEFD8"/>
              </a:solidFill>
              <a:latin typeface="Montserrat Bold"/>
              <a:ea typeface="Montserrat Bold"/>
              <a:cs typeface="Montserrat Bold"/>
              <a:sym typeface="Montserrat Bold"/>
            </a:endParaRPr>
          </a:p>
        </p:txBody>
      </p:sp>
      <p:sp>
        <p:nvSpPr>
          <p:cNvPr id="54" name="TextBox 37">
            <a:extLst>
              <a:ext uri="{FF2B5EF4-FFF2-40B4-BE49-F238E27FC236}">
                <a16:creationId xmlns:a16="http://schemas.microsoft.com/office/drawing/2014/main" id="{57BCF9B7-2C2F-B48D-020E-65A64D121D3E}"/>
              </a:ext>
            </a:extLst>
          </p:cNvPr>
          <p:cNvSpPr txBox="1"/>
          <p:nvPr/>
        </p:nvSpPr>
        <p:spPr>
          <a:xfrm>
            <a:off x="0" y="7928600"/>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1: Arquitectura Cloud, datasets y diseño UX/UI</a:t>
            </a:r>
          </a:p>
        </p:txBody>
      </p:sp>
      <p:sp>
        <p:nvSpPr>
          <p:cNvPr id="56" name="TextBox 38">
            <a:extLst>
              <a:ext uri="{FF2B5EF4-FFF2-40B4-BE49-F238E27FC236}">
                <a16:creationId xmlns:a16="http://schemas.microsoft.com/office/drawing/2014/main" id="{638CF66A-758B-D836-9DAF-7E591F24CF0D}"/>
              </a:ext>
            </a:extLst>
          </p:cNvPr>
          <p:cNvSpPr txBox="1"/>
          <p:nvPr/>
        </p:nvSpPr>
        <p:spPr>
          <a:xfrm>
            <a:off x="0" y="8727126"/>
            <a:ext cx="6280390" cy="569195"/>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2: Modelos IA (YOLO, ByteTrack, RTMPose) y API </a:t>
            </a:r>
            <a:r>
              <a:rPr lang="es-CL" sz="1674" noProof="0" dirty="0" err="1">
                <a:solidFill>
                  <a:srgbClr val="0E0C0B"/>
                </a:solidFill>
                <a:latin typeface="Montserrat"/>
                <a:ea typeface="Montserrat"/>
                <a:cs typeface="Montserrat"/>
                <a:sym typeface="Montserrat"/>
              </a:rPr>
              <a:t>backend</a:t>
            </a:r>
            <a:endParaRPr lang="es-CL" sz="1674" noProof="0" dirty="0">
              <a:solidFill>
                <a:srgbClr val="0E0C0B"/>
              </a:solidFill>
              <a:latin typeface="Montserrat"/>
              <a:ea typeface="Montserrat"/>
              <a:cs typeface="Montserrat"/>
              <a:sym typeface="Montserrat"/>
            </a:endParaRPr>
          </a:p>
        </p:txBody>
      </p:sp>
      <p:sp>
        <p:nvSpPr>
          <p:cNvPr id="58" name="TextBox 39">
            <a:extLst>
              <a:ext uri="{FF2B5EF4-FFF2-40B4-BE49-F238E27FC236}">
                <a16:creationId xmlns:a16="http://schemas.microsoft.com/office/drawing/2014/main" id="{FE41BB0D-92C7-18B7-F07C-8496E2B5436B}"/>
              </a:ext>
            </a:extLst>
          </p:cNvPr>
          <p:cNvSpPr txBox="1"/>
          <p:nvPr/>
        </p:nvSpPr>
        <p:spPr>
          <a:xfrm>
            <a:off x="0" y="9723249"/>
            <a:ext cx="6280390" cy="569195"/>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Fase 3: Dashboard interactivo, pruebas piloto y entregables</a:t>
            </a:r>
          </a:p>
        </p:txBody>
      </p:sp>
      <p:sp>
        <p:nvSpPr>
          <p:cNvPr id="60" name="TextBox 40">
            <a:extLst>
              <a:ext uri="{FF2B5EF4-FFF2-40B4-BE49-F238E27FC236}">
                <a16:creationId xmlns:a16="http://schemas.microsoft.com/office/drawing/2014/main" id="{057C82F5-77F1-AEA0-FFF8-E5923A42FD9A}"/>
              </a:ext>
            </a:extLst>
          </p:cNvPr>
          <p:cNvSpPr txBox="1"/>
          <p:nvPr/>
        </p:nvSpPr>
        <p:spPr>
          <a:xfrm>
            <a:off x="-51439" y="10796688"/>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Director, Especialista IA, Backend Cloud y Frontend UX</a:t>
            </a:r>
          </a:p>
        </p:txBody>
      </p:sp>
      <p:sp>
        <p:nvSpPr>
          <p:cNvPr id="62" name="TextBox 41">
            <a:extLst>
              <a:ext uri="{FF2B5EF4-FFF2-40B4-BE49-F238E27FC236}">
                <a16:creationId xmlns:a16="http://schemas.microsoft.com/office/drawing/2014/main" id="{7F1E8793-5662-D6CA-D66C-E81E2E823A48}"/>
              </a:ext>
            </a:extLst>
          </p:cNvPr>
          <p:cNvSpPr txBox="1"/>
          <p:nvPr/>
        </p:nvSpPr>
        <p:spPr>
          <a:xfrm>
            <a:off x="0" y="11693796"/>
            <a:ext cx="6280389" cy="281329"/>
          </a:xfrm>
          <a:prstGeom prst="rect">
            <a:avLst/>
          </a:prstGeom>
        </p:spPr>
        <p:txBody>
          <a:bodyPr wrap="square" lIns="0" tIns="0" rIns="0" bIns="0" rtlCol="0" anchor="t">
            <a:spAutoFit/>
          </a:bodyPr>
          <a:lstStyle/>
          <a:p>
            <a:pPr marL="0" lvl="0" indent="0" algn="l">
              <a:lnSpc>
                <a:spcPts val="2343"/>
              </a:lnSpc>
              <a:spcBef>
                <a:spcPct val="0"/>
              </a:spcBef>
            </a:pPr>
            <a:r>
              <a:rPr lang="es-CL" sz="1674" noProof="0" dirty="0">
                <a:solidFill>
                  <a:srgbClr val="0E0C0B"/>
                </a:solidFill>
                <a:latin typeface="Montserrat"/>
                <a:ea typeface="Montserrat"/>
                <a:cs typeface="Montserrat"/>
                <a:sym typeface="Montserrat"/>
              </a:rPr>
              <a:t>MVP funcional + piloto con club partner en 18 semanas</a:t>
            </a:r>
          </a:p>
        </p:txBody>
      </p:sp>
      <p:sp>
        <p:nvSpPr>
          <p:cNvPr id="64" name="Freeform 6">
            <a:extLst>
              <a:ext uri="{FF2B5EF4-FFF2-40B4-BE49-F238E27FC236}">
                <a16:creationId xmlns:a16="http://schemas.microsoft.com/office/drawing/2014/main" id="{13E49851-5498-3199-9DF3-3DADEAA7F1EA}"/>
              </a:ext>
            </a:extLst>
          </p:cNvPr>
          <p:cNvSpPr/>
          <p:nvPr/>
        </p:nvSpPr>
        <p:spPr>
          <a:xfrm>
            <a:off x="-248549" y="7679994"/>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66" name="Freeform 6">
            <a:extLst>
              <a:ext uri="{FF2B5EF4-FFF2-40B4-BE49-F238E27FC236}">
                <a16:creationId xmlns:a16="http://schemas.microsoft.com/office/drawing/2014/main" id="{1E2F43AE-81AF-DE7A-EE11-528BFEF48275}"/>
              </a:ext>
            </a:extLst>
          </p:cNvPr>
          <p:cNvSpPr/>
          <p:nvPr/>
        </p:nvSpPr>
        <p:spPr>
          <a:xfrm>
            <a:off x="-248549" y="8622913"/>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68" name="Freeform 6">
            <a:extLst>
              <a:ext uri="{FF2B5EF4-FFF2-40B4-BE49-F238E27FC236}">
                <a16:creationId xmlns:a16="http://schemas.microsoft.com/office/drawing/2014/main" id="{C05545AD-545C-C565-7313-A0E47E0EC746}"/>
              </a:ext>
            </a:extLst>
          </p:cNvPr>
          <p:cNvSpPr/>
          <p:nvPr/>
        </p:nvSpPr>
        <p:spPr>
          <a:xfrm>
            <a:off x="-248549" y="9609688"/>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0" name="Freeform 6">
            <a:extLst>
              <a:ext uri="{FF2B5EF4-FFF2-40B4-BE49-F238E27FC236}">
                <a16:creationId xmlns:a16="http://schemas.microsoft.com/office/drawing/2014/main" id="{C9BAD418-9E4A-7A4D-BC22-49ADB247DE5B}"/>
              </a:ext>
            </a:extLst>
          </p:cNvPr>
          <p:cNvSpPr/>
          <p:nvPr/>
        </p:nvSpPr>
        <p:spPr>
          <a:xfrm>
            <a:off x="-248549" y="10542234"/>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2" name="Freeform 6">
            <a:extLst>
              <a:ext uri="{FF2B5EF4-FFF2-40B4-BE49-F238E27FC236}">
                <a16:creationId xmlns:a16="http://schemas.microsoft.com/office/drawing/2014/main" id="{D5F5AB49-F44D-2279-B5D7-11455D1ED2B6}"/>
              </a:ext>
            </a:extLst>
          </p:cNvPr>
          <p:cNvSpPr/>
          <p:nvPr/>
        </p:nvSpPr>
        <p:spPr>
          <a:xfrm>
            <a:off x="-248550" y="11488252"/>
            <a:ext cx="6674610" cy="741828"/>
          </a:xfrm>
          <a:custGeom>
            <a:avLst/>
            <a:gdLst/>
            <a:ahLst/>
            <a:cxnLst/>
            <a:rect l="l" t="t" r="r" b="b"/>
            <a:pathLst>
              <a:path w="2686108" h="315485">
                <a:moveTo>
                  <a:pt x="46075" y="0"/>
                </a:moveTo>
                <a:lnTo>
                  <a:pt x="2640032" y="0"/>
                </a:lnTo>
                <a:cubicBezTo>
                  <a:pt x="2665479" y="0"/>
                  <a:pt x="2686108" y="20629"/>
                  <a:pt x="2686108" y="46075"/>
                </a:cubicBezTo>
                <a:lnTo>
                  <a:pt x="2686108" y="269410"/>
                </a:lnTo>
                <a:cubicBezTo>
                  <a:pt x="2686108" y="294856"/>
                  <a:pt x="2665479" y="315485"/>
                  <a:pt x="2640032" y="315485"/>
                </a:cubicBezTo>
                <a:lnTo>
                  <a:pt x="46075" y="315485"/>
                </a:lnTo>
                <a:cubicBezTo>
                  <a:pt x="20629" y="315485"/>
                  <a:pt x="0" y="294856"/>
                  <a:pt x="0" y="269410"/>
                </a:cubicBezTo>
                <a:lnTo>
                  <a:pt x="0" y="46075"/>
                </a:lnTo>
                <a:cubicBezTo>
                  <a:pt x="0" y="20629"/>
                  <a:pt x="20629" y="0"/>
                  <a:pt x="46075" y="0"/>
                </a:cubicBezTo>
                <a:close/>
              </a:path>
            </a:pathLst>
          </a:custGeom>
          <a:noFill/>
          <a:ln w="38100" cap="rnd">
            <a:solidFill>
              <a:schemeClr val="tx1"/>
            </a:solidFill>
            <a:prstDash val="solid"/>
            <a:round/>
          </a:ln>
        </p:spPr>
        <p:txBody>
          <a:bodyPr/>
          <a:lstStyle/>
          <a:p>
            <a:endParaRPr lang="es-CL" noProof="0" dirty="0"/>
          </a:p>
        </p:txBody>
      </p:sp>
      <p:sp>
        <p:nvSpPr>
          <p:cNvPr id="78" name="CuadroTexto 77">
            <a:extLst>
              <a:ext uri="{FF2B5EF4-FFF2-40B4-BE49-F238E27FC236}">
                <a16:creationId xmlns:a16="http://schemas.microsoft.com/office/drawing/2014/main" id="{3B4D4420-946E-BE32-7C78-9ADF8008D2F9}"/>
              </a:ext>
            </a:extLst>
          </p:cNvPr>
          <p:cNvSpPr txBox="1"/>
          <p:nvPr/>
        </p:nvSpPr>
        <p:spPr>
          <a:xfrm>
            <a:off x="13723712" y="-649"/>
            <a:ext cx="5096456" cy="2092881"/>
          </a:xfrm>
          <a:prstGeom prst="rect">
            <a:avLst/>
          </a:prstGeom>
          <a:noFill/>
        </p:spPr>
        <p:txBody>
          <a:bodyPr wrap="square">
            <a:spAutoFit/>
          </a:bodyPr>
          <a:lstStyle/>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Metodología</a:t>
            </a:r>
          </a:p>
          <a:p>
            <a:pPr marL="0" lvl="0" indent="0" algn="l">
              <a:lnSpc>
                <a:spcPts val="7791"/>
              </a:lnSpc>
              <a:spcBef>
                <a:spcPct val="0"/>
              </a:spcBef>
            </a:pPr>
            <a:r>
              <a:rPr lang="es-CL" sz="6600" b="1" spc="-557" noProof="0" dirty="0">
                <a:solidFill>
                  <a:schemeClr val="tx1">
                    <a:lumMod val="85000"/>
                    <a:lumOff val="15000"/>
                  </a:schemeClr>
                </a:solidFill>
                <a:latin typeface="Montserrat Bold"/>
                <a:ea typeface="Montserrat Bold"/>
                <a:cs typeface="Montserrat Bold"/>
                <a:sym typeface="Montserrat Bold"/>
              </a:rPr>
              <a:t> y Equipo</a:t>
            </a:r>
          </a:p>
        </p:txBody>
      </p:sp>
      <p:sp>
        <p:nvSpPr>
          <p:cNvPr id="80" name="Freeform 4">
            <a:extLst>
              <a:ext uri="{FF2B5EF4-FFF2-40B4-BE49-F238E27FC236}">
                <a16:creationId xmlns:a16="http://schemas.microsoft.com/office/drawing/2014/main" id="{CAE68997-803F-C022-85C2-BFC4A4FB8E42}"/>
              </a:ext>
            </a:extLst>
          </p:cNvPr>
          <p:cNvSpPr/>
          <p:nvPr/>
        </p:nvSpPr>
        <p:spPr>
          <a:xfrm>
            <a:off x="13973169" y="2443959"/>
            <a:ext cx="4907355" cy="4998961"/>
          </a:xfrm>
          <a:custGeom>
            <a:avLst/>
            <a:gdLst/>
            <a:ahLst/>
            <a:cxnLst/>
            <a:rect l="l" t="t" r="r" b="b"/>
            <a:pathLst>
              <a:path w="6195549" h="9334160">
                <a:moveTo>
                  <a:pt x="0" y="0"/>
                </a:moveTo>
                <a:lnTo>
                  <a:pt x="6195548" y="0"/>
                </a:lnTo>
                <a:lnTo>
                  <a:pt x="6195548" y="9334160"/>
                </a:lnTo>
                <a:lnTo>
                  <a:pt x="0" y="9334160"/>
                </a:lnTo>
                <a:lnTo>
                  <a:pt x="0" y="0"/>
                </a:lnTo>
                <a:close/>
              </a:path>
            </a:pathLst>
          </a:custGeom>
          <a:blipFill>
            <a:blip r:embed="rId9"/>
            <a:stretch>
              <a:fillRect/>
            </a:stretch>
          </a:blipFill>
        </p:spPr>
        <p:txBody>
          <a:bodyPr/>
          <a:lstStyle/>
          <a:p>
            <a:endParaRPr lang="es-CL" noProof="0" dirty="0"/>
          </a:p>
        </p:txBody>
      </p:sp>
      <p:sp>
        <p:nvSpPr>
          <p:cNvPr id="81" name="Subtitulo resultados"/>
          <p:cNvSpPr txBox="1"/>
          <p:nvPr/>
        </p:nvSpPr>
        <p:spPr>
          <a:xfrm>
            <a:off x="1708410" y="1078992"/>
            <a:ext cx="8744702" cy="292388"/>
          </a:xfrm>
          <a:prstGeom prst="rect">
            <a:avLst/>
          </a:prstGeom>
          <a:noFill/>
        </p:spPr>
        <p:txBody>
          <a:bodyPr wrap="none">
            <a:spAutoFit/>
          </a:bodyPr>
          <a:lstStyle/>
          <a:p>
            <a:pPr algn="ctr"/>
            <a:r>
              <a:rPr lang="es-CL" sz="1300" noProof="0" dirty="0">
                <a:solidFill>
                  <a:schemeClr val="tx1">
                    <a:lumMod val="85000"/>
                    <a:lumOff val="15000"/>
                  </a:schemeClr>
                </a:solidFill>
                <a:latin typeface="Montserrat Bold" panose="00000800000000000000" charset="0"/>
                <a:ea typeface="Montserrat"/>
                <a:cs typeface="Montserrat"/>
                <a:sym typeface="Montserrat"/>
              </a:rPr>
              <a:t>Pruebas con 30 s de un partido de </a:t>
            </a:r>
            <a:r>
              <a:rPr lang="es-CL" sz="1300" dirty="0">
                <a:solidFill>
                  <a:schemeClr val="tx1">
                    <a:lumMod val="85000"/>
                    <a:lumOff val="15000"/>
                  </a:schemeClr>
                </a:solidFill>
                <a:latin typeface="Montserrat Bold" panose="00000800000000000000" charset="0"/>
                <a:ea typeface="Montserrat"/>
                <a:cs typeface="Montserrat"/>
                <a:sym typeface="Montserrat"/>
              </a:rPr>
              <a:t>Bundesliga</a:t>
            </a:r>
            <a:r>
              <a:rPr lang="es-CL" sz="1300" noProof="0" dirty="0">
                <a:solidFill>
                  <a:schemeClr val="tx1">
                    <a:lumMod val="85000"/>
                    <a:lumOff val="15000"/>
                  </a:schemeClr>
                </a:solidFill>
                <a:latin typeface="Montserrat Bold" panose="00000800000000000000" charset="0"/>
                <a:ea typeface="Montserrat"/>
                <a:cs typeface="Montserrat"/>
                <a:sym typeface="Montserrat"/>
              </a:rPr>
              <a:t> · 13–15 pases detectados · 23 min en la nube sin GPU</a:t>
            </a:r>
          </a:p>
        </p:txBody>
      </p:sp>
    </p:spTree>
    <p:extLst>
      <p:ext uri="{BB962C8B-B14F-4D97-AF65-F5344CB8AC3E}">
        <p14:creationId xmlns:p14="http://schemas.microsoft.com/office/powerpoint/2010/main" val="1508484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B2003-9B73-FE2E-61C8-C32550C7161C}"/>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5B80CA45-CA44-9244-B072-AC191455C8EF}"/>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pic>
        <p:nvPicPr>
          <p:cNvPr id="55" name="Imagen 54">
            <a:extLst>
              <a:ext uri="{FF2B5EF4-FFF2-40B4-BE49-F238E27FC236}">
                <a16:creationId xmlns:a16="http://schemas.microsoft.com/office/drawing/2014/main" id="{4AB1A7EB-8355-4D04-5057-8556C288F2EB}"/>
              </a:ext>
            </a:extLst>
          </p:cNvPr>
          <p:cNvPicPr preferRelativeResize="0">
            <a:picLocks noChangeAspect="1"/>
          </p:cNvPicPr>
          <p:nvPr/>
        </p:nvPicPr>
        <p:blipFill>
          <a:blip r:embed="rId3"/>
          <a:srcRect/>
          <a:stretch>
            <a:fillRect/>
          </a:stretch>
        </p:blipFill>
        <p:spPr>
          <a:xfrm>
            <a:off x="9667679" y="8257867"/>
            <a:ext cx="6555916" cy="15781136"/>
          </a:xfrm>
          <a:prstGeom prst="rect">
            <a:avLst/>
          </a:prstGeom>
        </p:spPr>
      </p:pic>
      <p:sp>
        <p:nvSpPr>
          <p:cNvPr id="11" name="TextBox 19">
            <a:extLst>
              <a:ext uri="{FF2B5EF4-FFF2-40B4-BE49-F238E27FC236}">
                <a16:creationId xmlns:a16="http://schemas.microsoft.com/office/drawing/2014/main" id="{689CD285-A2B1-2E2D-E2CE-98BCE3C4803D}"/>
              </a:ext>
            </a:extLst>
          </p:cNvPr>
          <p:cNvSpPr txBox="1"/>
          <p:nvPr/>
        </p:nvSpPr>
        <p:spPr>
          <a:xfrm>
            <a:off x="5255064" y="3283085"/>
            <a:ext cx="1420264" cy="555593"/>
          </a:xfrm>
          <a:prstGeom prst="rect">
            <a:avLst/>
          </a:prstGeom>
        </p:spPr>
        <p:txBody>
          <a:bodyPr lIns="50800" tIns="50800" rIns="50800" bIns="50800" rtlCol="0" anchor="ctr"/>
          <a:lstStyle/>
          <a:p>
            <a:pPr marL="0" lvl="0" indent="0" algn="ctr">
              <a:lnSpc>
                <a:spcPts val="2659"/>
              </a:lnSpc>
            </a:pPr>
            <a:endParaRPr lang="es-CL" sz="4000" noProof="0" dirty="0">
              <a:latin typeface="Montserrat Bold" panose="00000800000000000000" pitchFamily="2" charset="0"/>
            </a:endParaRPr>
          </a:p>
        </p:txBody>
      </p:sp>
      <p:sp>
        <p:nvSpPr>
          <p:cNvPr id="90" name="Rectángulo 89">
            <a:extLst>
              <a:ext uri="{FF2B5EF4-FFF2-40B4-BE49-F238E27FC236}">
                <a16:creationId xmlns:a16="http://schemas.microsoft.com/office/drawing/2014/main" id="{CA97D5E5-DE75-8337-3F04-A4B8EC27C255}"/>
              </a:ext>
            </a:extLst>
          </p:cNvPr>
          <p:cNvSpPr/>
          <p:nvPr/>
        </p:nvSpPr>
        <p:spPr>
          <a:xfrm>
            <a:off x="0" y="13021721"/>
            <a:ext cx="4318000" cy="6880619"/>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7F68D590-C135-E24F-29AC-E8AFEE157887}"/>
              </a:ext>
            </a:extLst>
          </p:cNvPr>
          <p:cNvSpPr txBox="1"/>
          <p:nvPr/>
        </p:nvSpPr>
        <p:spPr>
          <a:xfrm>
            <a:off x="61285" y="13021722"/>
            <a:ext cx="4313957" cy="3033203"/>
          </a:xfrm>
          <a:prstGeom prst="rect">
            <a:avLst/>
          </a:prstGeom>
          <a:noFill/>
        </p:spPr>
        <p:txBody>
          <a:bodyPr wrap="square">
            <a:spAutoFit/>
          </a:bodyPr>
          <a:lstStyle/>
          <a:p>
            <a:pPr lvl="0">
              <a:lnSpc>
                <a:spcPts val="7791"/>
              </a:lnSpc>
              <a:spcBef>
                <a:spcPct val="0"/>
              </a:spcBef>
            </a:pPr>
            <a:r>
              <a:rPr lang="es-CL" sz="6000" b="1" spc="-557" noProof="0" dirty="0">
                <a:solidFill>
                  <a:schemeClr val="bg1">
                    <a:lumMod val="85000"/>
                  </a:schemeClr>
                </a:solidFill>
                <a:latin typeface="Montserrat Bold"/>
                <a:ea typeface="Montserrat Bold"/>
                <a:cs typeface="Montserrat Bold"/>
                <a:sym typeface="Montserrat Bold"/>
              </a:rPr>
              <a:t>Modelo de Negocio SaaS</a:t>
            </a:r>
          </a:p>
        </p:txBody>
      </p:sp>
      <p:sp>
        <p:nvSpPr>
          <p:cNvPr id="92" name="CuadroTexto 91">
            <a:extLst>
              <a:ext uri="{FF2B5EF4-FFF2-40B4-BE49-F238E27FC236}">
                <a16:creationId xmlns:a16="http://schemas.microsoft.com/office/drawing/2014/main" id="{795E0744-73DE-8B16-063B-8B18B1AC15F2}"/>
              </a:ext>
            </a:extLst>
          </p:cNvPr>
          <p:cNvSpPr txBox="1"/>
          <p:nvPr/>
        </p:nvSpPr>
        <p:spPr>
          <a:xfrm>
            <a:off x="958376" y="18683414"/>
            <a:ext cx="3416866" cy="982000"/>
          </a:xfrm>
          <a:prstGeom prst="rect">
            <a:avLst/>
          </a:prstGeom>
          <a:noFill/>
        </p:spPr>
        <p:txBody>
          <a:bodyPr wrap="square">
            <a:spAutoFit/>
          </a:bodyPr>
          <a:lstStyle/>
          <a:p>
            <a:pPr marL="0" lvl="0" indent="0" algn="l">
              <a:lnSpc>
                <a:spcPts val="7791"/>
              </a:lnSpc>
              <a:spcBef>
                <a:spcPct val="0"/>
              </a:spcBef>
            </a:pPr>
            <a:r>
              <a:rPr lang="es-CL" sz="4400" spc="-150" noProof="0" dirty="0">
                <a:solidFill>
                  <a:schemeClr val="bg1">
                    <a:lumMod val="85000"/>
                  </a:schemeClr>
                </a:solidFill>
                <a:latin typeface="Montserrat Bold"/>
                <a:ea typeface="Montserrat Bold"/>
                <a:cs typeface="Montserrat Bold"/>
                <a:sym typeface="Montserrat Bold"/>
              </a:rPr>
              <a:t>Fut.Ai</a:t>
            </a:r>
          </a:p>
        </p:txBody>
      </p:sp>
      <p:pic>
        <p:nvPicPr>
          <p:cNvPr id="94" name="Imagen 93">
            <a:extLst>
              <a:ext uri="{FF2B5EF4-FFF2-40B4-BE49-F238E27FC236}">
                <a16:creationId xmlns:a16="http://schemas.microsoft.com/office/drawing/2014/main" id="{ED99D8FE-0FA9-72C6-B067-8CDC267C5412}"/>
              </a:ext>
            </a:extLst>
          </p:cNvPr>
          <p:cNvPicPr>
            <a:picLocks noChangeAspect="1"/>
          </p:cNvPicPr>
          <p:nvPr/>
        </p:nvPicPr>
        <p:blipFill>
          <a:blip r:embed="rId4"/>
          <a:srcRect/>
          <a:stretch>
            <a:fillRect/>
          </a:stretch>
        </p:blipFill>
        <p:spPr>
          <a:xfrm>
            <a:off x="2769489" y="18885288"/>
            <a:ext cx="996664" cy="863537"/>
          </a:xfrm>
          <a:prstGeom prst="rect">
            <a:avLst/>
          </a:prstGeom>
        </p:spPr>
      </p:pic>
      <mc:AlternateContent xmlns:mc="http://schemas.openxmlformats.org/markup-compatibility/2006">
        <mc:Choice xmlns:am3d="http://schemas.microsoft.com/office/drawing/2017/model3d" Requires="am3d">
          <p:graphicFrame>
            <p:nvGraphicFramePr>
              <p:cNvPr id="88" name="Modelo 3D 87">
                <a:extLst>
                  <a:ext uri="{FF2B5EF4-FFF2-40B4-BE49-F238E27FC236}">
                    <a16:creationId xmlns:a16="http://schemas.microsoft.com/office/drawing/2014/main" id="{9F77E35A-BC82-47BF-7ECC-9BE8A4C5B035}"/>
                  </a:ext>
                </a:extLst>
              </p:cNvPr>
              <p:cNvGraphicFramePr>
                <a:graphicFrameLocks noChangeAspect="1"/>
              </p:cNvGraphicFramePr>
              <p:nvPr>
                <p:extLst>
                  <p:ext uri="{D42A27DB-BD31-4B8C-83A1-F6EECF244321}">
                    <p14:modId xmlns:p14="http://schemas.microsoft.com/office/powerpoint/2010/main" val="2107559535"/>
                  </p:ext>
                </p:extLst>
              </p:nvPr>
            </p:nvGraphicFramePr>
            <p:xfrm>
              <a:off x="1547370" y="16771676"/>
              <a:ext cx="1341784" cy="1341783"/>
            </p:xfrm>
            <a:graphic>
              <a:graphicData uri="http://schemas.microsoft.com/office/drawing/2017/model3d">
                <am3d:model3d r:embed="rId5">
                  <am3d:spPr>
                    <a:xfrm>
                      <a:off x="0" y="0"/>
                      <a:ext cx="1341784" cy="1341783"/>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5400000" ay="3600000" az="5400000"/>
                    <am3d:postTrans dx="0" dy="0" dz="0"/>
                  </am3d:trans>
                  <am3d:raster rName="Office3DRenderer" rVer="16.0.8326">
                    <am3d:blip r:embed="rId6"/>
                  </am3d:raster>
                  <am3d:objViewport viewportSz="345437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8" name="Modelo 3D 87">
                <a:extLst>
                  <a:ext uri="{FF2B5EF4-FFF2-40B4-BE49-F238E27FC236}">
                    <a16:creationId xmlns:a16="http://schemas.microsoft.com/office/drawing/2014/main" id="{9F77E35A-BC82-47BF-7ECC-9BE8A4C5B035}"/>
                  </a:ext>
                </a:extLst>
              </p:cNvPr>
              <p:cNvPicPr>
                <a:picLocks noGrp="1" noRot="1" noChangeAspect="1" noMove="1" noResize="1" noEditPoints="1" noAdjustHandles="1" noChangeArrowheads="1" noChangeShapeType="1" noCrop="1"/>
              </p:cNvPicPr>
              <p:nvPr/>
            </p:nvPicPr>
            <p:blipFill>
              <a:blip r:embed="rId6"/>
              <a:stretch>
                <a:fillRect/>
              </a:stretch>
            </p:blipFill>
            <p:spPr>
              <a:xfrm>
                <a:off x="1547370" y="16771676"/>
                <a:ext cx="1341784" cy="1341783"/>
              </a:xfrm>
              <a:prstGeom prst="rect">
                <a:avLst/>
              </a:prstGeom>
            </p:spPr>
          </p:pic>
        </mc:Fallback>
      </mc:AlternateContent>
      <p:grpSp>
        <p:nvGrpSpPr>
          <p:cNvPr id="2" name="Group 11">
            <a:extLst>
              <a:ext uri="{FF2B5EF4-FFF2-40B4-BE49-F238E27FC236}">
                <a16:creationId xmlns:a16="http://schemas.microsoft.com/office/drawing/2014/main" id="{17F09D9D-D04C-9C0E-037A-238F4486D1E0}"/>
              </a:ext>
            </a:extLst>
          </p:cNvPr>
          <p:cNvGrpSpPr/>
          <p:nvPr/>
        </p:nvGrpSpPr>
        <p:grpSpPr>
          <a:xfrm>
            <a:off x="6206664" y="13597547"/>
            <a:ext cx="2304978" cy="2304978"/>
            <a:chOff x="0" y="0"/>
            <a:chExt cx="812800" cy="812800"/>
          </a:xfrm>
        </p:grpSpPr>
        <p:sp>
          <p:nvSpPr>
            <p:cNvPr id="9" name="Freeform 12">
              <a:extLst>
                <a:ext uri="{FF2B5EF4-FFF2-40B4-BE49-F238E27FC236}">
                  <a16:creationId xmlns:a16="http://schemas.microsoft.com/office/drawing/2014/main" id="{FE60AF81-5E9A-035B-F702-96C51421DC9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a:stretch>
            </a:blipFill>
          </p:spPr>
          <p:txBody>
            <a:bodyPr/>
            <a:lstStyle/>
            <a:p>
              <a:endParaRPr lang="es-CL" noProof="0" dirty="0"/>
            </a:p>
          </p:txBody>
        </p:sp>
      </p:grpSp>
      <p:sp>
        <p:nvSpPr>
          <p:cNvPr id="10" name="TextBox 16">
            <a:extLst>
              <a:ext uri="{FF2B5EF4-FFF2-40B4-BE49-F238E27FC236}">
                <a16:creationId xmlns:a16="http://schemas.microsoft.com/office/drawing/2014/main" id="{A307E122-89CE-A490-2854-97D2C237485A}"/>
              </a:ext>
            </a:extLst>
          </p:cNvPr>
          <p:cNvSpPr txBox="1"/>
          <p:nvPr/>
        </p:nvSpPr>
        <p:spPr>
          <a:xfrm>
            <a:off x="5234698" y="17141322"/>
            <a:ext cx="4248910" cy="1650003"/>
          </a:xfrm>
          <a:prstGeom prst="rect">
            <a:avLst/>
          </a:prstGeom>
        </p:spPr>
        <p:txBody>
          <a:bodyPr lIns="0" tIns="0" rIns="0" bIns="0" rtlCol="0" anchor="t">
            <a:spAutoFit/>
          </a:bodyPr>
          <a:lstStyle/>
          <a:p>
            <a:pPr marL="0" lvl="0" indent="0" algn="ctr">
              <a:lnSpc>
                <a:spcPts val="2550"/>
              </a:lnSpc>
              <a:spcBef>
                <a:spcPct val="0"/>
              </a:spcBef>
            </a:pPr>
            <a:r>
              <a:rPr lang="es-CL" sz="2090" noProof="0" dirty="0">
                <a:solidFill>
                  <a:schemeClr val="tx1">
                    <a:lumMod val="95000"/>
                    <a:lumOff val="5000"/>
                  </a:schemeClr>
                </a:solidFill>
                <a:latin typeface="Montserrat"/>
                <a:ea typeface="Montserrat"/>
                <a:cs typeface="Montserrat"/>
                <a:sym typeface="Montserrat"/>
              </a:rPr>
              <a:t>Estrategia Land &amp; </a:t>
            </a:r>
            <a:r>
              <a:rPr lang="es-CL" sz="2090" noProof="0" dirty="0" err="1">
                <a:solidFill>
                  <a:schemeClr val="tx1">
                    <a:lumMod val="95000"/>
                    <a:lumOff val="5000"/>
                  </a:schemeClr>
                </a:solidFill>
                <a:latin typeface="Montserrat"/>
                <a:ea typeface="Montserrat"/>
                <a:cs typeface="Montserrat"/>
                <a:sym typeface="Montserrat"/>
              </a:rPr>
              <a:t>Expand</a:t>
            </a:r>
            <a:r>
              <a:rPr lang="es-CL" sz="2090" noProof="0" dirty="0">
                <a:solidFill>
                  <a:schemeClr val="tx1">
                    <a:lumMod val="95000"/>
                    <a:lumOff val="5000"/>
                  </a:schemeClr>
                </a:solidFill>
                <a:latin typeface="Montserrat"/>
                <a:ea typeface="Montserrat"/>
                <a:cs typeface="Montserrat"/>
                <a:sym typeface="Montserrat"/>
              </a:rPr>
              <a:t>: piloto gratuito de 2 meses para generar casos de éxito y escalar con suscripción B2B por volumen procesado.</a:t>
            </a:r>
          </a:p>
        </p:txBody>
      </p:sp>
      <p:sp>
        <p:nvSpPr>
          <p:cNvPr id="12" name="TextBox 19">
            <a:extLst>
              <a:ext uri="{FF2B5EF4-FFF2-40B4-BE49-F238E27FC236}">
                <a16:creationId xmlns:a16="http://schemas.microsoft.com/office/drawing/2014/main" id="{C411DBAC-6622-5ED2-8310-5C6B6B4FC172}"/>
              </a:ext>
            </a:extLst>
          </p:cNvPr>
          <p:cNvSpPr txBox="1"/>
          <p:nvPr/>
        </p:nvSpPr>
        <p:spPr>
          <a:xfrm>
            <a:off x="4216778" y="16604247"/>
            <a:ext cx="6284751" cy="393482"/>
          </a:xfrm>
          <a:prstGeom prst="rect">
            <a:avLst/>
          </a:prstGeom>
        </p:spPr>
        <p:txBody>
          <a:bodyPr lIns="0" tIns="0" rIns="0" bIns="0" rtlCol="0" anchor="t">
            <a:spAutoFit/>
          </a:bodyPr>
          <a:lstStyle/>
          <a:p>
            <a:pPr marL="0" lvl="0" indent="0" algn="ctr">
              <a:lnSpc>
                <a:spcPts val="3154"/>
              </a:lnSpc>
              <a:spcBef>
                <a:spcPct val="0"/>
              </a:spcBef>
            </a:pPr>
            <a:r>
              <a:rPr lang="es-CL" sz="2585" b="1" noProof="0" dirty="0">
                <a:solidFill>
                  <a:schemeClr val="tx1">
                    <a:lumMod val="95000"/>
                    <a:lumOff val="5000"/>
                  </a:schemeClr>
                </a:solidFill>
                <a:latin typeface="Montserrat Bold"/>
                <a:ea typeface="Montserrat Bold"/>
                <a:cs typeface="Montserrat Bold"/>
                <a:sym typeface="Montserrat Bold"/>
              </a:rPr>
              <a:t>GO-TO-MARKET</a:t>
            </a:r>
          </a:p>
        </p:txBody>
      </p:sp>
      <p:sp>
        <p:nvSpPr>
          <p:cNvPr id="14" name="Freeform 5">
            <a:extLst>
              <a:ext uri="{FF2B5EF4-FFF2-40B4-BE49-F238E27FC236}">
                <a16:creationId xmlns:a16="http://schemas.microsoft.com/office/drawing/2014/main" id="{3F6453DE-EDDB-AA95-414C-7A069D3280D9}"/>
              </a:ext>
            </a:extLst>
          </p:cNvPr>
          <p:cNvSpPr/>
          <p:nvPr/>
        </p:nvSpPr>
        <p:spPr>
          <a:xfrm rot="10800000">
            <a:off x="-2211723" y="-3476130"/>
            <a:ext cx="9140587" cy="7929459"/>
          </a:xfrm>
          <a:custGeom>
            <a:avLst/>
            <a:gdLst/>
            <a:ahLst/>
            <a:cxnLst/>
            <a:rect l="l" t="t" r="r" b="b"/>
            <a:pathLst>
              <a:path w="9140587" h="7929459">
                <a:moveTo>
                  <a:pt x="0" y="0"/>
                </a:moveTo>
                <a:lnTo>
                  <a:pt x="9140587" y="0"/>
                </a:lnTo>
                <a:lnTo>
                  <a:pt x="9140587" y="7929459"/>
                </a:lnTo>
                <a:lnTo>
                  <a:pt x="0" y="7929459"/>
                </a:lnTo>
                <a:lnTo>
                  <a:pt x="0" y="0"/>
                </a:lnTo>
                <a:close/>
              </a:path>
            </a:pathLst>
          </a:custGeom>
          <a:blipFill>
            <a:blip r:embed="rId8"/>
            <a:stretch>
              <a:fillRect/>
            </a:stretch>
          </a:blipFill>
        </p:spPr>
        <p:txBody>
          <a:bodyPr/>
          <a:lstStyle/>
          <a:p>
            <a:endParaRPr lang="es-CL" noProof="0" dirty="0"/>
          </a:p>
        </p:txBody>
      </p:sp>
      <p:sp>
        <p:nvSpPr>
          <p:cNvPr id="17" name="Freeform 6">
            <a:extLst>
              <a:ext uri="{FF2B5EF4-FFF2-40B4-BE49-F238E27FC236}">
                <a16:creationId xmlns:a16="http://schemas.microsoft.com/office/drawing/2014/main" id="{3370680A-6E68-67F1-2F60-F0BAD91762D2}"/>
              </a:ext>
            </a:extLst>
          </p:cNvPr>
          <p:cNvSpPr/>
          <p:nvPr/>
        </p:nvSpPr>
        <p:spPr>
          <a:xfrm>
            <a:off x="6229693" y="2481579"/>
            <a:ext cx="5821790" cy="3480290"/>
          </a:xfrm>
          <a:custGeom>
            <a:avLst/>
            <a:gdLst/>
            <a:ahLst/>
            <a:cxnLst/>
            <a:rect l="l" t="t" r="r" b="b"/>
            <a:pathLst>
              <a:path w="10069020" h="6884692">
                <a:moveTo>
                  <a:pt x="0" y="0"/>
                </a:moveTo>
                <a:lnTo>
                  <a:pt x="10069020" y="0"/>
                </a:lnTo>
                <a:lnTo>
                  <a:pt x="10069020" y="6884693"/>
                </a:lnTo>
                <a:lnTo>
                  <a:pt x="0" y="6884693"/>
                </a:lnTo>
                <a:lnTo>
                  <a:pt x="0" y="0"/>
                </a:lnTo>
                <a:close/>
              </a:path>
            </a:pathLst>
          </a:custGeom>
          <a:blipFill>
            <a:blip r:embed="rId9"/>
            <a:stretch>
              <a:fillRect/>
            </a:stretch>
          </a:blipFill>
        </p:spPr>
        <p:txBody>
          <a:bodyPr/>
          <a:lstStyle/>
          <a:p>
            <a:endParaRPr lang="es-CL" noProof="0" dirty="0"/>
          </a:p>
        </p:txBody>
      </p:sp>
      <p:sp>
        <p:nvSpPr>
          <p:cNvPr id="19" name="TextBox 7">
            <a:extLst>
              <a:ext uri="{FF2B5EF4-FFF2-40B4-BE49-F238E27FC236}">
                <a16:creationId xmlns:a16="http://schemas.microsoft.com/office/drawing/2014/main" id="{3F6AA1D6-8760-B5EC-34EE-F103FC20DEB3}"/>
              </a:ext>
            </a:extLst>
          </p:cNvPr>
          <p:cNvSpPr txBox="1"/>
          <p:nvPr/>
        </p:nvSpPr>
        <p:spPr>
          <a:xfrm>
            <a:off x="343406" y="1455353"/>
            <a:ext cx="5389738" cy="2766371"/>
          </a:xfrm>
          <a:prstGeom prst="rect">
            <a:avLst/>
          </a:prstGeom>
        </p:spPr>
        <p:txBody>
          <a:bodyPr wrap="square" lIns="0" tIns="0" rIns="0" bIns="0" rtlCol="0" anchor="t">
            <a:spAutoFit/>
          </a:bodyPr>
          <a:lstStyle/>
          <a:p>
            <a:pPr marL="0" lvl="0" indent="0" algn="l">
              <a:lnSpc>
                <a:spcPts val="7101"/>
              </a:lnSpc>
            </a:pPr>
            <a:r>
              <a:rPr lang="es-CL" sz="8070" b="1" spc="-508" noProof="0" dirty="0">
                <a:solidFill>
                  <a:srgbClr val="FFFFFF"/>
                </a:solidFill>
                <a:latin typeface="Montserrat Bold"/>
                <a:ea typeface="Montserrat Bold"/>
                <a:cs typeface="Montserrat Bold"/>
                <a:sym typeface="Montserrat Bold"/>
              </a:rPr>
              <a:t>Conclusión</a:t>
            </a:r>
          </a:p>
          <a:p>
            <a:pPr marL="0" lvl="0" indent="0" algn="l">
              <a:lnSpc>
                <a:spcPts val="7101"/>
              </a:lnSpc>
            </a:pPr>
            <a:r>
              <a:rPr lang="es-CL" sz="8070" b="1" spc="-508" noProof="0" dirty="0">
                <a:solidFill>
                  <a:srgbClr val="FFFFFF"/>
                </a:solidFill>
                <a:latin typeface="Montserrat Bold"/>
                <a:ea typeface="Montserrat Bold"/>
                <a:cs typeface="Montserrat Bold"/>
                <a:sym typeface="Montserrat Bold"/>
              </a:rPr>
              <a:t>y Próximos Pasos</a:t>
            </a:r>
          </a:p>
        </p:txBody>
      </p:sp>
      <p:sp>
        <p:nvSpPr>
          <p:cNvPr id="21" name="TextBox 8">
            <a:extLst>
              <a:ext uri="{FF2B5EF4-FFF2-40B4-BE49-F238E27FC236}">
                <a16:creationId xmlns:a16="http://schemas.microsoft.com/office/drawing/2014/main" id="{357AE65A-EF81-4F8B-3710-C809D2797A1D}"/>
              </a:ext>
            </a:extLst>
          </p:cNvPr>
          <p:cNvSpPr txBox="1"/>
          <p:nvPr/>
        </p:nvSpPr>
        <p:spPr>
          <a:xfrm>
            <a:off x="343405" y="4247358"/>
            <a:ext cx="5532841" cy="2243306"/>
          </a:xfrm>
          <a:prstGeom prst="rect">
            <a:avLst/>
          </a:prstGeom>
        </p:spPr>
        <p:txBody>
          <a:bodyPr wrap="square" lIns="0" tIns="0" rIns="0" bIns="0" rtlCol="0" anchor="t">
            <a:spAutoFit/>
          </a:bodyPr>
          <a:lstStyle/>
          <a:p>
            <a:pPr marL="0" lvl="0" indent="0" algn="just">
              <a:lnSpc>
                <a:spcPts val="2187"/>
              </a:lnSpc>
            </a:pPr>
            <a:r>
              <a:rPr lang="es-CL" sz="1793" noProof="0" dirty="0">
                <a:solidFill>
                  <a:srgbClr val="FFFFFF"/>
                </a:solidFill>
                <a:latin typeface="Montserrat"/>
                <a:ea typeface="Montserrat"/>
                <a:cs typeface="Montserrat"/>
                <a:sym typeface="Montserrat"/>
              </a:rPr>
              <a:t>Hoy el pipeline corre en Google Cloud y entrega las cinco métricas por jugador desde un MP4 estándar. Próximos pasos: GPU L4 (cuota solicitada), API de subida, etiquetado asistido, afinar el detector de balón y un reporte por jugador para el cuerpo técnico.</a:t>
            </a:r>
          </a:p>
        </p:txBody>
      </p:sp>
    </p:spTree>
    <p:extLst>
      <p:ext uri="{BB962C8B-B14F-4D97-AF65-F5344CB8AC3E}">
        <p14:creationId xmlns:p14="http://schemas.microsoft.com/office/powerpoint/2010/main" val="2325656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87FC9-7E54-2E70-3FE4-B0908773CB38}"/>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9B3581EF-ACE7-E5AC-FDBA-11E338CE0F4F}"/>
              </a:ext>
            </a:extLst>
          </p:cNvPr>
          <p:cNvSpPr/>
          <p:nvPr/>
        </p:nvSpPr>
        <p:spPr>
          <a:xfrm>
            <a:off x="-34926" y="-25400"/>
            <a:ext cx="12261850" cy="6908800"/>
          </a:xfrm>
          <a:prstGeom prst="rect">
            <a:avLst/>
          </a:prstGeom>
          <a:solidFill>
            <a:schemeClr val="bg2">
              <a:lumMod val="1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lvl="0" algn="just">
              <a:lnSpc>
                <a:spcPts val="2416"/>
              </a:lnSpc>
              <a:spcBef>
                <a:spcPct val="0"/>
              </a:spcBef>
            </a:pPr>
            <a:r>
              <a:rPr lang="es-CL" noProof="0">
                <a:solidFill>
                  <a:schemeClr val="tx1">
                    <a:lumMod val="85000"/>
                    <a:lumOff val="15000"/>
                  </a:schemeClr>
                </a:solidFill>
                <a:latin typeface="Montserrat"/>
                <a:ea typeface="Montserrat"/>
                <a:cs typeface="Montserrat"/>
                <a:sym typeface="Montserrat"/>
              </a:rPr>
              <a:t> </a:t>
            </a:r>
          </a:p>
        </p:txBody>
      </p:sp>
      <p:pic>
        <p:nvPicPr>
          <p:cNvPr id="9" name="Imagen 8">
            <a:extLst>
              <a:ext uri="{FF2B5EF4-FFF2-40B4-BE49-F238E27FC236}">
                <a16:creationId xmlns:a16="http://schemas.microsoft.com/office/drawing/2014/main" id="{FDDA1266-B4ED-5A0F-E130-B12B7E7D2990}"/>
              </a:ext>
            </a:extLst>
          </p:cNvPr>
          <p:cNvPicPr preferRelativeResize="0">
            <a:picLocks noChangeAspect="1"/>
          </p:cNvPicPr>
          <p:nvPr/>
        </p:nvPicPr>
        <p:blipFill>
          <a:blip r:embed="rId3"/>
          <a:srcRect/>
          <a:stretch>
            <a:fillRect/>
          </a:stretch>
        </p:blipFill>
        <p:spPr>
          <a:xfrm rot="13118852">
            <a:off x="-10858541" y="-3076894"/>
            <a:ext cx="9498128" cy="7260847"/>
          </a:xfrm>
          <a:prstGeom prst="rect">
            <a:avLst/>
          </a:prstGeom>
        </p:spPr>
      </p:pic>
      <p:sp>
        <p:nvSpPr>
          <p:cNvPr id="13" name="Rectángulo 12">
            <a:extLst>
              <a:ext uri="{FF2B5EF4-FFF2-40B4-BE49-F238E27FC236}">
                <a16:creationId xmlns:a16="http://schemas.microsoft.com/office/drawing/2014/main" id="{C1DD2DFD-853C-6AE0-0F78-BF03CE0A3F50}"/>
              </a:ext>
            </a:extLst>
          </p:cNvPr>
          <p:cNvSpPr/>
          <p:nvPr/>
        </p:nvSpPr>
        <p:spPr>
          <a:xfrm>
            <a:off x="12423362" y="-25400"/>
            <a:ext cx="8112373" cy="69088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7" name="CuadroTexto 6">
            <a:extLst>
              <a:ext uri="{FF2B5EF4-FFF2-40B4-BE49-F238E27FC236}">
                <a16:creationId xmlns:a16="http://schemas.microsoft.com/office/drawing/2014/main" id="{FB0AC97A-4756-A401-71E7-5D55967687CA}"/>
              </a:ext>
            </a:extLst>
          </p:cNvPr>
          <p:cNvSpPr txBox="1"/>
          <p:nvPr/>
        </p:nvSpPr>
        <p:spPr>
          <a:xfrm>
            <a:off x="1736583" y="1275169"/>
            <a:ext cx="8014508" cy="1368516"/>
          </a:xfrm>
          <a:prstGeom prst="rect">
            <a:avLst/>
          </a:prstGeom>
          <a:noFill/>
        </p:spPr>
        <p:txBody>
          <a:bodyPr wrap="square">
            <a:spAutoFit/>
          </a:bodyPr>
          <a:lstStyle/>
          <a:p>
            <a:pPr marL="0" lvl="0" indent="0" algn="l">
              <a:lnSpc>
                <a:spcPts val="7791"/>
              </a:lnSpc>
              <a:spcBef>
                <a:spcPct val="0"/>
              </a:spcBef>
            </a:pPr>
            <a:r>
              <a:rPr lang="es-CL" sz="16600" b="1" spc="-300" noProof="0" dirty="0">
                <a:solidFill>
                  <a:srgbClr val="FFFFFF"/>
                </a:solidFill>
                <a:latin typeface="Montserrat Bold"/>
                <a:ea typeface="Montserrat Bold"/>
                <a:cs typeface="Montserrat Bold"/>
                <a:sym typeface="Montserrat Bold"/>
              </a:rPr>
              <a:t>Fut.Ai</a:t>
            </a:r>
          </a:p>
        </p:txBody>
      </p:sp>
      <p:pic>
        <p:nvPicPr>
          <p:cNvPr id="15" name="Imagen 14">
            <a:extLst>
              <a:ext uri="{FF2B5EF4-FFF2-40B4-BE49-F238E27FC236}">
                <a16:creationId xmlns:a16="http://schemas.microsoft.com/office/drawing/2014/main" id="{89FCCAD2-BC08-EE48-1034-9EDA5FE1258C}"/>
              </a:ext>
            </a:extLst>
          </p:cNvPr>
          <p:cNvPicPr>
            <a:picLocks noChangeAspect="1"/>
          </p:cNvPicPr>
          <p:nvPr/>
        </p:nvPicPr>
        <p:blipFill>
          <a:blip r:embed="rId4"/>
          <a:srcRect/>
          <a:stretch>
            <a:fillRect/>
          </a:stretch>
        </p:blipFill>
        <p:spPr>
          <a:xfrm>
            <a:off x="1477672" y="-5247763"/>
            <a:ext cx="6322856" cy="3590265"/>
          </a:xfrm>
          <a:prstGeom prst="rect">
            <a:avLst/>
          </a:prstGeom>
        </p:spPr>
      </p:pic>
      <p:pic>
        <p:nvPicPr>
          <p:cNvPr id="18" name="Imagen 17">
            <a:extLst>
              <a:ext uri="{FF2B5EF4-FFF2-40B4-BE49-F238E27FC236}">
                <a16:creationId xmlns:a16="http://schemas.microsoft.com/office/drawing/2014/main" id="{D4D3D103-15CA-EF78-4CCF-0AD0DAADB8E2}"/>
              </a:ext>
            </a:extLst>
          </p:cNvPr>
          <p:cNvPicPr>
            <a:picLocks noChangeAspect="1"/>
          </p:cNvPicPr>
          <p:nvPr/>
        </p:nvPicPr>
        <p:blipFill>
          <a:blip r:embed="rId5"/>
          <a:srcRect/>
          <a:stretch>
            <a:fillRect/>
          </a:stretch>
        </p:blipFill>
        <p:spPr>
          <a:xfrm rot="11109761">
            <a:off x="13880676" y="-6387972"/>
            <a:ext cx="10309162" cy="9922570"/>
          </a:xfrm>
          <a:prstGeom prst="rect">
            <a:avLst/>
          </a:prstGeom>
        </p:spPr>
      </p:pic>
      <mc:AlternateContent xmlns:mc="http://schemas.openxmlformats.org/markup-compatibility/2006">
        <mc:Choice xmlns:am3d="http://schemas.microsoft.com/office/drawing/2017/model3d" Requires="am3d">
          <p:graphicFrame>
            <p:nvGraphicFramePr>
              <p:cNvPr id="2" name="Modelo 3D 1">
                <a:extLst>
                  <a:ext uri="{FF2B5EF4-FFF2-40B4-BE49-F238E27FC236}">
                    <a16:creationId xmlns:a16="http://schemas.microsoft.com/office/drawing/2014/main" id="{D7CFE620-76D9-5E9F-4F59-CF3A06E25DC5}"/>
                  </a:ext>
                </a:extLst>
              </p:cNvPr>
              <p:cNvGraphicFramePr>
                <a:graphicFrameLocks noChangeAspect="1"/>
              </p:cNvGraphicFramePr>
              <p:nvPr>
                <p:extLst>
                  <p:ext uri="{D42A27DB-BD31-4B8C-83A1-F6EECF244321}">
                    <p14:modId xmlns:p14="http://schemas.microsoft.com/office/powerpoint/2010/main" val="3909145380"/>
                  </p:ext>
                </p:extLst>
              </p:nvPr>
            </p:nvGraphicFramePr>
            <p:xfrm>
              <a:off x="4863267" y="3644801"/>
              <a:ext cx="2218441" cy="2237483"/>
            </p:xfrm>
            <a:graphic>
              <a:graphicData uri="http://schemas.microsoft.com/office/drawing/2017/model3d">
                <am3d:model3d r:embed="rId6">
                  <am3d:spPr>
                    <a:xfrm>
                      <a:off x="0" y="0"/>
                      <a:ext cx="2218441" cy="2237483"/>
                    </a:xfrm>
                    <a:prstGeom prst="rect">
                      <a:avLst/>
                    </a:prstGeom>
                  </am3d:spPr>
                  <am3d:camera>
                    <am3d:pos x="0" y="0" z="75050937"/>
                    <am3d:up dx="0" dy="36000000" dz="0"/>
                    <am3d:lookAt x="0" y="0" z="0"/>
                    <am3d:perspective fov="2700000"/>
                  </am3d:camera>
                  <am3d:trans>
                    <am3d:meterPerModelUnit n="2821597" d="1000000"/>
                    <am3d:preTrans dx="2" dy="-11212792" dz="0"/>
                    <am3d:scale>
                      <am3d:sx n="1000000" d="1000000"/>
                      <am3d:sy n="1000000" d="1000000"/>
                      <am3d:sz n="1000000" d="1000000"/>
                    </am3d:scale>
                    <am3d:rot ax="-869594" ay="-616469" az="158386"/>
                    <am3d:postTrans dx="0" dy="0" dz="0"/>
                  </am3d:trans>
                  <am3d:raster rName="Office3DRenderer" rVer="16.0.8326">
                    <am3d:blip r:embed="rId7"/>
                  </am3d:raster>
                  <am3d:objViewport viewportSz="591266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o 3D 1">
                <a:extLst>
                  <a:ext uri="{FF2B5EF4-FFF2-40B4-BE49-F238E27FC236}">
                    <a16:creationId xmlns:a16="http://schemas.microsoft.com/office/drawing/2014/main" id="{D7CFE620-76D9-5E9F-4F59-CF3A06E25DC5}"/>
                  </a:ext>
                </a:extLst>
              </p:cNvPr>
              <p:cNvPicPr>
                <a:picLocks noGrp="1" noRot="1" noChangeAspect="1" noMove="1" noResize="1" noEditPoints="1" noAdjustHandles="1" noChangeArrowheads="1" noChangeShapeType="1" noCrop="1"/>
              </p:cNvPicPr>
              <p:nvPr/>
            </p:nvPicPr>
            <p:blipFill>
              <a:blip r:embed="rId7"/>
              <a:stretch>
                <a:fillRect/>
              </a:stretch>
            </p:blipFill>
            <p:spPr>
              <a:xfrm>
                <a:off x="4863267" y="3644801"/>
                <a:ext cx="2218441" cy="2237483"/>
              </a:xfrm>
              <a:prstGeom prst="rect">
                <a:avLst/>
              </a:prstGeom>
            </p:spPr>
          </p:pic>
        </mc:Fallback>
      </mc:AlternateContent>
      <p:sp>
        <p:nvSpPr>
          <p:cNvPr id="20" name="Rectángulo 19">
            <a:extLst>
              <a:ext uri="{FF2B5EF4-FFF2-40B4-BE49-F238E27FC236}">
                <a16:creationId xmlns:a16="http://schemas.microsoft.com/office/drawing/2014/main" id="{206F68BE-4537-29A7-8054-856B54465504}"/>
              </a:ext>
            </a:extLst>
          </p:cNvPr>
          <p:cNvSpPr/>
          <p:nvPr/>
        </p:nvSpPr>
        <p:spPr>
          <a:xfrm>
            <a:off x="12423362" y="-25400"/>
            <a:ext cx="3048000" cy="6858000"/>
          </a:xfrm>
          <a:prstGeom prst="rect">
            <a:avLst/>
          </a:prstGeom>
          <a:solidFill>
            <a:schemeClr val="accent6">
              <a:lumMod val="40000"/>
              <a:lumOff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22" name="Rectángulo 21">
            <a:extLst>
              <a:ext uri="{FF2B5EF4-FFF2-40B4-BE49-F238E27FC236}">
                <a16:creationId xmlns:a16="http://schemas.microsoft.com/office/drawing/2014/main" id="{63FC0573-1C96-B010-5C7A-9B1CDF5B9CDB}"/>
              </a:ext>
            </a:extLst>
          </p:cNvPr>
          <p:cNvSpPr/>
          <p:nvPr/>
        </p:nvSpPr>
        <p:spPr>
          <a:xfrm>
            <a:off x="15471362" y="-25400"/>
            <a:ext cx="3048000" cy="6858000"/>
          </a:xfrm>
          <a:prstGeom prst="rect">
            <a:avLst/>
          </a:prstGeom>
          <a:solidFill>
            <a:schemeClr val="accent6">
              <a:lumMod val="60000"/>
              <a:lumOff val="4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24" name="Rectángulo 23">
            <a:extLst>
              <a:ext uri="{FF2B5EF4-FFF2-40B4-BE49-F238E27FC236}">
                <a16:creationId xmlns:a16="http://schemas.microsoft.com/office/drawing/2014/main" id="{26DA5716-0D0F-E62D-6A21-19130C651643}"/>
              </a:ext>
            </a:extLst>
          </p:cNvPr>
          <p:cNvSpPr/>
          <p:nvPr/>
        </p:nvSpPr>
        <p:spPr>
          <a:xfrm>
            <a:off x="18519362" y="-25400"/>
            <a:ext cx="3048000" cy="6858000"/>
          </a:xfrm>
          <a:prstGeom prst="rect">
            <a:avLst/>
          </a:prstGeom>
          <a:solidFill>
            <a:schemeClr val="accent6">
              <a:lumMod val="7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p>
        </p:txBody>
      </p:sp>
      <p:sp>
        <p:nvSpPr>
          <p:cNvPr id="26" name="Rectángulo 25">
            <a:extLst>
              <a:ext uri="{FF2B5EF4-FFF2-40B4-BE49-F238E27FC236}">
                <a16:creationId xmlns:a16="http://schemas.microsoft.com/office/drawing/2014/main" id="{4110E6E6-7428-45D0-D9EF-968968B78DEC}"/>
              </a:ext>
            </a:extLst>
          </p:cNvPr>
          <p:cNvSpPr/>
          <p:nvPr/>
        </p:nvSpPr>
        <p:spPr>
          <a:xfrm>
            <a:off x="21567362" y="-25400"/>
            <a:ext cx="3048000" cy="6858000"/>
          </a:xfrm>
          <a:prstGeom prst="rect">
            <a:avLst/>
          </a:prstGeom>
          <a:solidFill>
            <a:schemeClr val="accent6">
              <a:lumMod val="5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noProof="0" dirty="0">
              <a:solidFill>
                <a:schemeClr val="accent6">
                  <a:lumMod val="50000"/>
                </a:schemeClr>
              </a:solidFill>
            </a:endParaRPr>
          </a:p>
        </p:txBody>
      </p:sp>
      <p:sp>
        <p:nvSpPr>
          <p:cNvPr id="28" name="Triángulo isósceles 27">
            <a:extLst>
              <a:ext uri="{FF2B5EF4-FFF2-40B4-BE49-F238E27FC236}">
                <a16:creationId xmlns:a16="http://schemas.microsoft.com/office/drawing/2014/main" id="{36B6C86B-4575-54F6-E776-575E4682FC13}"/>
              </a:ext>
            </a:extLst>
          </p:cNvPr>
          <p:cNvSpPr/>
          <p:nvPr/>
        </p:nvSpPr>
        <p:spPr>
          <a:xfrm rot="5400000">
            <a:off x="15428770" y="360092"/>
            <a:ext cx="364584" cy="279400"/>
          </a:xfrm>
          <a:prstGeom prst="triangl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0" name="Triángulo isósceles 29">
            <a:extLst>
              <a:ext uri="{FF2B5EF4-FFF2-40B4-BE49-F238E27FC236}">
                <a16:creationId xmlns:a16="http://schemas.microsoft.com/office/drawing/2014/main" id="{FE43C567-BE46-1EB1-279C-7D7C5A788C79}"/>
              </a:ext>
            </a:extLst>
          </p:cNvPr>
          <p:cNvSpPr/>
          <p:nvPr/>
        </p:nvSpPr>
        <p:spPr>
          <a:xfrm rot="5400000">
            <a:off x="18476770" y="360092"/>
            <a:ext cx="364584" cy="279400"/>
          </a:xfrm>
          <a:prstGeom prst="triangl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2" name="Triángulo isósceles 31">
            <a:extLst>
              <a:ext uri="{FF2B5EF4-FFF2-40B4-BE49-F238E27FC236}">
                <a16:creationId xmlns:a16="http://schemas.microsoft.com/office/drawing/2014/main" id="{DE419A14-93B5-7C89-CA0B-4C9FA50DA772}"/>
              </a:ext>
            </a:extLst>
          </p:cNvPr>
          <p:cNvSpPr/>
          <p:nvPr/>
        </p:nvSpPr>
        <p:spPr>
          <a:xfrm rot="5400000">
            <a:off x="21524770" y="360092"/>
            <a:ext cx="364584" cy="279400"/>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4" name="CuadroTexto 33">
            <a:extLst>
              <a:ext uri="{FF2B5EF4-FFF2-40B4-BE49-F238E27FC236}">
                <a16:creationId xmlns:a16="http://schemas.microsoft.com/office/drawing/2014/main" id="{03A573F3-4AE4-CE4E-3A41-E131AA2D886A}"/>
              </a:ext>
            </a:extLst>
          </p:cNvPr>
          <p:cNvSpPr txBox="1"/>
          <p:nvPr/>
        </p:nvSpPr>
        <p:spPr>
          <a:xfrm>
            <a:off x="12423362" y="-83634"/>
            <a:ext cx="3372133" cy="982705"/>
          </a:xfrm>
          <a:prstGeom prst="rect">
            <a:avLst/>
          </a:prstGeom>
          <a:noFill/>
        </p:spPr>
        <p:txBody>
          <a:bodyPr wrap="square">
            <a:spAutoFit/>
          </a:bodyPr>
          <a:lstStyle/>
          <a:p>
            <a:pPr lvl="0">
              <a:lnSpc>
                <a:spcPts val="7791"/>
              </a:lnSpc>
              <a:spcBef>
                <a:spcPct val="0"/>
              </a:spcBef>
            </a:pPr>
            <a:r>
              <a:rPr lang="es-CL" sz="4000" b="1" spc="-557" noProof="0" dirty="0" err="1">
                <a:solidFill>
                  <a:srgbClr val="FFFFFF"/>
                </a:solidFill>
                <a:latin typeface="Montserrat Bold"/>
                <a:ea typeface="Montserrat Bold"/>
                <a:cs typeface="Montserrat Bold"/>
                <a:sym typeface="Montserrat Bold"/>
              </a:rPr>
              <a:t>Introduccion</a:t>
            </a:r>
            <a:endParaRPr lang="es-CL" sz="4400" b="1" spc="-557" noProof="0" dirty="0">
              <a:solidFill>
                <a:srgbClr val="FFFFFF"/>
              </a:solidFill>
              <a:latin typeface="Montserrat Bold"/>
              <a:ea typeface="Montserrat Bold"/>
              <a:cs typeface="Montserrat Bold"/>
              <a:sym typeface="Montserrat Bold"/>
            </a:endParaRPr>
          </a:p>
        </p:txBody>
      </p:sp>
      <p:sp>
        <p:nvSpPr>
          <p:cNvPr id="36" name="CuadroTexto 35">
            <a:extLst>
              <a:ext uri="{FF2B5EF4-FFF2-40B4-BE49-F238E27FC236}">
                <a16:creationId xmlns:a16="http://schemas.microsoft.com/office/drawing/2014/main" id="{B1759A79-3D31-16B7-2376-6F2A06BAEAD8}"/>
              </a:ext>
            </a:extLst>
          </p:cNvPr>
          <p:cNvSpPr txBox="1"/>
          <p:nvPr/>
        </p:nvSpPr>
        <p:spPr>
          <a:xfrm>
            <a:off x="15991476" y="-83634"/>
            <a:ext cx="3372133" cy="982705"/>
          </a:xfrm>
          <a:prstGeom prst="rect">
            <a:avLst/>
          </a:prstGeom>
          <a:noFill/>
        </p:spPr>
        <p:txBody>
          <a:bodyPr wrap="square">
            <a:spAutoFit/>
          </a:bodyPr>
          <a:lstStyle/>
          <a:p>
            <a:pPr lvl="0">
              <a:lnSpc>
                <a:spcPts val="7791"/>
              </a:lnSpc>
              <a:spcBef>
                <a:spcPct val="0"/>
              </a:spcBef>
            </a:pPr>
            <a:r>
              <a:rPr lang="es-CL" sz="4000" b="1" spc="-557" noProof="0" dirty="0">
                <a:solidFill>
                  <a:srgbClr val="FFFFFF"/>
                </a:solidFill>
                <a:latin typeface="Montserrat Bold"/>
                <a:ea typeface="Montserrat Bold"/>
                <a:cs typeface="Montserrat Bold"/>
                <a:sym typeface="Montserrat Bold"/>
              </a:rPr>
              <a:t>Contexto</a:t>
            </a:r>
            <a:endParaRPr lang="es-CL" sz="4400" b="1" spc="-557" noProof="0" dirty="0">
              <a:solidFill>
                <a:srgbClr val="FFFFFF"/>
              </a:solidFill>
              <a:latin typeface="Montserrat Bold"/>
              <a:ea typeface="Montserrat Bold"/>
              <a:cs typeface="Montserrat Bold"/>
              <a:sym typeface="Montserrat Bold"/>
            </a:endParaRPr>
          </a:p>
        </p:txBody>
      </p:sp>
      <p:sp>
        <p:nvSpPr>
          <p:cNvPr id="38" name="CuadroTexto 37">
            <a:extLst>
              <a:ext uri="{FF2B5EF4-FFF2-40B4-BE49-F238E27FC236}">
                <a16:creationId xmlns:a16="http://schemas.microsoft.com/office/drawing/2014/main" id="{4E6D1FEF-7AD5-D1CD-9CDE-9FC83CF2C4CD}"/>
              </a:ext>
            </a:extLst>
          </p:cNvPr>
          <p:cNvSpPr txBox="1"/>
          <p:nvPr/>
        </p:nvSpPr>
        <p:spPr>
          <a:xfrm>
            <a:off x="18715343" y="-79917"/>
            <a:ext cx="3372133" cy="982705"/>
          </a:xfrm>
          <a:prstGeom prst="rect">
            <a:avLst/>
          </a:prstGeom>
          <a:noFill/>
        </p:spPr>
        <p:txBody>
          <a:bodyPr wrap="square">
            <a:spAutoFit/>
          </a:bodyPr>
          <a:lstStyle/>
          <a:p>
            <a:pPr lvl="0">
              <a:lnSpc>
                <a:spcPts val="7791"/>
              </a:lnSpc>
              <a:spcBef>
                <a:spcPct val="0"/>
              </a:spcBef>
            </a:pPr>
            <a:r>
              <a:rPr lang="es-CL" sz="4000" b="1" spc="-557" noProof="0" dirty="0" err="1">
                <a:solidFill>
                  <a:srgbClr val="FFFFFF"/>
                </a:solidFill>
                <a:latin typeface="Montserrat Bold"/>
                <a:ea typeface="Montserrat Bold"/>
                <a:cs typeface="Montserrat Bold"/>
                <a:sym typeface="Montserrat Bold"/>
              </a:rPr>
              <a:t>Problematica</a:t>
            </a:r>
            <a:endParaRPr lang="es-CL" sz="4400" b="1" spc="-557" noProof="0" dirty="0">
              <a:solidFill>
                <a:srgbClr val="FFFFFF"/>
              </a:solidFill>
              <a:latin typeface="Montserrat Bold"/>
              <a:ea typeface="Montserrat Bold"/>
              <a:cs typeface="Montserrat Bold"/>
              <a:sym typeface="Montserrat Bold"/>
            </a:endParaRPr>
          </a:p>
        </p:txBody>
      </p:sp>
      <p:sp>
        <p:nvSpPr>
          <p:cNvPr id="40" name="CuadroTexto 39">
            <a:extLst>
              <a:ext uri="{FF2B5EF4-FFF2-40B4-BE49-F238E27FC236}">
                <a16:creationId xmlns:a16="http://schemas.microsoft.com/office/drawing/2014/main" id="{53271A0C-31EF-AF58-E622-B9E13718A30E}"/>
              </a:ext>
            </a:extLst>
          </p:cNvPr>
          <p:cNvSpPr txBox="1"/>
          <p:nvPr/>
        </p:nvSpPr>
        <p:spPr>
          <a:xfrm>
            <a:off x="22087476" y="-76200"/>
            <a:ext cx="3372133" cy="982705"/>
          </a:xfrm>
          <a:prstGeom prst="rect">
            <a:avLst/>
          </a:prstGeom>
          <a:noFill/>
        </p:spPr>
        <p:txBody>
          <a:bodyPr wrap="square">
            <a:spAutoFit/>
          </a:bodyPr>
          <a:lstStyle/>
          <a:p>
            <a:pPr lvl="0">
              <a:lnSpc>
                <a:spcPts val="7791"/>
              </a:lnSpc>
              <a:spcBef>
                <a:spcPct val="0"/>
              </a:spcBef>
            </a:pPr>
            <a:r>
              <a:rPr lang="es-CL" sz="4000" b="1" spc="-557" noProof="0" dirty="0" err="1">
                <a:solidFill>
                  <a:srgbClr val="FFFFFF"/>
                </a:solidFill>
                <a:latin typeface="Montserrat Bold"/>
                <a:ea typeface="Montserrat Bold"/>
                <a:cs typeface="Montserrat Bold"/>
                <a:sym typeface="Montserrat Bold"/>
              </a:rPr>
              <a:t>Solucion</a:t>
            </a:r>
            <a:endParaRPr lang="es-CL" sz="4400" b="1" spc="-557" noProof="0" dirty="0">
              <a:solidFill>
                <a:srgbClr val="FFFFFF"/>
              </a:solidFill>
              <a:latin typeface="Montserrat Bold"/>
              <a:ea typeface="Montserrat Bold"/>
              <a:cs typeface="Montserrat Bold"/>
              <a:sym typeface="Montserrat Bold"/>
            </a:endParaRPr>
          </a:p>
        </p:txBody>
      </p:sp>
      <p:pic>
        <p:nvPicPr>
          <p:cNvPr id="5" name="Imagen 4">
            <a:extLst>
              <a:ext uri="{FF2B5EF4-FFF2-40B4-BE49-F238E27FC236}">
                <a16:creationId xmlns:a16="http://schemas.microsoft.com/office/drawing/2014/main" id="{744F8351-E189-096F-FA42-F4FA50A69F32}"/>
              </a:ext>
            </a:extLst>
          </p:cNvPr>
          <p:cNvPicPr>
            <a:picLocks noChangeAspect="1"/>
          </p:cNvPicPr>
          <p:nvPr/>
        </p:nvPicPr>
        <p:blipFill>
          <a:blip r:embed="rId8"/>
          <a:srcRect/>
          <a:stretch>
            <a:fillRect/>
          </a:stretch>
        </p:blipFill>
        <p:spPr>
          <a:xfrm>
            <a:off x="8087293" y="553529"/>
            <a:ext cx="2407612" cy="2086018"/>
          </a:xfrm>
          <a:prstGeom prst="rect">
            <a:avLst/>
          </a:prstGeom>
        </p:spPr>
      </p:pic>
      <p:sp>
        <p:nvSpPr>
          <p:cNvPr id="6" name="TextBox 7">
            <a:extLst>
              <a:ext uri="{FF2B5EF4-FFF2-40B4-BE49-F238E27FC236}">
                <a16:creationId xmlns:a16="http://schemas.microsoft.com/office/drawing/2014/main" id="{A1EDABA3-DD01-79E7-422F-D3C89F0B0935}"/>
              </a:ext>
            </a:extLst>
          </p:cNvPr>
          <p:cNvSpPr txBox="1"/>
          <p:nvPr/>
        </p:nvSpPr>
        <p:spPr>
          <a:xfrm>
            <a:off x="13542905" y="2224809"/>
            <a:ext cx="6765124" cy="3088794"/>
          </a:xfrm>
          <a:prstGeom prst="rect">
            <a:avLst/>
          </a:prstGeom>
        </p:spPr>
        <p:txBody>
          <a:bodyPr wrap="square" lIns="0" tIns="0" rIns="0" bIns="0" rtlCol="0" anchor="t">
            <a:spAutoFit/>
          </a:bodyPr>
          <a:lstStyle/>
          <a:p>
            <a:pPr lvl="0" algn="just"/>
            <a:r>
              <a:rPr lang="es-CL" noProof="0" dirty="0"/>
              <a:t>● </a:t>
            </a:r>
            <a:r>
              <a:rPr lang="es-CL" noProof="0" dirty="0">
                <a:latin typeface="Montserrat Bold" panose="00000800000000000000" pitchFamily="2" charset="0"/>
              </a:rPr>
              <a:t>Plataforma B2B SaaS </a:t>
            </a:r>
            <a:r>
              <a:rPr lang="es-CL" noProof="0" dirty="0">
                <a:latin typeface="Montserrat" panose="00000500000000000000" pitchFamily="2" charset="0"/>
              </a:rPr>
              <a:t>que usa IA y Visión por Computadora para automatizar al 100% el análisis táctico y biomecánico en el fútbol.</a:t>
            </a:r>
          </a:p>
          <a:p>
            <a:pPr lvl="0" algn="just"/>
            <a:endParaRPr lang="es-CL" sz="1936" noProof="0" dirty="0">
              <a:latin typeface="Montserrat"/>
              <a:ea typeface="Montserrat"/>
              <a:cs typeface="Montserrat"/>
              <a:sym typeface="Montserrat"/>
            </a:endParaRPr>
          </a:p>
          <a:p>
            <a:pPr lvl="0" algn="just"/>
            <a:r>
              <a:rPr lang="es-CL" noProof="0" dirty="0"/>
              <a:t>●</a:t>
            </a:r>
            <a:r>
              <a:rPr lang="es-CL" noProof="0" dirty="0">
                <a:latin typeface="Montserrat Bold" panose="00000800000000000000" pitchFamily="2" charset="0"/>
              </a:rPr>
              <a:t> Agnóstica al hardware: </a:t>
            </a:r>
            <a:r>
              <a:rPr lang="es-CL" noProof="0" dirty="0">
                <a:latin typeface="Montserrat" panose="00000500000000000000" pitchFamily="2" charset="0"/>
              </a:rPr>
              <a:t>solo requiere video MP4 estándar, sin cámaras propietarias ni dispositivos GPS costosos.</a:t>
            </a:r>
          </a:p>
          <a:p>
            <a:pPr lvl="0" algn="just"/>
            <a:endParaRPr lang="es-CL" sz="1936" noProof="0" dirty="0">
              <a:latin typeface="Montserrat"/>
              <a:ea typeface="Montserrat"/>
              <a:cs typeface="Montserrat"/>
              <a:sym typeface="Montserrat"/>
            </a:endParaRPr>
          </a:p>
          <a:p>
            <a:pPr lvl="0" algn="just"/>
            <a:r>
              <a:rPr lang="es-CL" noProof="0" dirty="0"/>
              <a:t>● </a:t>
            </a:r>
            <a:r>
              <a:rPr lang="es-CL" noProof="0" dirty="0">
                <a:latin typeface="Montserrat Bold" panose="00000800000000000000" pitchFamily="2" charset="0"/>
              </a:rPr>
              <a:t>Democratiza la inteligencia deportiva </a:t>
            </a:r>
            <a:r>
              <a:rPr lang="es-CL" noProof="0" dirty="0">
                <a:latin typeface="Montserrat" panose="00000500000000000000" pitchFamily="2" charset="0"/>
              </a:rPr>
              <a:t>de élite</a:t>
            </a:r>
            <a:r>
              <a:rPr lang="es-CL" noProof="0" dirty="0">
                <a:latin typeface="Montserrat"/>
                <a:ea typeface="Montserrat"/>
                <a:cs typeface="Montserrat"/>
                <a:sym typeface="Montserrat"/>
              </a:rPr>
              <a:t>, poniendo herramientas al alcance de los más de 15,000 clubes que hoy operan sin datos objetivos</a:t>
            </a:r>
            <a:endParaRPr lang="es-CL" sz="1936" noProof="0" dirty="0">
              <a:latin typeface="Montserrat" panose="00000500000000000000" pitchFamily="2" charset="0"/>
              <a:ea typeface="Montserrat"/>
              <a:cs typeface="Montserrat"/>
              <a:sym typeface="Montserrat"/>
            </a:endParaRPr>
          </a:p>
        </p:txBody>
      </p:sp>
      <p:sp>
        <p:nvSpPr>
          <p:cNvPr id="8" name="CuadroTexto 7">
            <a:extLst>
              <a:ext uri="{FF2B5EF4-FFF2-40B4-BE49-F238E27FC236}">
                <a16:creationId xmlns:a16="http://schemas.microsoft.com/office/drawing/2014/main" id="{57FAE11C-E7BC-15F0-F5FA-54F555FDA786}"/>
              </a:ext>
            </a:extLst>
          </p:cNvPr>
          <p:cNvSpPr txBox="1"/>
          <p:nvPr/>
        </p:nvSpPr>
        <p:spPr>
          <a:xfrm>
            <a:off x="189626" y="5394960"/>
            <a:ext cx="4572000" cy="1477328"/>
          </a:xfrm>
          <a:prstGeom prst="rect">
            <a:avLst/>
          </a:prstGeom>
          <a:noFill/>
        </p:spPr>
        <p:txBody>
          <a:bodyPr wrap="none" rtlCol="0">
            <a:spAutoFit/>
          </a:bodyPr>
          <a:lstStyle/>
          <a:p>
            <a:r>
              <a:rPr lang="es-CL" sz="4000" b="1" noProof="0" dirty="0">
                <a:solidFill>
                  <a:schemeClr val="bg1">
                    <a:lumMod val="85000"/>
                  </a:schemeClr>
                </a:solidFill>
                <a:latin typeface="Montserrat Bold" panose="00000800000000000000" pitchFamily="2" charset="0"/>
              </a:rPr>
              <a:t>¡Gracias!</a:t>
            </a:r>
          </a:p>
          <a:p>
            <a:r>
              <a:rPr lang="es-CL" sz="2400" noProof="0" dirty="0">
                <a:solidFill>
                  <a:schemeClr val="bg1">
                    <a:lumMod val="85000"/>
                  </a:schemeClr>
                </a:solidFill>
                <a:latin typeface="Montserrat Bold" panose="00000800000000000000" pitchFamily="2" charset="0"/>
              </a:rPr>
              <a:t>¿Preguntas?</a:t>
            </a:r>
          </a:p>
        </p:txBody>
      </p:sp>
    </p:spTree>
    <p:extLst>
      <p:ext uri="{BB962C8B-B14F-4D97-AF65-F5344CB8AC3E}">
        <p14:creationId xmlns:p14="http://schemas.microsoft.com/office/powerpoint/2010/main" val="3142590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1131</TotalTime>
  <Words>3542</Words>
  <Application>Microsoft Office PowerPoint</Application>
  <PresentationFormat>Panorámica</PresentationFormat>
  <Paragraphs>326</Paragraphs>
  <Slides>18</Slides>
  <Notes>16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18</vt:i4>
      </vt:variant>
    </vt:vector>
  </HeadingPairs>
  <TitlesOfParts>
    <vt:vector size="25" baseType="lpstr">
      <vt:lpstr>Agrandir Wide Bold</vt:lpstr>
      <vt:lpstr>Aptos</vt:lpstr>
      <vt:lpstr>Aptos Display</vt:lpstr>
      <vt:lpstr>Arial</vt:lpstr>
      <vt:lpstr>Montserrat</vt:lpstr>
      <vt:lpstr>Montserrat 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SEBASTIAN JESUS LOPEZ OLAVEZ</dc:creator>
  <cp:lastModifiedBy>Cristobal Sepulveda Muñoz</cp:lastModifiedBy>
  <cp:revision>7</cp:revision>
  <dcterms:created xsi:type="dcterms:W3CDTF">2026-08-29T23:07:51Z</dcterms:created>
  <dcterms:modified xsi:type="dcterms:W3CDTF">2026-10-19T15:57:20Z</dcterms:modified>
</cp:coreProperties>
</file>